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16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Análise de Vulnerabilidades como Ferramenta de Segurança Digital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541782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Conceitos Fundamentais em Segurança Cibernética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417/20250417115349SknW.jpg"/>
          <p:cNvPicPr>
            <a:picLocks noChangeAspect="1"/>
          </p:cNvPicPr>
          <p:nvPr/>
        </p:nvPicPr>
        <p:blipFill>
          <a:blip r:embed="rId4"/>
          <a:srcRect l="25776" r="50358"/>
          <a:stretch/>
        </p:blipFill>
        <p:spPr>
          <a:xfrm>
            <a:off x="8323783" y="0"/>
            <a:ext cx="819945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7787945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Ameaça: O que pode acontecer em um ambiente digital vulnerável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457200" y="14013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57200" y="14013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Bef>
                <a:spcPts val="375"/>
              </a:spcBef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1356055"/>
            <a:ext cx="7513625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Perigos no Ambiente Digital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538935"/>
            <a:ext cx="751362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de hackers e suas intenções de ataque a sistemas vulneráveis.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448" y="243879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448" y="243879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Bef>
                <a:spcPts val="375"/>
              </a:spcBef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392596"/>
            <a:ext cx="7513625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Consequências de Ataques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768" y="2577305"/>
            <a:ext cx="751362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potenciais que uma violação de segurança pode causar em empresas.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47648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57200" y="347648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Bef>
                <a:spcPts val="375"/>
              </a:spcBef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3430965"/>
            <a:ext cx="7513625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de Ameaças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3613845"/>
            <a:ext cx="751362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para mitigar riscos associados a possíveis invasões digitais.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417/20250417115043iE58.jpg"/>
          <p:cNvPicPr>
            <a:picLocks noChangeAspect="1"/>
          </p:cNvPicPr>
          <p:nvPr/>
        </p:nvPicPr>
        <p:blipFill>
          <a:blip r:embed="rId4"/>
          <a:srcRect t="40525" b="40713"/>
          <a:stretch/>
        </p:blipFill>
        <p:spPr>
          <a:xfrm>
            <a:off x="0" y="0"/>
            <a:ext cx="9142171" cy="1136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Vulnerabilidade: Fraquezas que abrem portas para ataques digitais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830732" y="2160064"/>
            <a:ext cx="3474720" cy="1645920"/>
          </a:xfrm>
          <a:custGeom>
            <a:avLst/>
            <a:gdLst/>
            <a:ahLst/>
            <a:cxnLst/>
            <a:rect l="l" t="t" r="r" b="b"/>
            <a:pathLst>
              <a:path w="3474720" h="1645920">
                <a:moveTo>
                  <a:pt x="205740" y="0"/>
                </a:moveTo>
                <a:lnTo>
                  <a:pt x="3268980" y="0"/>
                </a:lnTo>
                <a:quadBezTo>
                  <a:pt x="3474720" y="0"/>
                  <a:pt x="3474720" y="205740"/>
                </a:quadBezTo>
                <a:lnTo>
                  <a:pt x="3474720" y="1440180"/>
                </a:lnTo>
                <a:quadBezTo>
                  <a:pt x="3474720" y="1645920"/>
                  <a:pt x="3268980" y="1645920"/>
                </a:quadBezTo>
                <a:lnTo>
                  <a:pt x="205740" y="1645920"/>
                </a:lnTo>
                <a:quadBezTo>
                  <a:pt x="0" y="1645920"/>
                  <a:pt x="0" y="1440180"/>
                </a:quadBezTo>
                <a:lnTo>
                  <a:pt x="0" y="205740"/>
                </a:lnTo>
                <a:quadBezTo>
                  <a:pt x="0" y="0"/>
                  <a:pt x="205740" y="0"/>
                </a:quadBezTo>
                <a:close/>
              </a:path>
            </a:pathLst>
          </a:custGeom>
          <a:solidFill>
            <a:srgbClr val="EFEEFD"/>
          </a:solidFill>
          <a:ln w="19050">
            <a:solidFill>
              <a:srgbClr val="878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1" descr="https://osspub.smallppt.com/uploadFile/template/20250417/20250417100330BfP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589" y="1831535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0389" y="2233216"/>
            <a:ext cx="347472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de Vulnerabilidades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30389" y="2598717"/>
            <a:ext cx="347472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realizar um checkup de segurança para encontrar fraquezas em sistemas.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4837633" y="2160476"/>
            <a:ext cx="3474720" cy="1645920"/>
          </a:xfrm>
          <a:custGeom>
            <a:avLst/>
            <a:gdLst/>
            <a:ahLst/>
            <a:cxnLst/>
            <a:rect l="l" t="t" r="r" b="b"/>
            <a:pathLst>
              <a:path w="3474720" h="1645920">
                <a:moveTo>
                  <a:pt x="205740" y="0"/>
                </a:moveTo>
                <a:lnTo>
                  <a:pt x="3268980" y="0"/>
                </a:lnTo>
                <a:quadBezTo>
                  <a:pt x="3474720" y="0"/>
                  <a:pt x="3474720" y="205740"/>
                </a:quadBezTo>
                <a:lnTo>
                  <a:pt x="3474720" y="1440180"/>
                </a:lnTo>
                <a:quadBezTo>
                  <a:pt x="3474720" y="1645920"/>
                  <a:pt x="3268980" y="1645920"/>
                </a:quadBezTo>
                <a:lnTo>
                  <a:pt x="205740" y="1645920"/>
                </a:lnTo>
                <a:quadBezTo>
                  <a:pt x="0" y="1645920"/>
                  <a:pt x="0" y="1440180"/>
                </a:quadBezTo>
                <a:lnTo>
                  <a:pt x="0" y="205740"/>
                </a:lnTo>
                <a:quadBezTo>
                  <a:pt x="0" y="0"/>
                  <a:pt x="205740" y="0"/>
                </a:quadBezTo>
                <a:close/>
              </a:path>
            </a:pathLst>
          </a:custGeom>
          <a:solidFill>
            <a:srgbClr val="EEF7FC"/>
          </a:solidFill>
          <a:ln w="19050">
            <a:solidFill>
              <a:srgbClr val="8BC8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2" descr="https://osspub.smallppt.com/uploadFile/template/20250417/20250417100331fabJ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177" y="1831535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37977" y="2233283"/>
            <a:ext cx="347472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Vulnerabilidades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837977" y="2599958"/>
            <a:ext cx="347472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software desatualizado que permitiram invasões em grandes redes.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417/20250417115043iE58.jpg"/>
          <p:cNvPicPr>
            <a:picLocks noChangeAspect="1"/>
          </p:cNvPicPr>
          <p:nvPr/>
        </p:nvPicPr>
        <p:blipFill>
          <a:blip r:embed="rId4"/>
          <a:srcRect t="76374" b="11930"/>
          <a:stretch/>
        </p:blipFill>
        <p:spPr>
          <a:xfrm>
            <a:off x="0" y="4433929"/>
            <a:ext cx="9144000" cy="7095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Risco: A probabilidade de exploração de vulnerabilidades na segurança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1325423" y="136053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325423" y="136053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Bef>
                <a:spcPts val="375"/>
              </a:spcBef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6743" y="1634855"/>
            <a:ext cx="201168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Risco Digital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6743" y="2193006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para avaliar a probabilidade de exploração de vulnerabilidades.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98368" y="203298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398368" y="203298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Bef>
                <a:spcPts val="375"/>
              </a:spcBef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29688" y="2307306"/>
            <a:ext cx="201168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do Risco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529688" y="2865090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exploração de vulnerabilidades pode afetar a operação de uma empresa.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70398" y="136053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470398" y="136053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Bef>
                <a:spcPts val="375"/>
              </a:spcBef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601718" y="1635222"/>
            <a:ext cx="201168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Mitigação de Risco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01718" y="2192639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Práticas para minimizar os riscos associados a falhas de segurança.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543343" y="20329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0"/>
                </a:moveTo>
                <a:lnTo>
                  <a:pt x="274320" y="0"/>
                </a:lnTo>
                <a:lnTo>
                  <a:pt x="27432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543343" y="20329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spcBef>
                <a:spcPts val="375"/>
              </a:spcBef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74663" y="2307306"/>
            <a:ext cx="201168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Gerenciamento de Risco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74663" y="2865090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contínuos de avaliação e gerenciamento de riscos na segurança digital.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417/20250417114644QaWc.jpg"/>
          <p:cNvPicPr>
            <a:picLocks noChangeAspect="1"/>
          </p:cNvPicPr>
          <p:nvPr/>
        </p:nvPicPr>
        <p:blipFill>
          <a:blip r:embed="rId4"/>
          <a:srcRect l="21244" r="61485"/>
          <a:stretch/>
        </p:blipFill>
        <p:spPr>
          <a:xfrm>
            <a:off x="7812634" y="0"/>
            <a:ext cx="1331366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713232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Vulnerabilidades em Segurança Cibernética</a:t>
            </a:r>
            <a:endParaRPr lang="en-US" sz="1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8174" y="1257300"/>
            <a:ext cx="4814287" cy="31318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037" y="4389120"/>
            <a:ext cx="55945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1200" b="1" dirty="0">
                <a:solidFill>
                  <a:srgbClr val="63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Ameaças e Vulnerabilidades em Ambientes Digitais(Porcentagem (%))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541782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Práticas de Análise de Vulnerabilidades e Ferramentas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417/20250417114644QaWc.jpg"/>
          <p:cNvPicPr>
            <a:picLocks noChangeAspect="1"/>
          </p:cNvPicPr>
          <p:nvPr/>
        </p:nvPicPr>
        <p:blipFill>
          <a:blip r:embed="rId4"/>
          <a:srcRect t="46954" b="38187"/>
          <a:stretch/>
        </p:blipFill>
        <p:spPr>
          <a:xfrm>
            <a:off x="0" y="4241902"/>
            <a:ext cx="9144000" cy="9017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Análise de Vulnerabilidades e sua importância na segurança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1057961" y="1253757"/>
            <a:ext cx="3474720" cy="1188720"/>
          </a:xfrm>
          <a:custGeom>
            <a:avLst/>
            <a:gdLst/>
            <a:ahLst/>
            <a:cxnLst/>
            <a:rect l="l" t="t" r="r" b="b"/>
            <a:pathLst>
              <a:path w="3474720" h="1188720">
                <a:moveTo>
                  <a:pt x="148590" y="0"/>
                </a:moveTo>
                <a:lnTo>
                  <a:pt x="3326130" y="0"/>
                </a:lnTo>
                <a:quadBezTo>
                  <a:pt x="3474720" y="0"/>
                  <a:pt x="3474720" y="148590"/>
                </a:quadBezTo>
                <a:lnTo>
                  <a:pt x="3474720" y="1040130"/>
                </a:lnTo>
                <a:quadBezTo>
                  <a:pt x="3474720" y="1188720"/>
                  <a:pt x="3326130" y="1188720"/>
                </a:quadBezTo>
                <a:lnTo>
                  <a:pt x="148590" y="1188720"/>
                </a:lnTo>
                <a:quadBezTo>
                  <a:pt x="0" y="1188720"/>
                  <a:pt x="0" y="1040130"/>
                </a:quadBezTo>
                <a:lnTo>
                  <a:pt x="0" y="148590"/>
                </a:lnTo>
                <a:quadBezTo>
                  <a:pt x="0" y="0"/>
                  <a:pt x="148590" y="0"/>
                </a:quadBezTo>
                <a:close/>
              </a:path>
            </a:pathLst>
          </a:custGeom>
          <a:solidFill>
            <a:srgbClr val="EFEEFD"/>
          </a:solidFill>
          <a:ln w="19050">
            <a:solidFill>
              <a:srgbClr val="878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058182" y="1253757"/>
            <a:ext cx="347472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Fundamentais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58546" y="1622717"/>
            <a:ext cx="347472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os termos ameaças, vulnerabilidades e riscos é crucial para a segurança digital.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11319" y="1253757"/>
            <a:ext cx="3474720" cy="1188720"/>
          </a:xfrm>
          <a:custGeom>
            <a:avLst/>
            <a:gdLst/>
            <a:ahLst/>
            <a:cxnLst/>
            <a:rect l="l" t="t" r="r" b="b"/>
            <a:pathLst>
              <a:path w="3474720" h="1188720">
                <a:moveTo>
                  <a:pt x="148590" y="0"/>
                </a:moveTo>
                <a:lnTo>
                  <a:pt x="3326130" y="0"/>
                </a:lnTo>
                <a:quadBezTo>
                  <a:pt x="3474720" y="0"/>
                  <a:pt x="3474720" y="148590"/>
                </a:quadBezTo>
                <a:lnTo>
                  <a:pt x="3474720" y="1040130"/>
                </a:lnTo>
                <a:quadBezTo>
                  <a:pt x="3474720" y="1188720"/>
                  <a:pt x="3326130" y="1188720"/>
                </a:quadBezTo>
                <a:lnTo>
                  <a:pt x="148590" y="1188720"/>
                </a:lnTo>
                <a:quadBezTo>
                  <a:pt x="0" y="1188720"/>
                  <a:pt x="0" y="1040130"/>
                </a:quadBezTo>
                <a:lnTo>
                  <a:pt x="0" y="148590"/>
                </a:lnTo>
                <a:quadBezTo>
                  <a:pt x="0" y="0"/>
                  <a:pt x="148590" y="0"/>
                </a:quadBezTo>
                <a:close/>
              </a:path>
            </a:pathLst>
          </a:custGeom>
          <a:solidFill>
            <a:srgbClr val="EEF7FC"/>
          </a:solidFill>
          <a:ln w="19050">
            <a:solidFill>
              <a:srgbClr val="8BC8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611098" y="1253757"/>
            <a:ext cx="347472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Metáfora do Xadrez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11098" y="1623174"/>
            <a:ext cx="347472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análise de vulnerabilidades é como um checkup do tabuleiro antes do jogo.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57961" y="2501060"/>
            <a:ext cx="3474720" cy="1188720"/>
          </a:xfrm>
          <a:custGeom>
            <a:avLst/>
            <a:gdLst/>
            <a:ahLst/>
            <a:cxnLst/>
            <a:rect l="l" t="t" r="r" b="b"/>
            <a:pathLst>
              <a:path w="3474720" h="1188720">
                <a:moveTo>
                  <a:pt x="148590" y="0"/>
                </a:moveTo>
                <a:lnTo>
                  <a:pt x="3326130" y="0"/>
                </a:lnTo>
                <a:quadBezTo>
                  <a:pt x="3474720" y="0"/>
                  <a:pt x="3474720" y="148590"/>
                </a:quadBezTo>
                <a:lnTo>
                  <a:pt x="3474720" y="1040130"/>
                </a:lnTo>
                <a:quadBezTo>
                  <a:pt x="3474720" y="1188720"/>
                  <a:pt x="3326130" y="1188720"/>
                </a:quadBezTo>
                <a:lnTo>
                  <a:pt x="148590" y="1188720"/>
                </a:lnTo>
                <a:quadBezTo>
                  <a:pt x="0" y="1188720"/>
                  <a:pt x="0" y="1040130"/>
                </a:quadBezTo>
                <a:lnTo>
                  <a:pt x="0" y="148590"/>
                </a:lnTo>
                <a:quadBezTo>
                  <a:pt x="0" y="0"/>
                  <a:pt x="148590" y="0"/>
                </a:quadBezTo>
                <a:close/>
              </a:path>
            </a:pathLst>
          </a:custGeom>
          <a:solidFill>
            <a:srgbClr val="EEF7FC"/>
          </a:solidFill>
          <a:ln w="19050">
            <a:solidFill>
              <a:srgbClr val="8BC8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58457" y="2501060"/>
            <a:ext cx="347472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de Ataques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8182" y="2870020"/>
            <a:ext cx="347472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fraquezas antes que atacantes possam explorá-las é fundamental.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611319" y="2501060"/>
            <a:ext cx="3474720" cy="1188720"/>
          </a:xfrm>
          <a:custGeom>
            <a:avLst/>
            <a:gdLst/>
            <a:ahLst/>
            <a:cxnLst/>
            <a:rect l="l" t="t" r="r" b="b"/>
            <a:pathLst>
              <a:path w="3474720" h="1188720">
                <a:moveTo>
                  <a:pt x="148590" y="0"/>
                </a:moveTo>
                <a:lnTo>
                  <a:pt x="3326130" y="0"/>
                </a:lnTo>
                <a:quadBezTo>
                  <a:pt x="3474720" y="0"/>
                  <a:pt x="3474720" y="148590"/>
                </a:quadBezTo>
                <a:lnTo>
                  <a:pt x="3474720" y="1040130"/>
                </a:lnTo>
                <a:quadBezTo>
                  <a:pt x="3474720" y="1188720"/>
                  <a:pt x="3326130" y="1188720"/>
                </a:quadBezTo>
                <a:lnTo>
                  <a:pt x="148590" y="1188720"/>
                </a:lnTo>
                <a:quadBezTo>
                  <a:pt x="0" y="1188720"/>
                  <a:pt x="0" y="1040130"/>
                </a:quadBezTo>
                <a:lnTo>
                  <a:pt x="0" y="148590"/>
                </a:lnTo>
                <a:quadBezTo>
                  <a:pt x="0" y="0"/>
                  <a:pt x="148590" y="0"/>
                </a:quadBezTo>
                <a:close/>
              </a:path>
            </a:pathLst>
          </a:custGeom>
          <a:solidFill>
            <a:srgbClr val="EFEEFD"/>
          </a:solidFill>
          <a:ln w="19050">
            <a:solidFill>
              <a:srgbClr val="878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610734" y="2501060"/>
            <a:ext cx="3474720" cy="3693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Checkup Regular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11098" y="2866820"/>
            <a:ext cx="347472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análise não é um evento isolado, mas parte de um processo contínuo.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417/20250417115043iE58.jpg"/>
          <p:cNvPicPr>
            <a:picLocks noChangeAspect="1"/>
          </p:cNvPicPr>
          <p:nvPr/>
        </p:nvPicPr>
        <p:blipFill>
          <a:blip r:embed="rId4"/>
          <a:srcRect t="70301" b="10902"/>
          <a:stretch/>
        </p:blipFill>
        <p:spPr>
          <a:xfrm>
            <a:off x="0" y="0"/>
            <a:ext cx="9142171" cy="1136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Scanners: Identificando riscos por meio de ferramentas adequadas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478231" y="1599617"/>
            <a:ext cx="8187076" cy="764683"/>
          </a:xfrm>
          <a:custGeom>
            <a:avLst/>
            <a:gdLst/>
            <a:ahLst/>
            <a:cxnLst/>
            <a:rect l="l" t="t" r="r" b="b"/>
            <a:pathLst>
              <a:path w="8187076" h="764683">
                <a:moveTo>
                  <a:pt x="0" y="0"/>
                </a:moveTo>
                <a:lnTo>
                  <a:pt x="8187076" y="764683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1371752" y="160426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256950" y="1805435"/>
            <a:ext cx="41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63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505" y="2536955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Externo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103883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 um ataque de fora da rede, identificando vulnerabilidades expostas.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44443" y="178714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390194" y="1982829"/>
            <a:ext cx="41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63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530043" y="2734464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Interno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530043" y="3292248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configurações internas e vulnerabilidades que só podem ser acessadas internamente.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516982" y="198831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433370" y="2171195"/>
            <a:ext cx="41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63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02582" y="2922829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Comuns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02582" y="3480613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OpenVAS e Nessus são exemplos de ferramentas robustas para essa análise.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2171195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7474565" y="1421387"/>
            <a:ext cx="41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63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75120" y="2440812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de Análise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75120" y="2998857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Interpolação e interpretação de relatórios são essenciais para priorizar ações.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417/20250417115043iE58.jpg"/>
          <p:cNvPicPr>
            <a:picLocks noChangeAspect="1"/>
          </p:cNvPicPr>
          <p:nvPr/>
        </p:nvPicPr>
        <p:blipFill>
          <a:blip r:embed="rId4"/>
          <a:srcRect t="56767" b="24436"/>
          <a:stretch/>
        </p:blipFill>
        <p:spPr>
          <a:xfrm>
            <a:off x="0" y="0"/>
            <a:ext cx="9142171" cy="1136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 de Relatórios: Compreendendo a gravidade das vulnerabilidades encontradas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457200" y="3032150"/>
            <a:ext cx="8227323" cy="0"/>
          </a:xfrm>
          <a:custGeom>
            <a:avLst/>
            <a:gdLst/>
            <a:ahLst/>
            <a:cxnLst/>
            <a:rect l="l" t="t" r="r" b="b"/>
            <a:pathLst>
              <a:path w="8227323">
                <a:moveTo>
                  <a:pt x="0" y="0"/>
                </a:moveTo>
                <a:lnTo>
                  <a:pt x="8227323" y="0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1029355" y="29392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1364285"/>
            <a:ext cx="36576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 de Gravidade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739189"/>
            <a:ext cx="36576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as empresas classificam vulnerabilidades em alto, médio e baixo risco.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80560" y="29392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74320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Falsos Positivos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743200" y="3557016"/>
            <a:ext cx="36576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que nem todas as vulnerabilidades identificadas representam ameaças reais.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932160" y="29392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33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029200" y="1364285"/>
            <a:ext cx="36576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Humana Necessária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0" y="1739189"/>
            <a:ext cx="36576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validação dos resultados pelos profissionais é crucial para ações corretivas.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3182260"/>
            <a:ext cx="41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63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65605" y="2207771"/>
            <a:ext cx="41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63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817206" y="3121762"/>
            <a:ext cx="41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63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417/20250417114644QaWc.jpg"/>
          <p:cNvPicPr>
            <a:picLocks noChangeAspect="1"/>
          </p:cNvPicPr>
          <p:nvPr/>
        </p:nvPicPr>
        <p:blipFill>
          <a:blip r:embed="rId4"/>
          <a:srcRect l="21244" r="61485"/>
          <a:stretch/>
        </p:blipFill>
        <p:spPr>
          <a:xfrm>
            <a:off x="7812634" y="0"/>
            <a:ext cx="1331366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7132320" cy="6949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Vulnerabilidades e sua Importância na Segurança</a:t>
            </a:r>
            <a:endParaRPr lang="en-US" sz="1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8174" y="1257300"/>
            <a:ext cx="4814287" cy="31318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037" y="4389120"/>
            <a:ext cx="55945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1200" b="1" dirty="0">
                <a:solidFill>
                  <a:srgbClr val="63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Importância das Ferramentas de Análise de Vulnerabilidades(Percentual)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6564" y="2160727"/>
            <a:ext cx="4691786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25650" y="2580894"/>
            <a:ext cx="4691826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375"/>
              </a:spcBef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450</Words>
  <Application>Microsoft Office PowerPoint</Application>
  <PresentationFormat>Apresentação na tela (16:9)</PresentationFormat>
  <Paragraphs>81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Prentys Assis</cp:lastModifiedBy>
  <cp:revision>1</cp:revision>
  <dcterms:created xsi:type="dcterms:W3CDTF">2025-10-18T22:52:36Z</dcterms:created>
  <dcterms:modified xsi:type="dcterms:W3CDTF">2025-10-25T11:55:16Z</dcterms:modified>
</cp:coreProperties>
</file>