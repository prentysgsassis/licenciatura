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Chewy" charset="1" panose="02000000000000000000"/>
      <p:regular r:id="rId19"/>
    </p:embeddedFont>
    <p:embeddedFont>
      <p:font typeface="TT Rounds Condensed" charset="1" panose="02000506030000020003"/>
      <p:regular r:id="rId20"/>
    </p:embeddedFont>
    <p:embeddedFont>
      <p:font typeface="Open Sans Bold" charset="1" panose="020B0806030504020204"/>
      <p:regular r:id="rId21"/>
    </p:embeddedFont>
    <p:embeddedFont>
      <p:font typeface="TT Rounds Condensed Bold" charset="1" panose="02000806030000020003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1D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07331" y="1018621"/>
            <a:ext cx="20830043" cy="3382958"/>
            <a:chOff x="0" y="0"/>
            <a:chExt cx="5115576" cy="8308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15577" cy="830808"/>
            </a:xfrm>
            <a:custGeom>
              <a:avLst/>
              <a:gdLst/>
              <a:ahLst/>
              <a:cxnLst/>
              <a:rect r="r" b="b" t="t" l="l"/>
              <a:pathLst>
                <a:path h="830808" w="5115577">
                  <a:moveTo>
                    <a:pt x="13380" y="0"/>
                  </a:moveTo>
                  <a:lnTo>
                    <a:pt x="5102196" y="0"/>
                  </a:lnTo>
                  <a:cubicBezTo>
                    <a:pt x="5105745" y="0"/>
                    <a:pt x="5109148" y="1410"/>
                    <a:pt x="5111657" y="3919"/>
                  </a:cubicBezTo>
                  <a:cubicBezTo>
                    <a:pt x="5114167" y="6428"/>
                    <a:pt x="5115577" y="9832"/>
                    <a:pt x="5115577" y="13380"/>
                  </a:cubicBezTo>
                  <a:lnTo>
                    <a:pt x="5115577" y="817428"/>
                  </a:lnTo>
                  <a:cubicBezTo>
                    <a:pt x="5115577" y="820977"/>
                    <a:pt x="5114167" y="824380"/>
                    <a:pt x="5111657" y="826890"/>
                  </a:cubicBezTo>
                  <a:cubicBezTo>
                    <a:pt x="5109148" y="829399"/>
                    <a:pt x="5105745" y="830808"/>
                    <a:pt x="5102196" y="830808"/>
                  </a:cubicBezTo>
                  <a:lnTo>
                    <a:pt x="13380" y="830808"/>
                  </a:lnTo>
                  <a:cubicBezTo>
                    <a:pt x="9832" y="830808"/>
                    <a:pt x="6428" y="829399"/>
                    <a:pt x="3919" y="826890"/>
                  </a:cubicBezTo>
                  <a:cubicBezTo>
                    <a:pt x="1410" y="824380"/>
                    <a:pt x="0" y="820977"/>
                    <a:pt x="0" y="817428"/>
                  </a:cubicBezTo>
                  <a:lnTo>
                    <a:pt x="0" y="13380"/>
                  </a:lnTo>
                  <a:cubicBezTo>
                    <a:pt x="0" y="9832"/>
                    <a:pt x="1410" y="6428"/>
                    <a:pt x="3919" y="3919"/>
                  </a:cubicBezTo>
                  <a:cubicBezTo>
                    <a:pt x="6428" y="1410"/>
                    <a:pt x="9832" y="0"/>
                    <a:pt x="13380" y="0"/>
                  </a:cubicBezTo>
                  <a:close/>
                </a:path>
              </a:pathLst>
            </a:custGeom>
            <a:solidFill>
              <a:srgbClr val="AF308B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23850"/>
              <a:ext cx="5115576" cy="1154659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210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22242" y="3659658"/>
            <a:ext cx="15843517" cy="1292424"/>
            <a:chOff x="0" y="0"/>
            <a:chExt cx="3890953" cy="3174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90953" cy="317402"/>
            </a:xfrm>
            <a:custGeom>
              <a:avLst/>
              <a:gdLst/>
              <a:ahLst/>
              <a:cxnLst/>
              <a:rect r="r" b="b" t="t" l="l"/>
              <a:pathLst>
                <a:path h="317402" w="3890953">
                  <a:moveTo>
                    <a:pt x="24921" y="0"/>
                  </a:moveTo>
                  <a:lnTo>
                    <a:pt x="3866032" y="0"/>
                  </a:lnTo>
                  <a:cubicBezTo>
                    <a:pt x="3879796" y="0"/>
                    <a:pt x="3890953" y="11158"/>
                    <a:pt x="3890953" y="24921"/>
                  </a:cubicBezTo>
                  <a:lnTo>
                    <a:pt x="3890953" y="292481"/>
                  </a:lnTo>
                  <a:cubicBezTo>
                    <a:pt x="3890953" y="306244"/>
                    <a:pt x="3879796" y="317402"/>
                    <a:pt x="3866032" y="317402"/>
                  </a:cubicBezTo>
                  <a:lnTo>
                    <a:pt x="24921" y="317402"/>
                  </a:lnTo>
                  <a:cubicBezTo>
                    <a:pt x="18312" y="317402"/>
                    <a:pt x="11973" y="314776"/>
                    <a:pt x="7299" y="310103"/>
                  </a:cubicBezTo>
                  <a:cubicBezTo>
                    <a:pt x="2626" y="305429"/>
                    <a:pt x="0" y="299090"/>
                    <a:pt x="0" y="292481"/>
                  </a:cubicBezTo>
                  <a:lnTo>
                    <a:pt x="0" y="24921"/>
                  </a:lnTo>
                  <a:cubicBezTo>
                    <a:pt x="0" y="11158"/>
                    <a:pt x="11158" y="0"/>
                    <a:pt x="2492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33350"/>
              <a:ext cx="3890953" cy="4507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539"/>
                </a:lnSpc>
              </a:pPr>
              <a:r>
                <a:rPr lang="en-US" sz="6099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Estatística Descritiva, Inferencial e Suas Variáveis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73541" y="6115442"/>
            <a:ext cx="3301541" cy="2506569"/>
            <a:chOff x="0" y="0"/>
            <a:chExt cx="4402055" cy="3342093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629003" y="937594"/>
              <a:ext cx="659369" cy="2209626"/>
              <a:chOff x="0" y="0"/>
              <a:chExt cx="283864" cy="951262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83864" cy="951262"/>
              </a:xfrm>
              <a:custGeom>
                <a:avLst/>
                <a:gdLst/>
                <a:ahLst/>
                <a:cxnLst/>
                <a:rect r="r" b="b" t="t" l="l"/>
                <a:pathLst>
                  <a:path h="951262" w="283864">
                    <a:moveTo>
                      <a:pt x="36614" y="0"/>
                    </a:moveTo>
                    <a:lnTo>
                      <a:pt x="247250" y="0"/>
                    </a:lnTo>
                    <a:cubicBezTo>
                      <a:pt x="256961" y="0"/>
                      <a:pt x="266273" y="3857"/>
                      <a:pt x="273140" y="10724"/>
                    </a:cubicBezTo>
                    <a:cubicBezTo>
                      <a:pt x="280006" y="17590"/>
                      <a:pt x="283864" y="26903"/>
                      <a:pt x="283864" y="36614"/>
                    </a:cubicBezTo>
                    <a:lnTo>
                      <a:pt x="283864" y="914649"/>
                    </a:lnTo>
                    <a:cubicBezTo>
                      <a:pt x="283864" y="934870"/>
                      <a:pt x="267471" y="951262"/>
                      <a:pt x="247250" y="951262"/>
                    </a:cubicBezTo>
                    <a:lnTo>
                      <a:pt x="36614" y="951262"/>
                    </a:lnTo>
                    <a:cubicBezTo>
                      <a:pt x="26903" y="951262"/>
                      <a:pt x="17590" y="947405"/>
                      <a:pt x="10724" y="940538"/>
                    </a:cubicBezTo>
                    <a:cubicBezTo>
                      <a:pt x="3857" y="933672"/>
                      <a:pt x="0" y="924359"/>
                      <a:pt x="0" y="914649"/>
                    </a:cubicBezTo>
                    <a:lnTo>
                      <a:pt x="0" y="36614"/>
                    </a:lnTo>
                    <a:cubicBezTo>
                      <a:pt x="0" y="26903"/>
                      <a:pt x="3857" y="17590"/>
                      <a:pt x="10724" y="10724"/>
                    </a:cubicBezTo>
                    <a:cubicBezTo>
                      <a:pt x="17590" y="3857"/>
                      <a:pt x="26903" y="0"/>
                      <a:pt x="36614" y="0"/>
                    </a:cubicBezTo>
                    <a:close/>
                  </a:path>
                </a:pathLst>
              </a:custGeom>
              <a:solidFill>
                <a:srgbClr val="AF308B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283864" cy="9988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AutoShape 12" id="12"/>
            <p:cNvSpPr/>
            <p:nvPr/>
          </p:nvSpPr>
          <p:spPr>
            <a:xfrm>
              <a:off x="194872" y="3147220"/>
              <a:ext cx="4207004" cy="25288"/>
            </a:xfrm>
            <a:prstGeom prst="line">
              <a:avLst/>
            </a:prstGeom>
            <a:ln cap="rnd" w="594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" id="13"/>
            <p:cNvSpPr/>
            <p:nvPr/>
          </p:nvSpPr>
          <p:spPr>
            <a:xfrm flipH="true" flipV="true">
              <a:off x="194872" y="0"/>
              <a:ext cx="0" cy="3172508"/>
            </a:xfrm>
            <a:prstGeom prst="line">
              <a:avLst/>
            </a:prstGeom>
            <a:ln cap="rnd" w="594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4" id="14"/>
            <p:cNvSpPr/>
            <p:nvPr/>
          </p:nvSpPr>
          <p:spPr>
            <a:xfrm flipH="true">
              <a:off x="0" y="2795401"/>
              <a:ext cx="389744" cy="0"/>
            </a:xfrm>
            <a:prstGeom prst="line">
              <a:avLst/>
            </a:prstGeom>
            <a:ln cap="rnd" w="594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5" id="15"/>
            <p:cNvSpPr/>
            <p:nvPr/>
          </p:nvSpPr>
          <p:spPr>
            <a:xfrm flipH="true">
              <a:off x="0" y="2485766"/>
              <a:ext cx="389744" cy="0"/>
            </a:xfrm>
            <a:prstGeom prst="line">
              <a:avLst/>
            </a:prstGeom>
            <a:ln cap="rnd" w="594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6" id="16"/>
            <p:cNvSpPr/>
            <p:nvPr/>
          </p:nvSpPr>
          <p:spPr>
            <a:xfrm flipH="true">
              <a:off x="0" y="2176132"/>
              <a:ext cx="389744" cy="0"/>
            </a:xfrm>
            <a:prstGeom prst="line">
              <a:avLst/>
            </a:prstGeom>
            <a:ln cap="rnd" w="594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7" id="17"/>
            <p:cNvSpPr/>
            <p:nvPr/>
          </p:nvSpPr>
          <p:spPr>
            <a:xfrm flipH="true">
              <a:off x="0" y="1866497"/>
              <a:ext cx="389744" cy="0"/>
            </a:xfrm>
            <a:prstGeom prst="line">
              <a:avLst/>
            </a:prstGeom>
            <a:ln cap="rnd" w="594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8" id="18"/>
            <p:cNvSpPr/>
            <p:nvPr/>
          </p:nvSpPr>
          <p:spPr>
            <a:xfrm flipH="true">
              <a:off x="0" y="1556863"/>
              <a:ext cx="389744" cy="0"/>
            </a:xfrm>
            <a:prstGeom prst="line">
              <a:avLst/>
            </a:prstGeom>
            <a:ln cap="rnd" w="594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9" id="19"/>
            <p:cNvSpPr/>
            <p:nvPr/>
          </p:nvSpPr>
          <p:spPr>
            <a:xfrm flipH="true">
              <a:off x="0" y="1247228"/>
              <a:ext cx="389744" cy="0"/>
            </a:xfrm>
            <a:prstGeom prst="line">
              <a:avLst/>
            </a:prstGeom>
            <a:ln cap="rnd" w="594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0" id="20"/>
            <p:cNvSpPr/>
            <p:nvPr/>
          </p:nvSpPr>
          <p:spPr>
            <a:xfrm flipH="true">
              <a:off x="0" y="937594"/>
              <a:ext cx="389744" cy="0"/>
            </a:xfrm>
            <a:prstGeom prst="line">
              <a:avLst/>
            </a:prstGeom>
            <a:ln cap="rnd" w="594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1" id="21"/>
            <p:cNvSpPr/>
            <p:nvPr/>
          </p:nvSpPr>
          <p:spPr>
            <a:xfrm flipH="true" flipV="true">
              <a:off x="0" y="627960"/>
              <a:ext cx="389744" cy="0"/>
            </a:xfrm>
            <a:prstGeom prst="line">
              <a:avLst/>
            </a:prstGeom>
            <a:ln cap="rnd" w="594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2" id="22"/>
            <p:cNvSpPr/>
            <p:nvPr/>
          </p:nvSpPr>
          <p:spPr>
            <a:xfrm flipH="true">
              <a:off x="0" y="318325"/>
              <a:ext cx="389744" cy="0"/>
            </a:xfrm>
            <a:prstGeom prst="line">
              <a:avLst/>
            </a:prstGeom>
            <a:ln cap="rnd" w="594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3" id="23"/>
            <p:cNvSpPr/>
            <p:nvPr/>
          </p:nvSpPr>
          <p:spPr>
            <a:xfrm>
              <a:off x="4109926" y="2952348"/>
              <a:ext cx="0" cy="389744"/>
            </a:xfrm>
            <a:prstGeom prst="line">
              <a:avLst/>
            </a:prstGeom>
            <a:ln cap="rnd" w="594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4" id="24"/>
            <p:cNvSpPr/>
            <p:nvPr/>
          </p:nvSpPr>
          <p:spPr>
            <a:xfrm flipH="true">
              <a:off x="3409818" y="2952348"/>
              <a:ext cx="0" cy="389744"/>
            </a:xfrm>
            <a:prstGeom prst="line">
              <a:avLst/>
            </a:prstGeom>
            <a:ln cap="rnd" w="594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5" id="25"/>
            <p:cNvSpPr/>
            <p:nvPr/>
          </p:nvSpPr>
          <p:spPr>
            <a:xfrm>
              <a:off x="2709711" y="2952348"/>
              <a:ext cx="0" cy="389744"/>
            </a:xfrm>
            <a:prstGeom prst="line">
              <a:avLst/>
            </a:prstGeom>
            <a:ln cap="rnd" w="594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6" id="26"/>
            <p:cNvSpPr/>
            <p:nvPr/>
          </p:nvSpPr>
          <p:spPr>
            <a:xfrm flipH="true">
              <a:off x="2009604" y="2952348"/>
              <a:ext cx="0" cy="389744"/>
            </a:xfrm>
            <a:prstGeom prst="line">
              <a:avLst/>
            </a:prstGeom>
            <a:ln cap="rnd" w="594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7" id="27"/>
            <p:cNvSpPr/>
            <p:nvPr/>
          </p:nvSpPr>
          <p:spPr>
            <a:xfrm flipH="true">
              <a:off x="1309496" y="2952348"/>
              <a:ext cx="0" cy="389744"/>
            </a:xfrm>
            <a:prstGeom prst="line">
              <a:avLst/>
            </a:prstGeom>
            <a:ln cap="rnd" w="594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8" id="28"/>
            <p:cNvSpPr/>
            <p:nvPr/>
          </p:nvSpPr>
          <p:spPr>
            <a:xfrm flipH="true">
              <a:off x="609389" y="2952348"/>
              <a:ext cx="0" cy="389744"/>
            </a:xfrm>
            <a:prstGeom prst="line">
              <a:avLst/>
            </a:prstGeom>
            <a:ln cap="rnd" w="594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29" id="29"/>
            <p:cNvGrpSpPr/>
            <p:nvPr/>
          </p:nvGrpSpPr>
          <p:grpSpPr>
            <a:xfrm rot="0">
              <a:off x="1329866" y="1556863"/>
              <a:ext cx="659369" cy="1590358"/>
              <a:chOff x="0" y="0"/>
              <a:chExt cx="283864" cy="684662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283864" cy="684662"/>
              </a:xfrm>
              <a:custGeom>
                <a:avLst/>
                <a:gdLst/>
                <a:ahLst/>
                <a:cxnLst/>
                <a:rect r="r" b="b" t="t" l="l"/>
                <a:pathLst>
                  <a:path h="684662" w="283864">
                    <a:moveTo>
                      <a:pt x="36614" y="0"/>
                    </a:moveTo>
                    <a:lnTo>
                      <a:pt x="247250" y="0"/>
                    </a:lnTo>
                    <a:cubicBezTo>
                      <a:pt x="256961" y="0"/>
                      <a:pt x="266273" y="3857"/>
                      <a:pt x="273140" y="10724"/>
                    </a:cubicBezTo>
                    <a:cubicBezTo>
                      <a:pt x="280006" y="17590"/>
                      <a:pt x="283864" y="26903"/>
                      <a:pt x="283864" y="36614"/>
                    </a:cubicBezTo>
                    <a:lnTo>
                      <a:pt x="283864" y="648048"/>
                    </a:lnTo>
                    <a:cubicBezTo>
                      <a:pt x="283864" y="657759"/>
                      <a:pt x="280006" y="667072"/>
                      <a:pt x="273140" y="673938"/>
                    </a:cubicBezTo>
                    <a:cubicBezTo>
                      <a:pt x="266273" y="680804"/>
                      <a:pt x="256961" y="684662"/>
                      <a:pt x="247250" y="684662"/>
                    </a:cubicBezTo>
                    <a:lnTo>
                      <a:pt x="36614" y="684662"/>
                    </a:lnTo>
                    <a:cubicBezTo>
                      <a:pt x="26903" y="684662"/>
                      <a:pt x="17590" y="680804"/>
                      <a:pt x="10724" y="673938"/>
                    </a:cubicBezTo>
                    <a:cubicBezTo>
                      <a:pt x="3857" y="667072"/>
                      <a:pt x="0" y="657759"/>
                      <a:pt x="0" y="648048"/>
                    </a:cubicBezTo>
                    <a:lnTo>
                      <a:pt x="0" y="36614"/>
                    </a:lnTo>
                    <a:cubicBezTo>
                      <a:pt x="0" y="26903"/>
                      <a:pt x="3857" y="17590"/>
                      <a:pt x="10724" y="10724"/>
                    </a:cubicBezTo>
                    <a:cubicBezTo>
                      <a:pt x="17590" y="3857"/>
                      <a:pt x="26903" y="0"/>
                      <a:pt x="36614" y="0"/>
                    </a:cubicBezTo>
                    <a:close/>
                  </a:path>
                </a:pathLst>
              </a:custGeom>
              <a:solidFill>
                <a:srgbClr val="AF308B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47625"/>
                <a:ext cx="283864" cy="7322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2030728" y="627960"/>
              <a:ext cx="659369" cy="2519261"/>
              <a:chOff x="0" y="0"/>
              <a:chExt cx="283864" cy="1084562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283864" cy="1084562"/>
              </a:xfrm>
              <a:custGeom>
                <a:avLst/>
                <a:gdLst/>
                <a:ahLst/>
                <a:cxnLst/>
                <a:rect r="r" b="b" t="t" l="l"/>
                <a:pathLst>
                  <a:path h="1084562" w="283864">
                    <a:moveTo>
                      <a:pt x="36614" y="0"/>
                    </a:moveTo>
                    <a:lnTo>
                      <a:pt x="247250" y="0"/>
                    </a:lnTo>
                    <a:cubicBezTo>
                      <a:pt x="256961" y="0"/>
                      <a:pt x="266273" y="3857"/>
                      <a:pt x="273140" y="10724"/>
                    </a:cubicBezTo>
                    <a:cubicBezTo>
                      <a:pt x="280006" y="17590"/>
                      <a:pt x="283864" y="26903"/>
                      <a:pt x="283864" y="36614"/>
                    </a:cubicBezTo>
                    <a:lnTo>
                      <a:pt x="283864" y="1047949"/>
                    </a:lnTo>
                    <a:cubicBezTo>
                      <a:pt x="283864" y="1057659"/>
                      <a:pt x="280006" y="1066972"/>
                      <a:pt x="273140" y="1073838"/>
                    </a:cubicBezTo>
                    <a:cubicBezTo>
                      <a:pt x="266273" y="1080705"/>
                      <a:pt x="256961" y="1084562"/>
                      <a:pt x="247250" y="1084562"/>
                    </a:cubicBezTo>
                    <a:lnTo>
                      <a:pt x="36614" y="1084562"/>
                    </a:lnTo>
                    <a:cubicBezTo>
                      <a:pt x="26903" y="1084562"/>
                      <a:pt x="17590" y="1080705"/>
                      <a:pt x="10724" y="1073838"/>
                    </a:cubicBezTo>
                    <a:cubicBezTo>
                      <a:pt x="3857" y="1066972"/>
                      <a:pt x="0" y="1057659"/>
                      <a:pt x="0" y="1047949"/>
                    </a:cubicBezTo>
                    <a:lnTo>
                      <a:pt x="0" y="36614"/>
                    </a:lnTo>
                    <a:cubicBezTo>
                      <a:pt x="0" y="26903"/>
                      <a:pt x="3857" y="17590"/>
                      <a:pt x="10724" y="10724"/>
                    </a:cubicBezTo>
                    <a:cubicBezTo>
                      <a:pt x="17590" y="3857"/>
                      <a:pt x="26903" y="0"/>
                      <a:pt x="36614" y="0"/>
                    </a:cubicBezTo>
                    <a:close/>
                  </a:path>
                </a:pathLst>
              </a:custGeom>
              <a:solidFill>
                <a:srgbClr val="AF308B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47625"/>
                <a:ext cx="283864" cy="11321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2731591" y="2485766"/>
              <a:ext cx="659369" cy="661454"/>
              <a:chOff x="0" y="0"/>
              <a:chExt cx="283864" cy="284761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283864" cy="284761"/>
              </a:xfrm>
              <a:custGeom>
                <a:avLst/>
                <a:gdLst/>
                <a:ahLst/>
                <a:cxnLst/>
                <a:rect r="r" b="b" t="t" l="l"/>
                <a:pathLst>
                  <a:path h="284761" w="283864">
                    <a:moveTo>
                      <a:pt x="36614" y="0"/>
                    </a:moveTo>
                    <a:lnTo>
                      <a:pt x="247250" y="0"/>
                    </a:lnTo>
                    <a:cubicBezTo>
                      <a:pt x="256961" y="0"/>
                      <a:pt x="266273" y="3857"/>
                      <a:pt x="273140" y="10724"/>
                    </a:cubicBezTo>
                    <a:cubicBezTo>
                      <a:pt x="280006" y="17590"/>
                      <a:pt x="283864" y="26903"/>
                      <a:pt x="283864" y="36614"/>
                    </a:cubicBezTo>
                    <a:lnTo>
                      <a:pt x="283864" y="248148"/>
                    </a:lnTo>
                    <a:cubicBezTo>
                      <a:pt x="283864" y="257858"/>
                      <a:pt x="280006" y="267171"/>
                      <a:pt x="273140" y="274038"/>
                    </a:cubicBezTo>
                    <a:cubicBezTo>
                      <a:pt x="266273" y="280904"/>
                      <a:pt x="256961" y="284761"/>
                      <a:pt x="247250" y="284761"/>
                    </a:cubicBezTo>
                    <a:lnTo>
                      <a:pt x="36614" y="284761"/>
                    </a:lnTo>
                    <a:cubicBezTo>
                      <a:pt x="26903" y="284761"/>
                      <a:pt x="17590" y="280904"/>
                      <a:pt x="10724" y="274038"/>
                    </a:cubicBezTo>
                    <a:cubicBezTo>
                      <a:pt x="3857" y="267171"/>
                      <a:pt x="0" y="257858"/>
                      <a:pt x="0" y="248148"/>
                    </a:cubicBezTo>
                    <a:lnTo>
                      <a:pt x="0" y="36614"/>
                    </a:lnTo>
                    <a:cubicBezTo>
                      <a:pt x="0" y="26903"/>
                      <a:pt x="3857" y="17590"/>
                      <a:pt x="10724" y="10724"/>
                    </a:cubicBezTo>
                    <a:cubicBezTo>
                      <a:pt x="17590" y="3857"/>
                      <a:pt x="26903" y="0"/>
                      <a:pt x="36614" y="0"/>
                    </a:cubicBezTo>
                    <a:close/>
                  </a:path>
                </a:pathLst>
              </a:custGeom>
              <a:solidFill>
                <a:srgbClr val="AF308B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47625"/>
                <a:ext cx="283864" cy="33238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3432453" y="318325"/>
              <a:ext cx="659369" cy="2828895"/>
              <a:chOff x="0" y="0"/>
              <a:chExt cx="283864" cy="1217862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283864" cy="1217862"/>
              </a:xfrm>
              <a:custGeom>
                <a:avLst/>
                <a:gdLst/>
                <a:ahLst/>
                <a:cxnLst/>
                <a:rect r="r" b="b" t="t" l="l"/>
                <a:pathLst>
                  <a:path h="1217862" w="283864">
                    <a:moveTo>
                      <a:pt x="36614" y="0"/>
                    </a:moveTo>
                    <a:lnTo>
                      <a:pt x="247250" y="0"/>
                    </a:lnTo>
                    <a:cubicBezTo>
                      <a:pt x="256961" y="0"/>
                      <a:pt x="266273" y="3857"/>
                      <a:pt x="273140" y="10724"/>
                    </a:cubicBezTo>
                    <a:cubicBezTo>
                      <a:pt x="280006" y="17590"/>
                      <a:pt x="283864" y="26903"/>
                      <a:pt x="283864" y="36614"/>
                    </a:cubicBezTo>
                    <a:lnTo>
                      <a:pt x="283864" y="1181249"/>
                    </a:lnTo>
                    <a:cubicBezTo>
                      <a:pt x="283864" y="1190959"/>
                      <a:pt x="280006" y="1200272"/>
                      <a:pt x="273140" y="1207139"/>
                    </a:cubicBezTo>
                    <a:cubicBezTo>
                      <a:pt x="266273" y="1214005"/>
                      <a:pt x="256961" y="1217862"/>
                      <a:pt x="247250" y="1217862"/>
                    </a:cubicBezTo>
                    <a:lnTo>
                      <a:pt x="36614" y="1217862"/>
                    </a:lnTo>
                    <a:cubicBezTo>
                      <a:pt x="26903" y="1217862"/>
                      <a:pt x="17590" y="1214005"/>
                      <a:pt x="10724" y="1207139"/>
                    </a:cubicBezTo>
                    <a:cubicBezTo>
                      <a:pt x="3857" y="1200272"/>
                      <a:pt x="0" y="1190959"/>
                      <a:pt x="0" y="1181249"/>
                    </a:cubicBezTo>
                    <a:lnTo>
                      <a:pt x="0" y="36614"/>
                    </a:lnTo>
                    <a:cubicBezTo>
                      <a:pt x="0" y="26903"/>
                      <a:pt x="3857" y="17590"/>
                      <a:pt x="10724" y="10724"/>
                    </a:cubicBezTo>
                    <a:cubicBezTo>
                      <a:pt x="17590" y="3857"/>
                      <a:pt x="26903" y="0"/>
                      <a:pt x="36614" y="0"/>
                    </a:cubicBezTo>
                    <a:close/>
                  </a:path>
                </a:pathLst>
              </a:custGeom>
              <a:solidFill>
                <a:srgbClr val="AF308B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47625"/>
                <a:ext cx="283864" cy="12654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41" id="41"/>
          <p:cNvGrpSpPr/>
          <p:nvPr/>
        </p:nvGrpSpPr>
        <p:grpSpPr>
          <a:xfrm rot="0">
            <a:off x="9487434" y="6137812"/>
            <a:ext cx="3301418" cy="2506476"/>
            <a:chOff x="0" y="0"/>
            <a:chExt cx="4401891" cy="3341969"/>
          </a:xfrm>
        </p:grpSpPr>
        <p:sp>
          <p:nvSpPr>
            <p:cNvPr name="AutoShape 42" id="42"/>
            <p:cNvSpPr/>
            <p:nvPr/>
          </p:nvSpPr>
          <p:spPr>
            <a:xfrm>
              <a:off x="194865" y="3147104"/>
              <a:ext cx="4206848" cy="25287"/>
            </a:xfrm>
            <a:prstGeom prst="line">
              <a:avLst/>
            </a:prstGeom>
            <a:ln cap="rnd" w="594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3" id="43"/>
            <p:cNvSpPr/>
            <p:nvPr/>
          </p:nvSpPr>
          <p:spPr>
            <a:xfrm flipV="true">
              <a:off x="194865" y="0"/>
              <a:ext cx="0" cy="3172391"/>
            </a:xfrm>
            <a:prstGeom prst="line">
              <a:avLst/>
            </a:prstGeom>
            <a:ln cap="rnd" w="594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4" id="44"/>
            <p:cNvSpPr/>
            <p:nvPr/>
          </p:nvSpPr>
          <p:spPr>
            <a:xfrm flipH="true">
              <a:off x="0" y="2795297"/>
              <a:ext cx="389730" cy="0"/>
            </a:xfrm>
            <a:prstGeom prst="line">
              <a:avLst/>
            </a:prstGeom>
            <a:ln cap="rnd" w="594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5" id="45"/>
            <p:cNvSpPr/>
            <p:nvPr/>
          </p:nvSpPr>
          <p:spPr>
            <a:xfrm flipH="true">
              <a:off x="0" y="2485674"/>
              <a:ext cx="389730" cy="0"/>
            </a:xfrm>
            <a:prstGeom prst="line">
              <a:avLst/>
            </a:prstGeom>
            <a:ln cap="rnd" w="594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6" id="46"/>
            <p:cNvSpPr/>
            <p:nvPr/>
          </p:nvSpPr>
          <p:spPr>
            <a:xfrm flipH="true">
              <a:off x="0" y="2176051"/>
              <a:ext cx="389730" cy="0"/>
            </a:xfrm>
            <a:prstGeom prst="line">
              <a:avLst/>
            </a:prstGeom>
            <a:ln cap="rnd" w="594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7" id="47"/>
            <p:cNvSpPr/>
            <p:nvPr/>
          </p:nvSpPr>
          <p:spPr>
            <a:xfrm flipH="true">
              <a:off x="0" y="1866428"/>
              <a:ext cx="389730" cy="0"/>
            </a:xfrm>
            <a:prstGeom prst="line">
              <a:avLst/>
            </a:prstGeom>
            <a:ln cap="rnd" w="594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8" id="48"/>
            <p:cNvSpPr/>
            <p:nvPr/>
          </p:nvSpPr>
          <p:spPr>
            <a:xfrm flipH="true">
              <a:off x="0" y="1556805"/>
              <a:ext cx="389730" cy="0"/>
            </a:xfrm>
            <a:prstGeom prst="line">
              <a:avLst/>
            </a:prstGeom>
            <a:ln cap="rnd" w="594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9" id="49"/>
            <p:cNvSpPr/>
            <p:nvPr/>
          </p:nvSpPr>
          <p:spPr>
            <a:xfrm flipH="true">
              <a:off x="0" y="1247182"/>
              <a:ext cx="389730" cy="0"/>
            </a:xfrm>
            <a:prstGeom prst="line">
              <a:avLst/>
            </a:prstGeom>
            <a:ln cap="rnd" w="594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0" id="50"/>
            <p:cNvSpPr/>
            <p:nvPr/>
          </p:nvSpPr>
          <p:spPr>
            <a:xfrm flipH="true">
              <a:off x="0" y="937559"/>
              <a:ext cx="389730" cy="0"/>
            </a:xfrm>
            <a:prstGeom prst="line">
              <a:avLst/>
            </a:prstGeom>
            <a:ln cap="rnd" w="594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1" id="51"/>
            <p:cNvSpPr/>
            <p:nvPr/>
          </p:nvSpPr>
          <p:spPr>
            <a:xfrm flipH="true" flipV="true">
              <a:off x="0" y="627936"/>
              <a:ext cx="389730" cy="0"/>
            </a:xfrm>
            <a:prstGeom prst="line">
              <a:avLst/>
            </a:prstGeom>
            <a:ln cap="rnd" w="594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2" id="52"/>
            <p:cNvSpPr/>
            <p:nvPr/>
          </p:nvSpPr>
          <p:spPr>
            <a:xfrm flipH="true">
              <a:off x="0" y="318313"/>
              <a:ext cx="389730" cy="0"/>
            </a:xfrm>
            <a:prstGeom prst="line">
              <a:avLst/>
            </a:prstGeom>
            <a:ln cap="rnd" w="594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3" id="53"/>
            <p:cNvSpPr/>
            <p:nvPr/>
          </p:nvSpPr>
          <p:spPr>
            <a:xfrm>
              <a:off x="4109773" y="2952239"/>
              <a:ext cx="0" cy="389730"/>
            </a:xfrm>
            <a:prstGeom prst="line">
              <a:avLst/>
            </a:prstGeom>
            <a:ln cap="rnd" w="594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4" id="54"/>
            <p:cNvSpPr/>
            <p:nvPr/>
          </p:nvSpPr>
          <p:spPr>
            <a:xfrm flipH="true">
              <a:off x="3409692" y="2952239"/>
              <a:ext cx="0" cy="389730"/>
            </a:xfrm>
            <a:prstGeom prst="line">
              <a:avLst/>
            </a:prstGeom>
            <a:ln cap="rnd" w="594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5" id="55"/>
            <p:cNvSpPr/>
            <p:nvPr/>
          </p:nvSpPr>
          <p:spPr>
            <a:xfrm>
              <a:off x="2709610" y="2952239"/>
              <a:ext cx="0" cy="389730"/>
            </a:xfrm>
            <a:prstGeom prst="line">
              <a:avLst/>
            </a:prstGeom>
            <a:ln cap="rnd" w="594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6" id="56"/>
            <p:cNvSpPr/>
            <p:nvPr/>
          </p:nvSpPr>
          <p:spPr>
            <a:xfrm flipH="true">
              <a:off x="2009529" y="2952239"/>
              <a:ext cx="0" cy="389730"/>
            </a:xfrm>
            <a:prstGeom prst="line">
              <a:avLst/>
            </a:prstGeom>
            <a:ln cap="rnd" w="594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7" id="57"/>
            <p:cNvSpPr/>
            <p:nvPr/>
          </p:nvSpPr>
          <p:spPr>
            <a:xfrm flipH="true">
              <a:off x="1309448" y="2952239"/>
              <a:ext cx="0" cy="389730"/>
            </a:xfrm>
            <a:prstGeom prst="line">
              <a:avLst/>
            </a:prstGeom>
            <a:ln cap="rnd" w="594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8" id="58"/>
            <p:cNvSpPr/>
            <p:nvPr/>
          </p:nvSpPr>
          <p:spPr>
            <a:xfrm>
              <a:off x="609366" y="2952239"/>
              <a:ext cx="0" cy="389730"/>
            </a:xfrm>
            <a:prstGeom prst="line">
              <a:avLst/>
            </a:prstGeom>
            <a:ln cap="rnd" w="594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59" id="59"/>
            <p:cNvGrpSpPr/>
            <p:nvPr/>
          </p:nvGrpSpPr>
          <p:grpSpPr>
            <a:xfrm rot="0">
              <a:off x="532984" y="1790045"/>
              <a:ext cx="152765" cy="152765"/>
              <a:chOff x="0" y="0"/>
              <a:chExt cx="812800" cy="812800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F308B"/>
              </a:solidFill>
            </p:spPr>
          </p:sp>
          <p:sp>
            <p:nvSpPr>
              <p:cNvPr name="TextBox 61" id="61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2" id="62"/>
            <p:cNvGrpSpPr/>
            <p:nvPr/>
          </p:nvGrpSpPr>
          <p:grpSpPr>
            <a:xfrm rot="0">
              <a:off x="1156682" y="1170799"/>
              <a:ext cx="152765" cy="152765"/>
              <a:chOff x="0" y="0"/>
              <a:chExt cx="812800" cy="812800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F308B"/>
              </a:solidFill>
            </p:spPr>
          </p:sp>
          <p:sp>
            <p:nvSpPr>
              <p:cNvPr name="TextBox 64" id="64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5" id="65"/>
            <p:cNvGrpSpPr/>
            <p:nvPr/>
          </p:nvGrpSpPr>
          <p:grpSpPr>
            <a:xfrm rot="0">
              <a:off x="1747616" y="1480422"/>
              <a:ext cx="152765" cy="152765"/>
              <a:chOff x="0" y="0"/>
              <a:chExt cx="812800" cy="812800"/>
            </a:xfrm>
          </p:grpSpPr>
          <p:sp>
            <p:nvSpPr>
              <p:cNvPr name="Freeform 66" id="6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F308B"/>
              </a:solidFill>
            </p:spPr>
          </p:sp>
          <p:sp>
            <p:nvSpPr>
              <p:cNvPr name="TextBox 67" id="67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8" id="68"/>
            <p:cNvGrpSpPr/>
            <p:nvPr/>
          </p:nvGrpSpPr>
          <p:grpSpPr>
            <a:xfrm rot="0">
              <a:off x="2556845" y="551553"/>
              <a:ext cx="152765" cy="152765"/>
              <a:chOff x="0" y="0"/>
              <a:chExt cx="812800" cy="812800"/>
            </a:xfrm>
          </p:grpSpPr>
          <p:sp>
            <p:nvSpPr>
              <p:cNvPr name="Freeform 69" id="6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F308B"/>
              </a:solidFill>
            </p:spPr>
          </p:sp>
          <p:sp>
            <p:nvSpPr>
              <p:cNvPr name="TextBox 70" id="70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71" id="71"/>
            <p:cNvGrpSpPr/>
            <p:nvPr/>
          </p:nvGrpSpPr>
          <p:grpSpPr>
            <a:xfrm rot="0">
              <a:off x="3256926" y="2409291"/>
              <a:ext cx="152765" cy="152765"/>
              <a:chOff x="0" y="0"/>
              <a:chExt cx="812800" cy="812800"/>
            </a:xfrm>
          </p:grpSpPr>
          <p:sp>
            <p:nvSpPr>
              <p:cNvPr name="Freeform 72" id="7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F308B"/>
              </a:solidFill>
            </p:spPr>
          </p:sp>
          <p:sp>
            <p:nvSpPr>
              <p:cNvPr name="TextBox 73" id="73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74" id="74"/>
            <p:cNvGrpSpPr/>
            <p:nvPr/>
          </p:nvGrpSpPr>
          <p:grpSpPr>
            <a:xfrm rot="0">
              <a:off x="4033391" y="2099668"/>
              <a:ext cx="152765" cy="152765"/>
              <a:chOff x="0" y="0"/>
              <a:chExt cx="812800" cy="812800"/>
            </a:xfrm>
          </p:grpSpPr>
          <p:sp>
            <p:nvSpPr>
              <p:cNvPr name="Freeform 75" id="7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F308B"/>
              </a:solidFill>
            </p:spPr>
          </p:sp>
          <p:sp>
            <p:nvSpPr>
              <p:cNvPr name="TextBox 76" id="76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AutoShape 77" id="77"/>
            <p:cNvSpPr/>
            <p:nvPr/>
          </p:nvSpPr>
          <p:spPr>
            <a:xfrm flipH="true">
              <a:off x="663570" y="1300999"/>
              <a:ext cx="515291" cy="511612"/>
            </a:xfrm>
            <a:prstGeom prst="line">
              <a:avLst/>
            </a:prstGeom>
            <a:ln cap="rnd" w="59404">
              <a:solidFill>
                <a:srgbClr val="AF308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8" id="78"/>
            <p:cNvSpPr/>
            <p:nvPr/>
          </p:nvSpPr>
          <p:spPr>
            <a:xfrm flipH="true" flipV="true">
              <a:off x="1300737" y="1282639"/>
              <a:ext cx="455590" cy="238709"/>
            </a:xfrm>
            <a:prstGeom prst="line">
              <a:avLst/>
            </a:prstGeom>
            <a:ln cap="rnd" w="59404">
              <a:solidFill>
                <a:srgbClr val="AF308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9" id="79"/>
            <p:cNvSpPr/>
            <p:nvPr/>
          </p:nvSpPr>
          <p:spPr>
            <a:xfrm flipV="true">
              <a:off x="1874173" y="685529"/>
              <a:ext cx="708879" cy="813683"/>
            </a:xfrm>
            <a:prstGeom prst="line">
              <a:avLst/>
            </a:prstGeom>
            <a:ln cap="rnd" w="59404">
              <a:solidFill>
                <a:srgbClr val="AF308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0" id="80"/>
            <p:cNvSpPr/>
            <p:nvPr/>
          </p:nvSpPr>
          <p:spPr>
            <a:xfrm>
              <a:off x="2660170" y="699431"/>
              <a:ext cx="646196" cy="1714747"/>
            </a:xfrm>
            <a:prstGeom prst="line">
              <a:avLst/>
            </a:prstGeom>
            <a:ln cap="rnd" w="59404">
              <a:solidFill>
                <a:srgbClr val="AF308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1" id="81"/>
            <p:cNvSpPr/>
            <p:nvPr/>
          </p:nvSpPr>
          <p:spPr>
            <a:xfrm flipV="true">
              <a:off x="3404278" y="2204351"/>
              <a:ext cx="634527" cy="253024"/>
            </a:xfrm>
            <a:prstGeom prst="line">
              <a:avLst/>
            </a:prstGeom>
            <a:ln cap="rnd" w="59404">
              <a:solidFill>
                <a:srgbClr val="AF308B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13183577" y="6115442"/>
            <a:ext cx="3330882" cy="2528846"/>
            <a:chOff x="0" y="0"/>
            <a:chExt cx="4441175" cy="3371795"/>
          </a:xfrm>
        </p:grpSpPr>
        <p:sp>
          <p:nvSpPr>
            <p:cNvPr name="AutoShape 83" id="83"/>
            <p:cNvSpPr/>
            <p:nvPr/>
          </p:nvSpPr>
          <p:spPr>
            <a:xfrm>
              <a:off x="196604" y="3175191"/>
              <a:ext cx="4244393" cy="25513"/>
            </a:xfrm>
            <a:prstGeom prst="line">
              <a:avLst/>
            </a:prstGeom>
            <a:ln cap="rnd" w="594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4" id="84"/>
            <p:cNvSpPr/>
            <p:nvPr/>
          </p:nvSpPr>
          <p:spPr>
            <a:xfrm flipV="true">
              <a:off x="196604" y="0"/>
              <a:ext cx="0" cy="3200703"/>
            </a:xfrm>
            <a:prstGeom prst="line">
              <a:avLst/>
            </a:prstGeom>
            <a:ln cap="rnd" w="594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5" id="85"/>
            <p:cNvSpPr/>
            <p:nvPr/>
          </p:nvSpPr>
          <p:spPr>
            <a:xfrm flipH="true">
              <a:off x="0" y="2820244"/>
              <a:ext cx="393208" cy="0"/>
            </a:xfrm>
            <a:prstGeom prst="line">
              <a:avLst/>
            </a:prstGeom>
            <a:ln cap="rnd" w="594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6" id="86"/>
            <p:cNvSpPr/>
            <p:nvPr/>
          </p:nvSpPr>
          <p:spPr>
            <a:xfrm flipH="true">
              <a:off x="0" y="2507858"/>
              <a:ext cx="393208" cy="0"/>
            </a:xfrm>
            <a:prstGeom prst="line">
              <a:avLst/>
            </a:prstGeom>
            <a:ln cap="rnd" w="594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7" id="87"/>
            <p:cNvSpPr/>
            <p:nvPr/>
          </p:nvSpPr>
          <p:spPr>
            <a:xfrm flipH="true">
              <a:off x="0" y="2195472"/>
              <a:ext cx="393208" cy="0"/>
            </a:xfrm>
            <a:prstGeom prst="line">
              <a:avLst/>
            </a:prstGeom>
            <a:ln cap="rnd" w="594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8" id="88"/>
            <p:cNvSpPr/>
            <p:nvPr/>
          </p:nvSpPr>
          <p:spPr>
            <a:xfrm flipH="true">
              <a:off x="0" y="1883085"/>
              <a:ext cx="393208" cy="0"/>
            </a:xfrm>
            <a:prstGeom prst="line">
              <a:avLst/>
            </a:prstGeom>
            <a:ln cap="rnd" w="594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9" id="89"/>
            <p:cNvSpPr/>
            <p:nvPr/>
          </p:nvSpPr>
          <p:spPr>
            <a:xfrm flipH="true">
              <a:off x="0" y="1570699"/>
              <a:ext cx="393208" cy="0"/>
            </a:xfrm>
            <a:prstGeom prst="line">
              <a:avLst/>
            </a:prstGeom>
            <a:ln cap="rnd" w="594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0" id="90"/>
            <p:cNvSpPr/>
            <p:nvPr/>
          </p:nvSpPr>
          <p:spPr>
            <a:xfrm flipH="true">
              <a:off x="0" y="1258313"/>
              <a:ext cx="393208" cy="0"/>
            </a:xfrm>
            <a:prstGeom prst="line">
              <a:avLst/>
            </a:prstGeom>
            <a:ln cap="rnd" w="594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1" id="91"/>
            <p:cNvSpPr/>
            <p:nvPr/>
          </p:nvSpPr>
          <p:spPr>
            <a:xfrm flipH="true">
              <a:off x="0" y="945927"/>
              <a:ext cx="393208" cy="0"/>
            </a:xfrm>
            <a:prstGeom prst="line">
              <a:avLst/>
            </a:prstGeom>
            <a:ln cap="rnd" w="594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2" id="92"/>
            <p:cNvSpPr/>
            <p:nvPr/>
          </p:nvSpPr>
          <p:spPr>
            <a:xfrm flipH="true" flipV="true">
              <a:off x="0" y="633540"/>
              <a:ext cx="393208" cy="0"/>
            </a:xfrm>
            <a:prstGeom prst="line">
              <a:avLst/>
            </a:prstGeom>
            <a:ln cap="rnd" w="594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3" id="93"/>
            <p:cNvSpPr/>
            <p:nvPr/>
          </p:nvSpPr>
          <p:spPr>
            <a:xfrm flipH="true">
              <a:off x="0" y="321154"/>
              <a:ext cx="393208" cy="0"/>
            </a:xfrm>
            <a:prstGeom prst="line">
              <a:avLst/>
            </a:prstGeom>
            <a:ln cap="rnd" w="594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4" id="94"/>
            <p:cNvSpPr/>
            <p:nvPr/>
          </p:nvSpPr>
          <p:spPr>
            <a:xfrm>
              <a:off x="4146452" y="2978587"/>
              <a:ext cx="0" cy="393208"/>
            </a:xfrm>
            <a:prstGeom prst="line">
              <a:avLst/>
            </a:prstGeom>
            <a:ln cap="rnd" w="594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5" id="95"/>
            <p:cNvSpPr/>
            <p:nvPr/>
          </p:nvSpPr>
          <p:spPr>
            <a:xfrm flipH="true">
              <a:off x="3440122" y="2978587"/>
              <a:ext cx="0" cy="393208"/>
            </a:xfrm>
            <a:prstGeom prst="line">
              <a:avLst/>
            </a:prstGeom>
            <a:ln cap="rnd" w="594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6" id="96"/>
            <p:cNvSpPr/>
            <p:nvPr/>
          </p:nvSpPr>
          <p:spPr>
            <a:xfrm>
              <a:off x="2733793" y="2978587"/>
              <a:ext cx="0" cy="393208"/>
            </a:xfrm>
            <a:prstGeom prst="line">
              <a:avLst/>
            </a:prstGeom>
            <a:ln cap="rnd" w="594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7" id="97"/>
            <p:cNvSpPr/>
            <p:nvPr/>
          </p:nvSpPr>
          <p:spPr>
            <a:xfrm flipH="true">
              <a:off x="2027464" y="2978587"/>
              <a:ext cx="0" cy="393208"/>
            </a:xfrm>
            <a:prstGeom prst="line">
              <a:avLst/>
            </a:prstGeom>
            <a:ln cap="rnd" w="594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8" id="98"/>
            <p:cNvSpPr/>
            <p:nvPr/>
          </p:nvSpPr>
          <p:spPr>
            <a:xfrm>
              <a:off x="1321134" y="2978587"/>
              <a:ext cx="0" cy="393208"/>
            </a:xfrm>
            <a:prstGeom prst="line">
              <a:avLst/>
            </a:prstGeom>
            <a:ln cap="rnd" w="594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9" id="99"/>
            <p:cNvSpPr/>
            <p:nvPr/>
          </p:nvSpPr>
          <p:spPr>
            <a:xfrm flipH="true">
              <a:off x="614805" y="2978587"/>
              <a:ext cx="0" cy="393208"/>
            </a:xfrm>
            <a:prstGeom prst="line">
              <a:avLst/>
            </a:prstGeom>
            <a:ln cap="rnd" w="5940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00" id="100"/>
            <p:cNvGrpSpPr/>
            <p:nvPr/>
          </p:nvGrpSpPr>
          <p:grpSpPr>
            <a:xfrm rot="0">
              <a:off x="3057671" y="785563"/>
              <a:ext cx="209238" cy="209238"/>
              <a:chOff x="0" y="0"/>
              <a:chExt cx="812800" cy="812800"/>
            </a:xfrm>
          </p:grpSpPr>
          <p:sp>
            <p:nvSpPr>
              <p:cNvPr name="Freeform 101" id="10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F308B"/>
              </a:solidFill>
            </p:spPr>
          </p:sp>
          <p:sp>
            <p:nvSpPr>
              <p:cNvPr name="TextBox 102" id="102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26460" lIns="26460" bIns="26460" rIns="2646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3" id="103"/>
            <p:cNvGrpSpPr/>
            <p:nvPr/>
          </p:nvGrpSpPr>
          <p:grpSpPr>
            <a:xfrm rot="0">
              <a:off x="794041" y="994801"/>
              <a:ext cx="209238" cy="209238"/>
              <a:chOff x="0" y="0"/>
              <a:chExt cx="812800" cy="812800"/>
            </a:xfrm>
          </p:grpSpPr>
          <p:sp>
            <p:nvSpPr>
              <p:cNvPr name="Freeform 104" id="10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F308B"/>
              </a:solidFill>
            </p:spPr>
          </p:sp>
          <p:sp>
            <p:nvSpPr>
              <p:cNvPr name="TextBox 105" id="105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26460" lIns="26460" bIns="26460" rIns="2646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6" id="106"/>
            <p:cNvGrpSpPr/>
            <p:nvPr/>
          </p:nvGrpSpPr>
          <p:grpSpPr>
            <a:xfrm rot="0">
              <a:off x="1567958" y="2145641"/>
              <a:ext cx="209238" cy="209238"/>
              <a:chOff x="0" y="0"/>
              <a:chExt cx="812800" cy="812800"/>
            </a:xfrm>
          </p:grpSpPr>
          <p:sp>
            <p:nvSpPr>
              <p:cNvPr name="Freeform 107" id="10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F308B"/>
              </a:solidFill>
            </p:spPr>
          </p:sp>
          <p:sp>
            <p:nvSpPr>
              <p:cNvPr name="TextBox 108" id="108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26460" lIns="26460" bIns="26460" rIns="2646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9" id="109"/>
            <p:cNvGrpSpPr/>
            <p:nvPr/>
          </p:nvGrpSpPr>
          <p:grpSpPr>
            <a:xfrm rot="0">
              <a:off x="1003279" y="2145641"/>
              <a:ext cx="209238" cy="209238"/>
              <a:chOff x="0" y="0"/>
              <a:chExt cx="812800" cy="812800"/>
            </a:xfrm>
          </p:grpSpPr>
          <p:sp>
            <p:nvSpPr>
              <p:cNvPr name="Freeform 110" id="1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F308B"/>
              </a:solidFill>
            </p:spPr>
          </p:sp>
          <p:sp>
            <p:nvSpPr>
              <p:cNvPr name="TextBox 111" id="111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26460" lIns="26460" bIns="26460" rIns="2646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12" id="112"/>
            <p:cNvGrpSpPr/>
            <p:nvPr/>
          </p:nvGrpSpPr>
          <p:grpSpPr>
            <a:xfrm rot="0">
              <a:off x="1567958" y="1411292"/>
              <a:ext cx="209238" cy="209238"/>
              <a:chOff x="0" y="0"/>
              <a:chExt cx="812800" cy="812800"/>
            </a:xfrm>
          </p:grpSpPr>
          <p:sp>
            <p:nvSpPr>
              <p:cNvPr name="Freeform 113" id="1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F308B"/>
              </a:solidFill>
            </p:spPr>
          </p:sp>
          <p:sp>
            <p:nvSpPr>
              <p:cNvPr name="TextBox 114" id="114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26460" lIns="26460" bIns="26460" rIns="2646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15" id="115"/>
            <p:cNvGrpSpPr/>
            <p:nvPr/>
          </p:nvGrpSpPr>
          <p:grpSpPr>
            <a:xfrm rot="0">
              <a:off x="1245563" y="259937"/>
              <a:ext cx="209238" cy="209238"/>
              <a:chOff x="0" y="0"/>
              <a:chExt cx="812800" cy="812800"/>
            </a:xfrm>
          </p:grpSpPr>
          <p:sp>
            <p:nvSpPr>
              <p:cNvPr name="Freeform 116" id="1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F308B"/>
              </a:solidFill>
            </p:spPr>
          </p:sp>
          <p:sp>
            <p:nvSpPr>
              <p:cNvPr name="TextBox 117" id="117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26460" lIns="26460" bIns="26460" rIns="2646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18" id="118"/>
            <p:cNvGrpSpPr/>
            <p:nvPr/>
          </p:nvGrpSpPr>
          <p:grpSpPr>
            <a:xfrm rot="0">
              <a:off x="2011351" y="2403239"/>
              <a:ext cx="209238" cy="209238"/>
              <a:chOff x="0" y="0"/>
              <a:chExt cx="812800" cy="812800"/>
            </a:xfrm>
          </p:grpSpPr>
          <p:sp>
            <p:nvSpPr>
              <p:cNvPr name="Freeform 119" id="1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F308B"/>
              </a:solidFill>
            </p:spPr>
          </p:sp>
          <p:sp>
            <p:nvSpPr>
              <p:cNvPr name="TextBox 120" id="120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26460" lIns="26460" bIns="26460" rIns="2646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1" id="121"/>
            <p:cNvGrpSpPr/>
            <p:nvPr/>
          </p:nvGrpSpPr>
          <p:grpSpPr>
            <a:xfrm rot="0">
              <a:off x="2733793" y="2507858"/>
              <a:ext cx="209238" cy="209238"/>
              <a:chOff x="0" y="0"/>
              <a:chExt cx="812800" cy="812800"/>
            </a:xfrm>
          </p:grpSpPr>
          <p:sp>
            <p:nvSpPr>
              <p:cNvPr name="Freeform 122" id="1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F308B"/>
              </a:solidFill>
            </p:spPr>
          </p:sp>
          <p:sp>
            <p:nvSpPr>
              <p:cNvPr name="TextBox 123" id="123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26460" lIns="26460" bIns="26460" rIns="2646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4" id="124"/>
            <p:cNvGrpSpPr/>
            <p:nvPr/>
          </p:nvGrpSpPr>
          <p:grpSpPr>
            <a:xfrm rot="0">
              <a:off x="3374043" y="2145641"/>
              <a:ext cx="209238" cy="209238"/>
              <a:chOff x="0" y="0"/>
              <a:chExt cx="812800" cy="812800"/>
            </a:xfrm>
          </p:grpSpPr>
          <p:sp>
            <p:nvSpPr>
              <p:cNvPr name="Freeform 125" id="12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F308B"/>
              </a:solidFill>
            </p:spPr>
          </p:sp>
          <p:sp>
            <p:nvSpPr>
              <p:cNvPr name="TextBox 126" id="126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26460" lIns="26460" bIns="26460" rIns="2646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7" id="127"/>
            <p:cNvGrpSpPr/>
            <p:nvPr/>
          </p:nvGrpSpPr>
          <p:grpSpPr>
            <a:xfrm rot="0">
              <a:off x="3937214" y="1466080"/>
              <a:ext cx="209238" cy="209238"/>
              <a:chOff x="0" y="0"/>
              <a:chExt cx="812800" cy="812800"/>
            </a:xfrm>
          </p:grpSpPr>
          <p:sp>
            <p:nvSpPr>
              <p:cNvPr name="Freeform 128" id="1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F308B"/>
              </a:solidFill>
            </p:spPr>
          </p:sp>
          <p:sp>
            <p:nvSpPr>
              <p:cNvPr name="TextBox 129" id="129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26460" lIns="26460" bIns="26460" rIns="2646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0" id="130"/>
            <p:cNvGrpSpPr/>
            <p:nvPr/>
          </p:nvGrpSpPr>
          <p:grpSpPr>
            <a:xfrm rot="0">
              <a:off x="2848433" y="1411292"/>
              <a:ext cx="209238" cy="209238"/>
              <a:chOff x="0" y="0"/>
              <a:chExt cx="812800" cy="812800"/>
            </a:xfrm>
          </p:grpSpPr>
          <p:sp>
            <p:nvSpPr>
              <p:cNvPr name="Freeform 131" id="13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F308B"/>
              </a:solidFill>
            </p:spPr>
          </p:sp>
          <p:sp>
            <p:nvSpPr>
              <p:cNvPr name="TextBox 132" id="132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26460" lIns="26460" bIns="26460" rIns="2646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3" id="133"/>
            <p:cNvGrpSpPr/>
            <p:nvPr/>
          </p:nvGrpSpPr>
          <p:grpSpPr>
            <a:xfrm rot="0">
              <a:off x="2125123" y="1153694"/>
              <a:ext cx="209238" cy="209238"/>
              <a:chOff x="0" y="0"/>
              <a:chExt cx="812800" cy="812800"/>
            </a:xfrm>
          </p:grpSpPr>
          <p:sp>
            <p:nvSpPr>
              <p:cNvPr name="Freeform 134" id="1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F308B"/>
              </a:solidFill>
            </p:spPr>
          </p:sp>
          <p:sp>
            <p:nvSpPr>
              <p:cNvPr name="TextBox 135" id="135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26460" lIns="26460" bIns="26460" rIns="2646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36" id="136"/>
          <p:cNvGrpSpPr/>
          <p:nvPr/>
        </p:nvGrpSpPr>
        <p:grpSpPr>
          <a:xfrm rot="0">
            <a:off x="5641547" y="6137812"/>
            <a:ext cx="3279424" cy="2506569"/>
            <a:chOff x="0" y="0"/>
            <a:chExt cx="4372565" cy="3342093"/>
          </a:xfrm>
        </p:grpSpPr>
        <p:sp>
          <p:nvSpPr>
            <p:cNvPr name="AutoShape 137" id="137"/>
            <p:cNvSpPr/>
            <p:nvPr/>
          </p:nvSpPr>
          <p:spPr>
            <a:xfrm>
              <a:off x="165" y="3139567"/>
              <a:ext cx="4372234" cy="26281"/>
            </a:xfrm>
            <a:prstGeom prst="line">
              <a:avLst/>
            </a:prstGeom>
            <a:ln cap="rnd" w="5502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8" id="138"/>
            <p:cNvSpPr/>
            <p:nvPr/>
          </p:nvSpPr>
          <p:spPr>
            <a:xfrm>
              <a:off x="4068983" y="2937041"/>
              <a:ext cx="0" cy="405052"/>
            </a:xfrm>
            <a:prstGeom prst="line">
              <a:avLst/>
            </a:prstGeom>
            <a:ln cap="rnd" w="5502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9" id="139"/>
            <p:cNvSpPr/>
            <p:nvPr/>
          </p:nvSpPr>
          <p:spPr>
            <a:xfrm flipH="true">
              <a:off x="3341379" y="2937041"/>
              <a:ext cx="0" cy="405052"/>
            </a:xfrm>
            <a:prstGeom prst="line">
              <a:avLst/>
            </a:prstGeom>
            <a:ln cap="rnd" w="5502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40" id="140"/>
            <p:cNvSpPr/>
            <p:nvPr/>
          </p:nvSpPr>
          <p:spPr>
            <a:xfrm flipH="true">
              <a:off x="2613775" y="2937041"/>
              <a:ext cx="0" cy="405052"/>
            </a:xfrm>
            <a:prstGeom prst="line">
              <a:avLst/>
            </a:prstGeom>
            <a:ln cap="rnd" w="5502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41" id="141"/>
            <p:cNvSpPr/>
            <p:nvPr/>
          </p:nvSpPr>
          <p:spPr>
            <a:xfrm flipH="true">
              <a:off x="1886170" y="2937041"/>
              <a:ext cx="0" cy="405052"/>
            </a:xfrm>
            <a:prstGeom prst="line">
              <a:avLst/>
            </a:prstGeom>
            <a:ln cap="rnd" w="5502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42" id="142"/>
            <p:cNvSpPr/>
            <p:nvPr/>
          </p:nvSpPr>
          <p:spPr>
            <a:xfrm flipH="true">
              <a:off x="1158566" y="2937041"/>
              <a:ext cx="0" cy="405052"/>
            </a:xfrm>
            <a:prstGeom prst="line">
              <a:avLst/>
            </a:prstGeom>
            <a:ln cap="rnd" w="5502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43" id="143"/>
            <p:cNvSpPr/>
            <p:nvPr/>
          </p:nvSpPr>
          <p:spPr>
            <a:xfrm flipH="true">
              <a:off x="430962" y="2937041"/>
              <a:ext cx="0" cy="405052"/>
            </a:xfrm>
            <a:prstGeom prst="line">
              <a:avLst/>
            </a:prstGeom>
            <a:ln cap="rnd" w="5502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44" id="144"/>
            <p:cNvGrpSpPr/>
            <p:nvPr/>
          </p:nvGrpSpPr>
          <p:grpSpPr>
            <a:xfrm rot="0">
              <a:off x="262374" y="2348142"/>
              <a:ext cx="337176" cy="337176"/>
              <a:chOff x="0" y="0"/>
              <a:chExt cx="812800" cy="812800"/>
            </a:xfrm>
          </p:grpSpPr>
          <p:sp>
            <p:nvSpPr>
              <p:cNvPr name="Freeform 145" id="14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F308B"/>
              </a:solidFill>
            </p:spPr>
          </p:sp>
          <p:sp>
            <p:nvSpPr>
              <p:cNvPr name="TextBox 146" id="146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47" id="147"/>
            <p:cNvGrpSpPr/>
            <p:nvPr/>
          </p:nvGrpSpPr>
          <p:grpSpPr>
            <a:xfrm rot="0">
              <a:off x="262374" y="1757288"/>
              <a:ext cx="337176" cy="337176"/>
              <a:chOff x="0" y="0"/>
              <a:chExt cx="812800" cy="812800"/>
            </a:xfrm>
          </p:grpSpPr>
          <p:sp>
            <p:nvSpPr>
              <p:cNvPr name="Freeform 148" id="14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F308B"/>
              </a:solidFill>
            </p:spPr>
          </p:sp>
          <p:sp>
            <p:nvSpPr>
              <p:cNvPr name="TextBox 149" id="149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50" id="150"/>
            <p:cNvGrpSpPr/>
            <p:nvPr/>
          </p:nvGrpSpPr>
          <p:grpSpPr>
            <a:xfrm rot="0">
              <a:off x="989978" y="2348142"/>
              <a:ext cx="337176" cy="337176"/>
              <a:chOff x="0" y="0"/>
              <a:chExt cx="812800" cy="812800"/>
            </a:xfrm>
          </p:grpSpPr>
          <p:sp>
            <p:nvSpPr>
              <p:cNvPr name="Freeform 151" id="15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F308B"/>
              </a:solidFill>
            </p:spPr>
          </p:sp>
          <p:sp>
            <p:nvSpPr>
              <p:cNvPr name="TextBox 152" id="152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53" id="153"/>
            <p:cNvGrpSpPr/>
            <p:nvPr/>
          </p:nvGrpSpPr>
          <p:grpSpPr>
            <a:xfrm rot="0">
              <a:off x="989978" y="1756459"/>
              <a:ext cx="337176" cy="337176"/>
              <a:chOff x="0" y="0"/>
              <a:chExt cx="812800" cy="812800"/>
            </a:xfrm>
          </p:grpSpPr>
          <p:sp>
            <p:nvSpPr>
              <p:cNvPr name="Freeform 154" id="15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F308B"/>
              </a:solidFill>
            </p:spPr>
          </p:sp>
          <p:sp>
            <p:nvSpPr>
              <p:cNvPr name="TextBox 155" id="155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56" id="156"/>
            <p:cNvGrpSpPr/>
            <p:nvPr/>
          </p:nvGrpSpPr>
          <p:grpSpPr>
            <a:xfrm rot="0">
              <a:off x="989978" y="1164775"/>
              <a:ext cx="337176" cy="337176"/>
              <a:chOff x="0" y="0"/>
              <a:chExt cx="812800" cy="812800"/>
            </a:xfrm>
          </p:grpSpPr>
          <p:sp>
            <p:nvSpPr>
              <p:cNvPr name="Freeform 157" id="15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F308B"/>
              </a:solidFill>
            </p:spPr>
          </p:sp>
          <p:sp>
            <p:nvSpPr>
              <p:cNvPr name="TextBox 158" id="158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59" id="159"/>
            <p:cNvGrpSpPr/>
            <p:nvPr/>
          </p:nvGrpSpPr>
          <p:grpSpPr>
            <a:xfrm rot="0">
              <a:off x="989978" y="573091"/>
              <a:ext cx="337176" cy="337176"/>
              <a:chOff x="0" y="0"/>
              <a:chExt cx="812800" cy="812800"/>
            </a:xfrm>
          </p:grpSpPr>
          <p:sp>
            <p:nvSpPr>
              <p:cNvPr name="Freeform 160" id="16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F308B"/>
              </a:solidFill>
            </p:spPr>
          </p:sp>
          <p:sp>
            <p:nvSpPr>
              <p:cNvPr name="TextBox 161" id="161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62" id="162"/>
            <p:cNvGrpSpPr/>
            <p:nvPr/>
          </p:nvGrpSpPr>
          <p:grpSpPr>
            <a:xfrm rot="0">
              <a:off x="1719233" y="2348142"/>
              <a:ext cx="337176" cy="337176"/>
              <a:chOff x="0" y="0"/>
              <a:chExt cx="812800" cy="812800"/>
            </a:xfrm>
          </p:grpSpPr>
          <p:sp>
            <p:nvSpPr>
              <p:cNvPr name="Freeform 163" id="16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F308B"/>
              </a:solidFill>
            </p:spPr>
          </p:sp>
          <p:sp>
            <p:nvSpPr>
              <p:cNvPr name="TextBox 164" id="164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65" id="165"/>
            <p:cNvGrpSpPr/>
            <p:nvPr/>
          </p:nvGrpSpPr>
          <p:grpSpPr>
            <a:xfrm rot="0">
              <a:off x="2445186" y="2348142"/>
              <a:ext cx="337176" cy="337176"/>
              <a:chOff x="0" y="0"/>
              <a:chExt cx="812800" cy="812800"/>
            </a:xfrm>
          </p:grpSpPr>
          <p:sp>
            <p:nvSpPr>
              <p:cNvPr name="Freeform 166" id="16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F308B"/>
              </a:solidFill>
            </p:spPr>
          </p:sp>
          <p:sp>
            <p:nvSpPr>
              <p:cNvPr name="TextBox 167" id="167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68" id="168"/>
            <p:cNvGrpSpPr/>
            <p:nvPr/>
          </p:nvGrpSpPr>
          <p:grpSpPr>
            <a:xfrm rot="0">
              <a:off x="3900394" y="2348142"/>
              <a:ext cx="337176" cy="337176"/>
              <a:chOff x="0" y="0"/>
              <a:chExt cx="812800" cy="812800"/>
            </a:xfrm>
          </p:grpSpPr>
          <p:sp>
            <p:nvSpPr>
              <p:cNvPr name="Freeform 169" id="16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F308B"/>
              </a:solidFill>
            </p:spPr>
          </p:sp>
          <p:sp>
            <p:nvSpPr>
              <p:cNvPr name="TextBox 170" id="170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71" id="171"/>
            <p:cNvGrpSpPr/>
            <p:nvPr/>
          </p:nvGrpSpPr>
          <p:grpSpPr>
            <a:xfrm rot="0">
              <a:off x="3900394" y="1757288"/>
              <a:ext cx="337176" cy="337176"/>
              <a:chOff x="0" y="0"/>
              <a:chExt cx="812800" cy="812800"/>
            </a:xfrm>
          </p:grpSpPr>
          <p:sp>
            <p:nvSpPr>
              <p:cNvPr name="Freeform 172" id="17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F308B"/>
              </a:solidFill>
            </p:spPr>
          </p:sp>
          <p:sp>
            <p:nvSpPr>
              <p:cNvPr name="TextBox 173" id="173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74" id="174"/>
            <p:cNvGrpSpPr/>
            <p:nvPr/>
          </p:nvGrpSpPr>
          <p:grpSpPr>
            <a:xfrm rot="0">
              <a:off x="3900394" y="1164775"/>
              <a:ext cx="337176" cy="337176"/>
              <a:chOff x="0" y="0"/>
              <a:chExt cx="812800" cy="812800"/>
            </a:xfrm>
          </p:grpSpPr>
          <p:sp>
            <p:nvSpPr>
              <p:cNvPr name="Freeform 175" id="17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F308B"/>
              </a:solidFill>
            </p:spPr>
          </p:sp>
          <p:sp>
            <p:nvSpPr>
              <p:cNvPr name="TextBox 176" id="176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77" id="177"/>
            <p:cNvGrpSpPr/>
            <p:nvPr/>
          </p:nvGrpSpPr>
          <p:grpSpPr>
            <a:xfrm rot="0">
              <a:off x="2445186" y="1757288"/>
              <a:ext cx="337176" cy="337176"/>
              <a:chOff x="0" y="0"/>
              <a:chExt cx="812800" cy="812800"/>
            </a:xfrm>
          </p:grpSpPr>
          <p:sp>
            <p:nvSpPr>
              <p:cNvPr name="Freeform 178" id="17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F308B"/>
              </a:solidFill>
            </p:spPr>
          </p:sp>
          <p:sp>
            <p:nvSpPr>
              <p:cNvPr name="TextBox 179" id="179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80" id="180"/>
            <p:cNvGrpSpPr/>
            <p:nvPr/>
          </p:nvGrpSpPr>
          <p:grpSpPr>
            <a:xfrm rot="0">
              <a:off x="989978" y="0"/>
              <a:ext cx="337176" cy="337176"/>
              <a:chOff x="0" y="0"/>
              <a:chExt cx="812800" cy="812800"/>
            </a:xfrm>
          </p:grpSpPr>
          <p:sp>
            <p:nvSpPr>
              <p:cNvPr name="Freeform 181" id="18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F308B"/>
              </a:solidFill>
            </p:spPr>
          </p:sp>
          <p:sp>
            <p:nvSpPr>
              <p:cNvPr name="TextBox 182" id="182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name="TextBox 183" id="183"/>
          <p:cNvSpPr txBox="true"/>
          <p:nvPr/>
        </p:nvSpPr>
        <p:spPr>
          <a:xfrm rot="0">
            <a:off x="1975455" y="1524619"/>
            <a:ext cx="14337091" cy="1585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3"/>
              </a:lnSpc>
              <a:spcBef>
                <a:spcPct val="0"/>
              </a:spcBef>
            </a:pPr>
            <a:r>
              <a:rPr lang="en-US" sz="9202" spc="1398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ESTATISTICA APLICADA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4D6B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07331" y="1018621"/>
            <a:ext cx="20830043" cy="2654900"/>
            <a:chOff x="0" y="0"/>
            <a:chExt cx="5115576" cy="6520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15577" cy="652008"/>
            </a:xfrm>
            <a:custGeom>
              <a:avLst/>
              <a:gdLst/>
              <a:ahLst/>
              <a:cxnLst/>
              <a:rect r="r" b="b" t="t" l="l"/>
              <a:pathLst>
                <a:path h="652008" w="5115577">
                  <a:moveTo>
                    <a:pt x="18955" y="0"/>
                  </a:moveTo>
                  <a:lnTo>
                    <a:pt x="5096621" y="0"/>
                  </a:lnTo>
                  <a:cubicBezTo>
                    <a:pt x="5101649" y="0"/>
                    <a:pt x="5106470" y="1997"/>
                    <a:pt x="5110025" y="5552"/>
                  </a:cubicBezTo>
                  <a:cubicBezTo>
                    <a:pt x="5113579" y="9107"/>
                    <a:pt x="5115577" y="13928"/>
                    <a:pt x="5115577" y="18955"/>
                  </a:cubicBezTo>
                  <a:lnTo>
                    <a:pt x="5115577" y="633052"/>
                  </a:lnTo>
                  <a:cubicBezTo>
                    <a:pt x="5115577" y="638080"/>
                    <a:pt x="5113579" y="642901"/>
                    <a:pt x="5110025" y="646456"/>
                  </a:cubicBezTo>
                  <a:cubicBezTo>
                    <a:pt x="5106470" y="650010"/>
                    <a:pt x="5101649" y="652008"/>
                    <a:pt x="5096621" y="652008"/>
                  </a:cubicBezTo>
                  <a:lnTo>
                    <a:pt x="18955" y="652008"/>
                  </a:lnTo>
                  <a:cubicBezTo>
                    <a:pt x="13928" y="652008"/>
                    <a:pt x="9107" y="650010"/>
                    <a:pt x="5552" y="646456"/>
                  </a:cubicBezTo>
                  <a:cubicBezTo>
                    <a:pt x="1997" y="642901"/>
                    <a:pt x="0" y="638080"/>
                    <a:pt x="0" y="633052"/>
                  </a:cubicBezTo>
                  <a:lnTo>
                    <a:pt x="0" y="18955"/>
                  </a:lnTo>
                  <a:cubicBezTo>
                    <a:pt x="0" y="13928"/>
                    <a:pt x="1997" y="9107"/>
                    <a:pt x="5552" y="5552"/>
                  </a:cubicBezTo>
                  <a:cubicBezTo>
                    <a:pt x="9107" y="1997"/>
                    <a:pt x="13928" y="0"/>
                    <a:pt x="18955" y="0"/>
                  </a:cubicBezTo>
                  <a:close/>
                </a:path>
              </a:pathLst>
            </a:custGeom>
            <a:solidFill>
              <a:srgbClr val="437935"/>
            </a:solidFill>
            <a:ln w="571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0"/>
              <a:ext cx="5115576" cy="842508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124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565961" y="3139557"/>
            <a:ext cx="9156078" cy="939209"/>
            <a:chOff x="0" y="0"/>
            <a:chExt cx="2248609" cy="23065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8609" cy="230657"/>
            </a:xfrm>
            <a:custGeom>
              <a:avLst/>
              <a:gdLst/>
              <a:ahLst/>
              <a:cxnLst/>
              <a:rect r="r" b="b" t="t" l="l"/>
              <a:pathLst>
                <a:path h="230657" w="2248609">
                  <a:moveTo>
                    <a:pt x="43123" y="0"/>
                  </a:moveTo>
                  <a:lnTo>
                    <a:pt x="2205486" y="0"/>
                  </a:lnTo>
                  <a:cubicBezTo>
                    <a:pt x="2229302" y="0"/>
                    <a:pt x="2248609" y="19307"/>
                    <a:pt x="2248609" y="43123"/>
                  </a:cubicBezTo>
                  <a:lnTo>
                    <a:pt x="2248609" y="187534"/>
                  </a:lnTo>
                  <a:cubicBezTo>
                    <a:pt x="2248609" y="211350"/>
                    <a:pt x="2229302" y="230657"/>
                    <a:pt x="2205486" y="230657"/>
                  </a:cubicBezTo>
                  <a:lnTo>
                    <a:pt x="43123" y="230657"/>
                  </a:lnTo>
                  <a:cubicBezTo>
                    <a:pt x="19307" y="230657"/>
                    <a:pt x="0" y="211350"/>
                    <a:pt x="0" y="187534"/>
                  </a:cubicBezTo>
                  <a:lnTo>
                    <a:pt x="0" y="43123"/>
                  </a:lnTo>
                  <a:cubicBezTo>
                    <a:pt x="0" y="19307"/>
                    <a:pt x="19307" y="0"/>
                    <a:pt x="4312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248609" cy="3163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79"/>
                </a:lnSpc>
              </a:pPr>
              <a:r>
                <a:rPr lang="en-US" sz="4199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Revisão do que vimos até aqui: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075880" y="4691793"/>
            <a:ext cx="3753272" cy="4126879"/>
            <a:chOff x="0" y="0"/>
            <a:chExt cx="1215498" cy="13364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15498" cy="1336491"/>
            </a:xfrm>
            <a:custGeom>
              <a:avLst/>
              <a:gdLst/>
              <a:ahLst/>
              <a:cxnLst/>
              <a:rect r="r" b="b" t="t" l="l"/>
              <a:pathLst>
                <a:path h="1336491" w="1215498">
                  <a:moveTo>
                    <a:pt x="105198" y="0"/>
                  </a:moveTo>
                  <a:lnTo>
                    <a:pt x="1110300" y="0"/>
                  </a:lnTo>
                  <a:cubicBezTo>
                    <a:pt x="1168399" y="0"/>
                    <a:pt x="1215498" y="47099"/>
                    <a:pt x="1215498" y="105198"/>
                  </a:cubicBezTo>
                  <a:lnTo>
                    <a:pt x="1215498" y="1231292"/>
                  </a:lnTo>
                  <a:cubicBezTo>
                    <a:pt x="1215498" y="1259193"/>
                    <a:pt x="1204415" y="1285950"/>
                    <a:pt x="1184686" y="1305679"/>
                  </a:cubicBezTo>
                  <a:cubicBezTo>
                    <a:pt x="1164957" y="1325407"/>
                    <a:pt x="1138200" y="1336491"/>
                    <a:pt x="1110300" y="1336491"/>
                  </a:cubicBezTo>
                  <a:lnTo>
                    <a:pt x="105198" y="1336491"/>
                  </a:lnTo>
                  <a:cubicBezTo>
                    <a:pt x="77298" y="1336491"/>
                    <a:pt x="50540" y="1325407"/>
                    <a:pt x="30812" y="1305679"/>
                  </a:cubicBezTo>
                  <a:cubicBezTo>
                    <a:pt x="11083" y="1285950"/>
                    <a:pt x="0" y="1259193"/>
                    <a:pt x="0" y="1231292"/>
                  </a:cubicBezTo>
                  <a:lnTo>
                    <a:pt x="0" y="105198"/>
                  </a:lnTo>
                  <a:cubicBezTo>
                    <a:pt x="0" y="77298"/>
                    <a:pt x="11083" y="50540"/>
                    <a:pt x="30812" y="30812"/>
                  </a:cubicBezTo>
                  <a:cubicBezTo>
                    <a:pt x="50540" y="11083"/>
                    <a:pt x="77298" y="0"/>
                    <a:pt x="10519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215498" cy="1403166"/>
            </a:xfrm>
            <a:prstGeom prst="rect">
              <a:avLst/>
            </a:prstGeom>
          </p:spPr>
          <p:txBody>
            <a:bodyPr anchor="ctr" rtlCol="false" tIns="38523" lIns="38523" bIns="38523" rIns="38523"/>
            <a:lstStyle/>
            <a:p>
              <a:pPr algn="l">
                <a:lnSpc>
                  <a:spcPts val="461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025650" y="4691793"/>
            <a:ext cx="8186470" cy="4126879"/>
            <a:chOff x="0" y="0"/>
            <a:chExt cx="2651190" cy="13364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651190" cy="1336491"/>
            </a:xfrm>
            <a:custGeom>
              <a:avLst/>
              <a:gdLst/>
              <a:ahLst/>
              <a:cxnLst/>
              <a:rect r="r" b="b" t="t" l="l"/>
              <a:pathLst>
                <a:path h="1336491" w="2651190">
                  <a:moveTo>
                    <a:pt x="48231" y="0"/>
                  </a:moveTo>
                  <a:lnTo>
                    <a:pt x="2602960" y="0"/>
                  </a:lnTo>
                  <a:cubicBezTo>
                    <a:pt x="2615751" y="0"/>
                    <a:pt x="2628019" y="5081"/>
                    <a:pt x="2637064" y="14126"/>
                  </a:cubicBezTo>
                  <a:cubicBezTo>
                    <a:pt x="2646109" y="23171"/>
                    <a:pt x="2651190" y="35439"/>
                    <a:pt x="2651190" y="48231"/>
                  </a:cubicBezTo>
                  <a:lnTo>
                    <a:pt x="2651190" y="1288260"/>
                  </a:lnTo>
                  <a:cubicBezTo>
                    <a:pt x="2651190" y="1301052"/>
                    <a:pt x="2646109" y="1313319"/>
                    <a:pt x="2637064" y="1322364"/>
                  </a:cubicBezTo>
                  <a:cubicBezTo>
                    <a:pt x="2628019" y="1331409"/>
                    <a:pt x="2615751" y="1336491"/>
                    <a:pt x="2602960" y="1336491"/>
                  </a:cubicBezTo>
                  <a:lnTo>
                    <a:pt x="48231" y="1336491"/>
                  </a:lnTo>
                  <a:cubicBezTo>
                    <a:pt x="35439" y="1336491"/>
                    <a:pt x="23171" y="1331409"/>
                    <a:pt x="14126" y="1322364"/>
                  </a:cubicBezTo>
                  <a:cubicBezTo>
                    <a:pt x="5081" y="1313319"/>
                    <a:pt x="0" y="1301052"/>
                    <a:pt x="0" y="1288260"/>
                  </a:cubicBezTo>
                  <a:lnTo>
                    <a:pt x="0" y="48231"/>
                  </a:lnTo>
                  <a:cubicBezTo>
                    <a:pt x="0" y="35439"/>
                    <a:pt x="5081" y="23171"/>
                    <a:pt x="14126" y="14126"/>
                  </a:cubicBezTo>
                  <a:cubicBezTo>
                    <a:pt x="23171" y="5081"/>
                    <a:pt x="35439" y="0"/>
                    <a:pt x="4823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2651190" cy="1403166"/>
            </a:xfrm>
            <a:prstGeom prst="rect">
              <a:avLst/>
            </a:prstGeom>
          </p:spPr>
          <p:txBody>
            <a:bodyPr anchor="ctr" rtlCol="false" tIns="38523" lIns="38523" bIns="38523" rIns="38523"/>
            <a:lstStyle/>
            <a:p>
              <a:pPr algn="l">
                <a:lnSpc>
                  <a:spcPts val="461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3900399" y="5129771"/>
            <a:ext cx="2104233" cy="3250922"/>
          </a:xfrm>
          <a:custGeom>
            <a:avLst/>
            <a:gdLst/>
            <a:ahLst/>
            <a:cxnLst/>
            <a:rect r="r" b="b" t="t" l="l"/>
            <a:pathLst>
              <a:path h="3250922" w="2104233">
                <a:moveTo>
                  <a:pt x="0" y="0"/>
                </a:moveTo>
                <a:lnTo>
                  <a:pt x="2104233" y="0"/>
                </a:lnTo>
                <a:lnTo>
                  <a:pt x="2104233" y="3250923"/>
                </a:lnTo>
                <a:lnTo>
                  <a:pt x="0" y="32509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93064" y="1142894"/>
            <a:ext cx="16701872" cy="1727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 spc="1519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ESTATISTICA APLICADA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403795" y="4675999"/>
            <a:ext cx="7430180" cy="3580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4"/>
              </a:lnSpc>
            </a:pPr>
          </a:p>
          <a:p>
            <a:pPr algn="l" marL="733174" indent="-366587" lvl="1">
              <a:lnSpc>
                <a:spcPts val="4754"/>
              </a:lnSpc>
              <a:buFont typeface="Arial"/>
              <a:buChar char="•"/>
            </a:pPr>
            <a:r>
              <a:rPr lang="en-US" sz="33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Definição e Aplicações da Estatística, e suas análises;</a:t>
            </a:r>
          </a:p>
          <a:p>
            <a:pPr algn="l" marL="733174" indent="-366587" lvl="1">
              <a:lnSpc>
                <a:spcPts val="4754"/>
              </a:lnSpc>
              <a:buFont typeface="Arial"/>
              <a:buChar char="•"/>
            </a:pPr>
            <a:r>
              <a:rPr lang="en-US" sz="33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População, Censo e Amostragem;</a:t>
            </a:r>
          </a:p>
          <a:p>
            <a:pPr algn="l" marL="733174" indent="-366587" lvl="1">
              <a:lnSpc>
                <a:spcPts val="4754"/>
              </a:lnSpc>
              <a:buFont typeface="Arial"/>
              <a:buChar char="•"/>
            </a:pPr>
            <a:r>
              <a:rPr lang="en-US" sz="33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Reforço destes conceitos através de atividades.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6CC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07331" y="1018621"/>
            <a:ext cx="20830043" cy="2185296"/>
            <a:chOff x="0" y="0"/>
            <a:chExt cx="5115576" cy="5366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15577" cy="536679"/>
            </a:xfrm>
            <a:custGeom>
              <a:avLst/>
              <a:gdLst/>
              <a:ahLst/>
              <a:cxnLst/>
              <a:rect r="r" b="b" t="t" l="l"/>
              <a:pathLst>
                <a:path h="536679" w="5115577">
                  <a:moveTo>
                    <a:pt x="18955" y="0"/>
                  </a:moveTo>
                  <a:lnTo>
                    <a:pt x="5096621" y="0"/>
                  </a:lnTo>
                  <a:cubicBezTo>
                    <a:pt x="5101649" y="0"/>
                    <a:pt x="5106470" y="1997"/>
                    <a:pt x="5110025" y="5552"/>
                  </a:cubicBezTo>
                  <a:cubicBezTo>
                    <a:pt x="5113579" y="9107"/>
                    <a:pt x="5115577" y="13928"/>
                    <a:pt x="5115577" y="18955"/>
                  </a:cubicBezTo>
                  <a:lnTo>
                    <a:pt x="5115577" y="517724"/>
                  </a:lnTo>
                  <a:cubicBezTo>
                    <a:pt x="5115577" y="522751"/>
                    <a:pt x="5113579" y="527572"/>
                    <a:pt x="5110025" y="531127"/>
                  </a:cubicBezTo>
                  <a:cubicBezTo>
                    <a:pt x="5106470" y="534682"/>
                    <a:pt x="5101649" y="536679"/>
                    <a:pt x="5096621" y="536679"/>
                  </a:cubicBezTo>
                  <a:lnTo>
                    <a:pt x="18955" y="536679"/>
                  </a:lnTo>
                  <a:cubicBezTo>
                    <a:pt x="13928" y="536679"/>
                    <a:pt x="9107" y="534682"/>
                    <a:pt x="5552" y="531127"/>
                  </a:cubicBezTo>
                  <a:cubicBezTo>
                    <a:pt x="1997" y="527572"/>
                    <a:pt x="0" y="522751"/>
                    <a:pt x="0" y="517724"/>
                  </a:cubicBezTo>
                  <a:lnTo>
                    <a:pt x="0" y="18955"/>
                  </a:lnTo>
                  <a:cubicBezTo>
                    <a:pt x="0" y="13928"/>
                    <a:pt x="1997" y="9107"/>
                    <a:pt x="5552" y="5552"/>
                  </a:cubicBezTo>
                  <a:cubicBezTo>
                    <a:pt x="9107" y="1997"/>
                    <a:pt x="13928" y="0"/>
                    <a:pt x="18955" y="0"/>
                  </a:cubicBezTo>
                  <a:close/>
                </a:path>
              </a:pathLst>
            </a:custGeom>
            <a:solidFill>
              <a:srgbClr val="1D79CD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0"/>
              <a:ext cx="5115576" cy="7271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4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113916" y="4225483"/>
            <a:ext cx="8186470" cy="4126879"/>
            <a:chOff x="0" y="0"/>
            <a:chExt cx="2651190" cy="13364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651190" cy="1336491"/>
            </a:xfrm>
            <a:custGeom>
              <a:avLst/>
              <a:gdLst/>
              <a:ahLst/>
              <a:cxnLst/>
              <a:rect r="r" b="b" t="t" l="l"/>
              <a:pathLst>
                <a:path h="1336491" w="2651190">
                  <a:moveTo>
                    <a:pt x="48231" y="0"/>
                  </a:moveTo>
                  <a:lnTo>
                    <a:pt x="2602960" y="0"/>
                  </a:lnTo>
                  <a:cubicBezTo>
                    <a:pt x="2615751" y="0"/>
                    <a:pt x="2628019" y="5081"/>
                    <a:pt x="2637064" y="14126"/>
                  </a:cubicBezTo>
                  <a:cubicBezTo>
                    <a:pt x="2646109" y="23171"/>
                    <a:pt x="2651190" y="35439"/>
                    <a:pt x="2651190" y="48231"/>
                  </a:cubicBezTo>
                  <a:lnTo>
                    <a:pt x="2651190" y="1288260"/>
                  </a:lnTo>
                  <a:cubicBezTo>
                    <a:pt x="2651190" y="1301052"/>
                    <a:pt x="2646109" y="1313319"/>
                    <a:pt x="2637064" y="1322364"/>
                  </a:cubicBezTo>
                  <a:cubicBezTo>
                    <a:pt x="2628019" y="1331409"/>
                    <a:pt x="2615751" y="1336491"/>
                    <a:pt x="2602960" y="1336491"/>
                  </a:cubicBezTo>
                  <a:lnTo>
                    <a:pt x="48231" y="1336491"/>
                  </a:lnTo>
                  <a:cubicBezTo>
                    <a:pt x="35439" y="1336491"/>
                    <a:pt x="23171" y="1331409"/>
                    <a:pt x="14126" y="1322364"/>
                  </a:cubicBezTo>
                  <a:cubicBezTo>
                    <a:pt x="5081" y="1313319"/>
                    <a:pt x="0" y="1301052"/>
                    <a:pt x="0" y="1288260"/>
                  </a:cubicBezTo>
                  <a:lnTo>
                    <a:pt x="0" y="48231"/>
                  </a:lnTo>
                  <a:cubicBezTo>
                    <a:pt x="0" y="35439"/>
                    <a:pt x="5081" y="23171"/>
                    <a:pt x="14126" y="14126"/>
                  </a:cubicBezTo>
                  <a:cubicBezTo>
                    <a:pt x="23171" y="5081"/>
                    <a:pt x="35439" y="0"/>
                    <a:pt x="4823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2651190" cy="1403166"/>
            </a:xfrm>
            <a:prstGeom prst="rect">
              <a:avLst/>
            </a:prstGeom>
          </p:spPr>
          <p:txBody>
            <a:bodyPr anchor="ctr" rtlCol="false" tIns="38523" lIns="38523" bIns="38523" rIns="38523"/>
            <a:lstStyle/>
            <a:p>
              <a:pPr algn="l">
                <a:lnSpc>
                  <a:spcPts val="461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987614" y="4225483"/>
            <a:ext cx="3753272" cy="4126879"/>
            <a:chOff x="0" y="0"/>
            <a:chExt cx="1215498" cy="13364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15498" cy="1336491"/>
            </a:xfrm>
            <a:custGeom>
              <a:avLst/>
              <a:gdLst/>
              <a:ahLst/>
              <a:cxnLst/>
              <a:rect r="r" b="b" t="t" l="l"/>
              <a:pathLst>
                <a:path h="1336491" w="1215498">
                  <a:moveTo>
                    <a:pt x="105198" y="0"/>
                  </a:moveTo>
                  <a:lnTo>
                    <a:pt x="1110300" y="0"/>
                  </a:lnTo>
                  <a:cubicBezTo>
                    <a:pt x="1168399" y="0"/>
                    <a:pt x="1215498" y="47099"/>
                    <a:pt x="1215498" y="105198"/>
                  </a:cubicBezTo>
                  <a:lnTo>
                    <a:pt x="1215498" y="1231292"/>
                  </a:lnTo>
                  <a:cubicBezTo>
                    <a:pt x="1215498" y="1259193"/>
                    <a:pt x="1204415" y="1285950"/>
                    <a:pt x="1184686" y="1305679"/>
                  </a:cubicBezTo>
                  <a:cubicBezTo>
                    <a:pt x="1164957" y="1325407"/>
                    <a:pt x="1138200" y="1336491"/>
                    <a:pt x="1110300" y="1336491"/>
                  </a:cubicBezTo>
                  <a:lnTo>
                    <a:pt x="105198" y="1336491"/>
                  </a:lnTo>
                  <a:cubicBezTo>
                    <a:pt x="77298" y="1336491"/>
                    <a:pt x="50540" y="1325407"/>
                    <a:pt x="30812" y="1305679"/>
                  </a:cubicBezTo>
                  <a:cubicBezTo>
                    <a:pt x="11083" y="1285950"/>
                    <a:pt x="0" y="1259193"/>
                    <a:pt x="0" y="1231292"/>
                  </a:cubicBezTo>
                  <a:lnTo>
                    <a:pt x="0" y="105198"/>
                  </a:lnTo>
                  <a:cubicBezTo>
                    <a:pt x="0" y="77298"/>
                    <a:pt x="11083" y="50540"/>
                    <a:pt x="30812" y="30812"/>
                  </a:cubicBezTo>
                  <a:cubicBezTo>
                    <a:pt x="50540" y="11083"/>
                    <a:pt x="77298" y="0"/>
                    <a:pt x="10519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215498" cy="1403166"/>
            </a:xfrm>
            <a:prstGeom prst="rect">
              <a:avLst/>
            </a:prstGeom>
          </p:spPr>
          <p:txBody>
            <a:bodyPr anchor="ctr" rtlCol="false" tIns="38523" lIns="38523" bIns="38523" rIns="38523"/>
            <a:lstStyle/>
            <a:p>
              <a:pPr algn="l">
                <a:lnSpc>
                  <a:spcPts val="461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3693456" y="4604327"/>
            <a:ext cx="2341588" cy="3369191"/>
          </a:xfrm>
          <a:custGeom>
            <a:avLst/>
            <a:gdLst/>
            <a:ahLst/>
            <a:cxnLst/>
            <a:rect r="r" b="b" t="t" l="l"/>
            <a:pathLst>
              <a:path h="3369191" w="2341588">
                <a:moveTo>
                  <a:pt x="0" y="0"/>
                </a:moveTo>
                <a:lnTo>
                  <a:pt x="2341588" y="0"/>
                </a:lnTo>
                <a:lnTo>
                  <a:pt x="2341588" y="3369191"/>
                </a:lnTo>
                <a:lnTo>
                  <a:pt x="0" y="33691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57203" y="1161944"/>
            <a:ext cx="15773595" cy="1562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  <a:spcBef>
                <a:spcPct val="0"/>
              </a:spcBef>
            </a:pPr>
            <a:r>
              <a:rPr lang="en-US" sz="9000" spc="1368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VISÃO GERAL E OBJETIVOS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688943" y="5076825"/>
            <a:ext cx="7036415" cy="2380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3174" indent="-366587" lvl="1">
              <a:lnSpc>
                <a:spcPts val="4754"/>
              </a:lnSpc>
              <a:buFont typeface="Arial"/>
              <a:buChar char="•"/>
            </a:pPr>
            <a:r>
              <a:rPr lang="en-US" sz="33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Entender a diferença entre entre estatística descritiva e estatística inferencial e os tipos de variáveis de uma população.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B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94802" y="4762996"/>
            <a:ext cx="6230670" cy="4126879"/>
            <a:chOff x="0" y="0"/>
            <a:chExt cx="2017804" cy="13364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7804" cy="1336491"/>
            </a:xfrm>
            <a:custGeom>
              <a:avLst/>
              <a:gdLst/>
              <a:ahLst/>
              <a:cxnLst/>
              <a:rect r="r" b="b" t="t" l="l"/>
              <a:pathLst>
                <a:path h="1336491" w="2017804">
                  <a:moveTo>
                    <a:pt x="63370" y="0"/>
                  </a:moveTo>
                  <a:lnTo>
                    <a:pt x="1954434" y="0"/>
                  </a:lnTo>
                  <a:cubicBezTo>
                    <a:pt x="1971241" y="0"/>
                    <a:pt x="1987359" y="6676"/>
                    <a:pt x="1999243" y="18561"/>
                  </a:cubicBezTo>
                  <a:cubicBezTo>
                    <a:pt x="2011127" y="30445"/>
                    <a:pt x="2017804" y="46563"/>
                    <a:pt x="2017804" y="63370"/>
                  </a:cubicBezTo>
                  <a:lnTo>
                    <a:pt x="2017804" y="1273121"/>
                  </a:lnTo>
                  <a:cubicBezTo>
                    <a:pt x="2017804" y="1308119"/>
                    <a:pt x="1989432" y="1336491"/>
                    <a:pt x="1954434" y="1336491"/>
                  </a:cubicBezTo>
                  <a:lnTo>
                    <a:pt x="63370" y="1336491"/>
                  </a:lnTo>
                  <a:cubicBezTo>
                    <a:pt x="46563" y="1336491"/>
                    <a:pt x="30445" y="1329814"/>
                    <a:pt x="18561" y="1317930"/>
                  </a:cubicBezTo>
                  <a:cubicBezTo>
                    <a:pt x="6676" y="1306046"/>
                    <a:pt x="0" y="1289927"/>
                    <a:pt x="0" y="1273121"/>
                  </a:cubicBezTo>
                  <a:lnTo>
                    <a:pt x="0" y="63370"/>
                  </a:lnTo>
                  <a:cubicBezTo>
                    <a:pt x="0" y="46563"/>
                    <a:pt x="6676" y="30445"/>
                    <a:pt x="18561" y="18561"/>
                  </a:cubicBezTo>
                  <a:cubicBezTo>
                    <a:pt x="30445" y="6676"/>
                    <a:pt x="46563" y="0"/>
                    <a:pt x="63370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017804" cy="1403166"/>
            </a:xfrm>
            <a:prstGeom prst="rect">
              <a:avLst/>
            </a:prstGeom>
          </p:spPr>
          <p:txBody>
            <a:bodyPr anchor="ctr" rtlCol="false" tIns="38523" lIns="38523" bIns="38523" rIns="38523"/>
            <a:lstStyle/>
            <a:p>
              <a:pPr algn="l">
                <a:lnSpc>
                  <a:spcPts val="46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307331" y="1018621"/>
            <a:ext cx="20830043" cy="2654900"/>
            <a:chOff x="0" y="0"/>
            <a:chExt cx="5115576" cy="6520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15577" cy="652008"/>
            </a:xfrm>
            <a:custGeom>
              <a:avLst/>
              <a:gdLst/>
              <a:ahLst/>
              <a:cxnLst/>
              <a:rect r="r" b="b" t="t" l="l"/>
              <a:pathLst>
                <a:path h="652008" w="5115577">
                  <a:moveTo>
                    <a:pt x="18955" y="0"/>
                  </a:moveTo>
                  <a:lnTo>
                    <a:pt x="5096621" y="0"/>
                  </a:lnTo>
                  <a:cubicBezTo>
                    <a:pt x="5101649" y="0"/>
                    <a:pt x="5106470" y="1997"/>
                    <a:pt x="5110025" y="5552"/>
                  </a:cubicBezTo>
                  <a:cubicBezTo>
                    <a:pt x="5113579" y="9107"/>
                    <a:pt x="5115577" y="13928"/>
                    <a:pt x="5115577" y="18955"/>
                  </a:cubicBezTo>
                  <a:lnTo>
                    <a:pt x="5115577" y="633052"/>
                  </a:lnTo>
                  <a:cubicBezTo>
                    <a:pt x="5115577" y="638080"/>
                    <a:pt x="5113579" y="642901"/>
                    <a:pt x="5110025" y="646456"/>
                  </a:cubicBezTo>
                  <a:cubicBezTo>
                    <a:pt x="5106470" y="650010"/>
                    <a:pt x="5101649" y="652008"/>
                    <a:pt x="5096621" y="652008"/>
                  </a:cubicBezTo>
                  <a:lnTo>
                    <a:pt x="18955" y="652008"/>
                  </a:lnTo>
                  <a:cubicBezTo>
                    <a:pt x="13928" y="652008"/>
                    <a:pt x="9107" y="650010"/>
                    <a:pt x="5552" y="646456"/>
                  </a:cubicBezTo>
                  <a:cubicBezTo>
                    <a:pt x="1997" y="642901"/>
                    <a:pt x="0" y="638080"/>
                    <a:pt x="0" y="633052"/>
                  </a:cubicBezTo>
                  <a:lnTo>
                    <a:pt x="0" y="18955"/>
                  </a:lnTo>
                  <a:cubicBezTo>
                    <a:pt x="0" y="13928"/>
                    <a:pt x="1997" y="9107"/>
                    <a:pt x="5552" y="5552"/>
                  </a:cubicBezTo>
                  <a:cubicBezTo>
                    <a:pt x="9107" y="1997"/>
                    <a:pt x="13928" y="0"/>
                    <a:pt x="18955" y="0"/>
                  </a:cubicBezTo>
                  <a:close/>
                </a:path>
              </a:pathLst>
            </a:custGeom>
            <a:solidFill>
              <a:srgbClr val="825FC8"/>
            </a:solidFill>
            <a:ln w="571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0"/>
              <a:ext cx="5115576" cy="842508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124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565961" y="3203917"/>
            <a:ext cx="9156078" cy="939209"/>
            <a:chOff x="0" y="0"/>
            <a:chExt cx="2248609" cy="2306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8609" cy="230657"/>
            </a:xfrm>
            <a:custGeom>
              <a:avLst/>
              <a:gdLst/>
              <a:ahLst/>
              <a:cxnLst/>
              <a:rect r="r" b="b" t="t" l="l"/>
              <a:pathLst>
                <a:path h="230657" w="2248609">
                  <a:moveTo>
                    <a:pt x="43123" y="0"/>
                  </a:moveTo>
                  <a:lnTo>
                    <a:pt x="2205486" y="0"/>
                  </a:lnTo>
                  <a:cubicBezTo>
                    <a:pt x="2229302" y="0"/>
                    <a:pt x="2248609" y="19307"/>
                    <a:pt x="2248609" y="43123"/>
                  </a:cubicBezTo>
                  <a:lnTo>
                    <a:pt x="2248609" y="187534"/>
                  </a:lnTo>
                  <a:cubicBezTo>
                    <a:pt x="2248609" y="211350"/>
                    <a:pt x="2229302" y="230657"/>
                    <a:pt x="2205486" y="230657"/>
                  </a:cubicBezTo>
                  <a:lnTo>
                    <a:pt x="43123" y="230657"/>
                  </a:lnTo>
                  <a:cubicBezTo>
                    <a:pt x="19307" y="230657"/>
                    <a:pt x="0" y="211350"/>
                    <a:pt x="0" y="187534"/>
                  </a:cubicBezTo>
                  <a:lnTo>
                    <a:pt x="0" y="43123"/>
                  </a:lnTo>
                  <a:cubicBezTo>
                    <a:pt x="0" y="19307"/>
                    <a:pt x="19307" y="0"/>
                    <a:pt x="4312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2248609" cy="3163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79"/>
                </a:lnSpc>
              </a:pPr>
              <a:r>
                <a:rPr lang="en-US" sz="4199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Descritiva e Inferencial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306727" y="4762996"/>
            <a:ext cx="8186470" cy="4126879"/>
            <a:chOff x="0" y="0"/>
            <a:chExt cx="2651190" cy="13364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651190" cy="1336491"/>
            </a:xfrm>
            <a:custGeom>
              <a:avLst/>
              <a:gdLst/>
              <a:ahLst/>
              <a:cxnLst/>
              <a:rect r="r" b="b" t="t" l="l"/>
              <a:pathLst>
                <a:path h="1336491" w="2651190">
                  <a:moveTo>
                    <a:pt x="48231" y="0"/>
                  </a:moveTo>
                  <a:lnTo>
                    <a:pt x="2602960" y="0"/>
                  </a:lnTo>
                  <a:cubicBezTo>
                    <a:pt x="2615751" y="0"/>
                    <a:pt x="2628019" y="5081"/>
                    <a:pt x="2637064" y="14126"/>
                  </a:cubicBezTo>
                  <a:cubicBezTo>
                    <a:pt x="2646109" y="23171"/>
                    <a:pt x="2651190" y="35439"/>
                    <a:pt x="2651190" y="48231"/>
                  </a:cubicBezTo>
                  <a:lnTo>
                    <a:pt x="2651190" y="1288260"/>
                  </a:lnTo>
                  <a:cubicBezTo>
                    <a:pt x="2651190" y="1301052"/>
                    <a:pt x="2646109" y="1313319"/>
                    <a:pt x="2637064" y="1322364"/>
                  </a:cubicBezTo>
                  <a:cubicBezTo>
                    <a:pt x="2628019" y="1331409"/>
                    <a:pt x="2615751" y="1336491"/>
                    <a:pt x="2602960" y="1336491"/>
                  </a:cubicBezTo>
                  <a:lnTo>
                    <a:pt x="48231" y="1336491"/>
                  </a:lnTo>
                  <a:cubicBezTo>
                    <a:pt x="35439" y="1336491"/>
                    <a:pt x="23171" y="1331409"/>
                    <a:pt x="14126" y="1322364"/>
                  </a:cubicBezTo>
                  <a:cubicBezTo>
                    <a:pt x="5081" y="1313319"/>
                    <a:pt x="0" y="1301052"/>
                    <a:pt x="0" y="1288260"/>
                  </a:cubicBezTo>
                  <a:lnTo>
                    <a:pt x="0" y="48231"/>
                  </a:lnTo>
                  <a:cubicBezTo>
                    <a:pt x="0" y="35439"/>
                    <a:pt x="5081" y="23171"/>
                    <a:pt x="14126" y="14126"/>
                  </a:cubicBezTo>
                  <a:cubicBezTo>
                    <a:pt x="23171" y="5081"/>
                    <a:pt x="35439" y="0"/>
                    <a:pt x="4823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2651190" cy="1403166"/>
            </a:xfrm>
            <a:prstGeom prst="rect">
              <a:avLst/>
            </a:prstGeom>
          </p:spPr>
          <p:txBody>
            <a:bodyPr anchor="ctr" rtlCol="false" tIns="38523" lIns="38523" bIns="38523" rIns="38523"/>
            <a:lstStyle/>
            <a:p>
              <a:pPr algn="l">
                <a:lnSpc>
                  <a:spcPts val="461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207421" y="5419082"/>
            <a:ext cx="2814706" cy="2814706"/>
          </a:xfrm>
          <a:custGeom>
            <a:avLst/>
            <a:gdLst/>
            <a:ahLst/>
            <a:cxnLst/>
            <a:rect r="r" b="b" t="t" l="l"/>
            <a:pathLst>
              <a:path h="2814706" w="2814706">
                <a:moveTo>
                  <a:pt x="0" y="0"/>
                </a:moveTo>
                <a:lnTo>
                  <a:pt x="2814706" y="0"/>
                </a:lnTo>
                <a:lnTo>
                  <a:pt x="2814706" y="2814706"/>
                </a:lnTo>
                <a:lnTo>
                  <a:pt x="0" y="28147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313696" y="6797860"/>
            <a:ext cx="2159929" cy="1947863"/>
          </a:xfrm>
          <a:custGeom>
            <a:avLst/>
            <a:gdLst/>
            <a:ahLst/>
            <a:cxnLst/>
            <a:rect r="r" b="b" t="t" l="l"/>
            <a:pathLst>
              <a:path h="1947863" w="2159929">
                <a:moveTo>
                  <a:pt x="0" y="0"/>
                </a:moveTo>
                <a:lnTo>
                  <a:pt x="2159929" y="0"/>
                </a:lnTo>
                <a:lnTo>
                  <a:pt x="2159929" y="1947864"/>
                </a:lnTo>
                <a:lnTo>
                  <a:pt x="0" y="19478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175085" y="4815735"/>
            <a:ext cx="2298540" cy="1915450"/>
          </a:xfrm>
          <a:custGeom>
            <a:avLst/>
            <a:gdLst/>
            <a:ahLst/>
            <a:cxnLst/>
            <a:rect r="r" b="b" t="t" l="l"/>
            <a:pathLst>
              <a:path h="1915450" w="2298540">
                <a:moveTo>
                  <a:pt x="0" y="0"/>
                </a:moveTo>
                <a:lnTo>
                  <a:pt x="2298540" y="0"/>
                </a:lnTo>
                <a:lnTo>
                  <a:pt x="2298540" y="1915450"/>
                </a:lnTo>
                <a:lnTo>
                  <a:pt x="0" y="19154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93064" y="1152419"/>
            <a:ext cx="16701872" cy="1677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80"/>
              </a:lnSpc>
              <a:spcBef>
                <a:spcPct val="0"/>
              </a:spcBef>
            </a:pPr>
            <a:r>
              <a:rPr lang="en-US" sz="9700" spc="1474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CATEGORIAS ESTATÍSTICAS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881755" y="5002663"/>
            <a:ext cx="7036415" cy="3580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4"/>
              </a:lnSpc>
            </a:pPr>
            <a:r>
              <a:rPr lang="en-US" sz="33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Agora que entendemos o conceito de população e que há duas maneiras de se trabalhar com ela, podemos dividir a estatísticas em DUAS categorias:</a:t>
            </a:r>
          </a:p>
          <a:p>
            <a:pPr algn="just" marL="733174" indent="-366587" lvl="1">
              <a:lnSpc>
                <a:spcPts val="4754"/>
              </a:lnSpc>
              <a:buFont typeface="Arial"/>
              <a:buChar char="•"/>
            </a:pPr>
            <a:r>
              <a:rPr lang="en-US" sz="33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Estatística Descritiva</a:t>
            </a:r>
          </a:p>
          <a:p>
            <a:pPr algn="just" marL="733174" indent="-366587" lvl="1">
              <a:lnSpc>
                <a:spcPts val="4754"/>
              </a:lnSpc>
              <a:buFont typeface="Arial"/>
              <a:buChar char="•"/>
            </a:pPr>
            <a:r>
              <a:rPr lang="en-US" sz="33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Estatística Inferencial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B4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2415" y="4753471"/>
            <a:ext cx="6230670" cy="4126879"/>
            <a:chOff x="0" y="0"/>
            <a:chExt cx="2017804" cy="13364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7804" cy="1336491"/>
            </a:xfrm>
            <a:custGeom>
              <a:avLst/>
              <a:gdLst/>
              <a:ahLst/>
              <a:cxnLst/>
              <a:rect r="r" b="b" t="t" l="l"/>
              <a:pathLst>
                <a:path h="1336491" w="2017804">
                  <a:moveTo>
                    <a:pt x="63370" y="0"/>
                  </a:moveTo>
                  <a:lnTo>
                    <a:pt x="1954434" y="0"/>
                  </a:lnTo>
                  <a:cubicBezTo>
                    <a:pt x="1971241" y="0"/>
                    <a:pt x="1987359" y="6676"/>
                    <a:pt x="1999243" y="18561"/>
                  </a:cubicBezTo>
                  <a:cubicBezTo>
                    <a:pt x="2011127" y="30445"/>
                    <a:pt x="2017804" y="46563"/>
                    <a:pt x="2017804" y="63370"/>
                  </a:cubicBezTo>
                  <a:lnTo>
                    <a:pt x="2017804" y="1273121"/>
                  </a:lnTo>
                  <a:cubicBezTo>
                    <a:pt x="2017804" y="1308119"/>
                    <a:pt x="1989432" y="1336491"/>
                    <a:pt x="1954434" y="1336491"/>
                  </a:cubicBezTo>
                  <a:lnTo>
                    <a:pt x="63370" y="1336491"/>
                  </a:lnTo>
                  <a:cubicBezTo>
                    <a:pt x="46563" y="1336491"/>
                    <a:pt x="30445" y="1329814"/>
                    <a:pt x="18561" y="1317930"/>
                  </a:cubicBezTo>
                  <a:cubicBezTo>
                    <a:pt x="6676" y="1306046"/>
                    <a:pt x="0" y="1289927"/>
                    <a:pt x="0" y="1273121"/>
                  </a:cubicBezTo>
                  <a:lnTo>
                    <a:pt x="0" y="63370"/>
                  </a:lnTo>
                  <a:cubicBezTo>
                    <a:pt x="0" y="46563"/>
                    <a:pt x="6676" y="30445"/>
                    <a:pt x="18561" y="18561"/>
                  </a:cubicBezTo>
                  <a:cubicBezTo>
                    <a:pt x="30445" y="6676"/>
                    <a:pt x="46563" y="0"/>
                    <a:pt x="63370" y="0"/>
                  </a:cubicBezTo>
                  <a:close/>
                </a:path>
              </a:pathLst>
            </a:custGeom>
            <a:solidFill>
              <a:srgbClr val="EFE7DD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017804" cy="1403166"/>
            </a:xfrm>
            <a:prstGeom prst="rect">
              <a:avLst/>
            </a:prstGeom>
          </p:spPr>
          <p:txBody>
            <a:bodyPr anchor="ctr" rtlCol="false" tIns="38523" lIns="38523" bIns="38523" rIns="38523"/>
            <a:lstStyle/>
            <a:p>
              <a:pPr algn="l">
                <a:lnSpc>
                  <a:spcPts val="46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721608" y="5184188"/>
            <a:ext cx="4272284" cy="3265445"/>
            <a:chOff x="0" y="0"/>
            <a:chExt cx="5696379" cy="4353926"/>
          </a:xfrm>
        </p:grpSpPr>
        <p:sp>
          <p:nvSpPr>
            <p:cNvPr name="AutoShape 6" id="6"/>
            <p:cNvSpPr/>
            <p:nvPr/>
          </p:nvSpPr>
          <p:spPr>
            <a:xfrm>
              <a:off x="215" y="4090085"/>
              <a:ext cx="5695948" cy="34238"/>
            </a:xfrm>
            <a:prstGeom prst="line">
              <a:avLst/>
            </a:prstGeom>
            <a:ln cap="rnd" w="71689">
              <a:solidFill>
                <a:srgbClr val="764B3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>
              <a:off x="5300886" y="3826244"/>
              <a:ext cx="0" cy="527683"/>
            </a:xfrm>
            <a:prstGeom prst="line">
              <a:avLst/>
            </a:prstGeom>
            <a:ln cap="rnd" w="71689">
              <a:solidFill>
                <a:srgbClr val="764B3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" id="8"/>
            <p:cNvSpPr/>
            <p:nvPr/>
          </p:nvSpPr>
          <p:spPr>
            <a:xfrm flipH="true">
              <a:off x="4352996" y="3826244"/>
              <a:ext cx="0" cy="527683"/>
            </a:xfrm>
            <a:prstGeom prst="line">
              <a:avLst/>
            </a:prstGeom>
            <a:ln cap="rnd" w="71689">
              <a:solidFill>
                <a:srgbClr val="764B3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" id="9"/>
            <p:cNvSpPr/>
            <p:nvPr/>
          </p:nvSpPr>
          <p:spPr>
            <a:xfrm flipH="true">
              <a:off x="3405107" y="3826244"/>
              <a:ext cx="0" cy="527683"/>
            </a:xfrm>
            <a:prstGeom prst="line">
              <a:avLst/>
            </a:prstGeom>
            <a:ln cap="rnd" w="71689">
              <a:solidFill>
                <a:srgbClr val="764B3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" id="10"/>
            <p:cNvSpPr/>
            <p:nvPr/>
          </p:nvSpPr>
          <p:spPr>
            <a:xfrm flipH="true">
              <a:off x="2457217" y="3826244"/>
              <a:ext cx="0" cy="527683"/>
            </a:xfrm>
            <a:prstGeom prst="line">
              <a:avLst/>
            </a:prstGeom>
            <a:ln cap="rnd" w="71689">
              <a:solidFill>
                <a:srgbClr val="764B3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" id="11"/>
            <p:cNvSpPr/>
            <p:nvPr/>
          </p:nvSpPr>
          <p:spPr>
            <a:xfrm flipH="true">
              <a:off x="1509328" y="3826244"/>
              <a:ext cx="0" cy="527683"/>
            </a:xfrm>
            <a:prstGeom prst="line">
              <a:avLst/>
            </a:prstGeom>
            <a:ln cap="rnd" w="71689">
              <a:solidFill>
                <a:srgbClr val="764B3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" id="12"/>
            <p:cNvSpPr/>
            <p:nvPr/>
          </p:nvSpPr>
          <p:spPr>
            <a:xfrm flipH="true">
              <a:off x="561438" y="3826244"/>
              <a:ext cx="0" cy="527683"/>
            </a:xfrm>
            <a:prstGeom prst="line">
              <a:avLst/>
            </a:prstGeom>
            <a:ln cap="rnd" w="71689">
              <a:solidFill>
                <a:srgbClr val="764B36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3" id="13"/>
            <p:cNvGrpSpPr/>
            <p:nvPr/>
          </p:nvGrpSpPr>
          <p:grpSpPr>
            <a:xfrm rot="0">
              <a:off x="341809" y="3059053"/>
              <a:ext cx="439258" cy="439258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64B36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341809" y="2289315"/>
              <a:ext cx="439258" cy="439258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64B36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289699" y="3059053"/>
              <a:ext cx="439258" cy="439258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64B36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289699" y="2288235"/>
              <a:ext cx="439258" cy="439258"/>
              <a:chOff x="0" y="0"/>
              <a:chExt cx="812800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64B36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1289699" y="1517416"/>
              <a:ext cx="439258" cy="439258"/>
              <a:chOff x="0" y="0"/>
              <a:chExt cx="812800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64B36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1289699" y="746597"/>
              <a:ext cx="439258" cy="439258"/>
              <a:chOff x="0" y="0"/>
              <a:chExt cx="812800" cy="812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64B36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2239739" y="3059053"/>
              <a:ext cx="439258" cy="439258"/>
              <a:chOff x="0" y="0"/>
              <a:chExt cx="812800" cy="8128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64B36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3185478" y="3059053"/>
              <a:ext cx="439258" cy="439258"/>
              <a:chOff x="0" y="0"/>
              <a:chExt cx="812800" cy="8128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64B36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5081257" y="3059053"/>
              <a:ext cx="439258" cy="439258"/>
              <a:chOff x="0" y="0"/>
              <a:chExt cx="812800" cy="8128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64B36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5081257" y="2289315"/>
              <a:ext cx="439258" cy="439258"/>
              <a:chOff x="0" y="0"/>
              <a:chExt cx="812800" cy="8128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64B36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5081257" y="1517416"/>
              <a:ext cx="439258" cy="439258"/>
              <a:chOff x="0" y="0"/>
              <a:chExt cx="812800" cy="81280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64B36"/>
              </a:solid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3185478" y="2289315"/>
              <a:ext cx="439258" cy="439258"/>
              <a:chOff x="0" y="0"/>
              <a:chExt cx="812800" cy="81280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64B36"/>
              </a:solidFill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49" id="49"/>
            <p:cNvGrpSpPr/>
            <p:nvPr/>
          </p:nvGrpSpPr>
          <p:grpSpPr>
            <a:xfrm rot="0">
              <a:off x="1289699" y="0"/>
              <a:ext cx="439258" cy="439258"/>
              <a:chOff x="0" y="0"/>
              <a:chExt cx="812800" cy="812800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64B36"/>
              </a:solid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name="Group 52" id="52"/>
          <p:cNvGrpSpPr/>
          <p:nvPr/>
        </p:nvGrpSpPr>
        <p:grpSpPr>
          <a:xfrm rot="0">
            <a:off x="8169584" y="4753471"/>
            <a:ext cx="8186470" cy="4126879"/>
            <a:chOff x="0" y="0"/>
            <a:chExt cx="2651190" cy="133649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651190" cy="1336491"/>
            </a:xfrm>
            <a:custGeom>
              <a:avLst/>
              <a:gdLst/>
              <a:ahLst/>
              <a:cxnLst/>
              <a:rect r="r" b="b" t="t" l="l"/>
              <a:pathLst>
                <a:path h="1336491" w="2651190">
                  <a:moveTo>
                    <a:pt x="48231" y="0"/>
                  </a:moveTo>
                  <a:lnTo>
                    <a:pt x="2602960" y="0"/>
                  </a:lnTo>
                  <a:cubicBezTo>
                    <a:pt x="2615751" y="0"/>
                    <a:pt x="2628019" y="5081"/>
                    <a:pt x="2637064" y="14126"/>
                  </a:cubicBezTo>
                  <a:cubicBezTo>
                    <a:pt x="2646109" y="23171"/>
                    <a:pt x="2651190" y="35439"/>
                    <a:pt x="2651190" y="48231"/>
                  </a:cubicBezTo>
                  <a:lnTo>
                    <a:pt x="2651190" y="1288260"/>
                  </a:lnTo>
                  <a:cubicBezTo>
                    <a:pt x="2651190" y="1301052"/>
                    <a:pt x="2646109" y="1313319"/>
                    <a:pt x="2637064" y="1322364"/>
                  </a:cubicBezTo>
                  <a:cubicBezTo>
                    <a:pt x="2628019" y="1331409"/>
                    <a:pt x="2615751" y="1336491"/>
                    <a:pt x="2602960" y="1336491"/>
                  </a:cubicBezTo>
                  <a:lnTo>
                    <a:pt x="48231" y="1336491"/>
                  </a:lnTo>
                  <a:cubicBezTo>
                    <a:pt x="35439" y="1336491"/>
                    <a:pt x="23171" y="1331409"/>
                    <a:pt x="14126" y="1322364"/>
                  </a:cubicBezTo>
                  <a:cubicBezTo>
                    <a:pt x="5081" y="1313319"/>
                    <a:pt x="0" y="1301052"/>
                    <a:pt x="0" y="1288260"/>
                  </a:cubicBezTo>
                  <a:lnTo>
                    <a:pt x="0" y="48231"/>
                  </a:lnTo>
                  <a:cubicBezTo>
                    <a:pt x="0" y="35439"/>
                    <a:pt x="5081" y="23171"/>
                    <a:pt x="14126" y="14126"/>
                  </a:cubicBezTo>
                  <a:cubicBezTo>
                    <a:pt x="23171" y="5081"/>
                    <a:pt x="35439" y="0"/>
                    <a:pt x="48231" y="0"/>
                  </a:cubicBezTo>
                  <a:close/>
                </a:path>
              </a:pathLst>
            </a:custGeom>
            <a:solidFill>
              <a:srgbClr val="EFE7DD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66675"/>
              <a:ext cx="2651190" cy="1403166"/>
            </a:xfrm>
            <a:prstGeom prst="rect">
              <a:avLst/>
            </a:prstGeom>
          </p:spPr>
          <p:txBody>
            <a:bodyPr anchor="ctr" rtlCol="false" tIns="38523" lIns="38523" bIns="38523" rIns="38523"/>
            <a:lstStyle/>
            <a:p>
              <a:pPr algn="l">
                <a:lnSpc>
                  <a:spcPts val="4619"/>
                </a:lnSpc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-1307331" y="1018621"/>
            <a:ext cx="20830043" cy="2654900"/>
            <a:chOff x="0" y="0"/>
            <a:chExt cx="5115576" cy="65200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115577" cy="652008"/>
            </a:xfrm>
            <a:custGeom>
              <a:avLst/>
              <a:gdLst/>
              <a:ahLst/>
              <a:cxnLst/>
              <a:rect r="r" b="b" t="t" l="l"/>
              <a:pathLst>
                <a:path h="652008" w="5115577">
                  <a:moveTo>
                    <a:pt x="18955" y="0"/>
                  </a:moveTo>
                  <a:lnTo>
                    <a:pt x="5096621" y="0"/>
                  </a:lnTo>
                  <a:cubicBezTo>
                    <a:pt x="5101649" y="0"/>
                    <a:pt x="5106470" y="1997"/>
                    <a:pt x="5110025" y="5552"/>
                  </a:cubicBezTo>
                  <a:cubicBezTo>
                    <a:pt x="5113579" y="9107"/>
                    <a:pt x="5115577" y="13928"/>
                    <a:pt x="5115577" y="18955"/>
                  </a:cubicBezTo>
                  <a:lnTo>
                    <a:pt x="5115577" y="633052"/>
                  </a:lnTo>
                  <a:cubicBezTo>
                    <a:pt x="5115577" y="638080"/>
                    <a:pt x="5113579" y="642901"/>
                    <a:pt x="5110025" y="646456"/>
                  </a:cubicBezTo>
                  <a:cubicBezTo>
                    <a:pt x="5106470" y="650010"/>
                    <a:pt x="5101649" y="652008"/>
                    <a:pt x="5096621" y="652008"/>
                  </a:cubicBezTo>
                  <a:lnTo>
                    <a:pt x="18955" y="652008"/>
                  </a:lnTo>
                  <a:cubicBezTo>
                    <a:pt x="13928" y="652008"/>
                    <a:pt x="9107" y="650010"/>
                    <a:pt x="5552" y="646456"/>
                  </a:cubicBezTo>
                  <a:cubicBezTo>
                    <a:pt x="1997" y="642901"/>
                    <a:pt x="0" y="638080"/>
                    <a:pt x="0" y="633052"/>
                  </a:cubicBezTo>
                  <a:lnTo>
                    <a:pt x="0" y="18955"/>
                  </a:lnTo>
                  <a:cubicBezTo>
                    <a:pt x="0" y="13928"/>
                    <a:pt x="1997" y="9107"/>
                    <a:pt x="5552" y="5552"/>
                  </a:cubicBezTo>
                  <a:cubicBezTo>
                    <a:pt x="9107" y="1997"/>
                    <a:pt x="13928" y="0"/>
                    <a:pt x="18955" y="0"/>
                  </a:cubicBezTo>
                  <a:close/>
                </a:path>
              </a:pathLst>
            </a:custGeom>
            <a:solidFill>
              <a:srgbClr val="764B36"/>
            </a:solidFill>
            <a:ln w="571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7" id="57"/>
            <p:cNvSpPr txBox="true"/>
            <p:nvPr/>
          </p:nvSpPr>
          <p:spPr>
            <a:xfrm>
              <a:off x="0" y="-190500"/>
              <a:ext cx="5115576" cy="842508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12459"/>
                </a:lnSpc>
              </a:pP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4565961" y="3203917"/>
            <a:ext cx="9156078" cy="939209"/>
            <a:chOff x="0" y="0"/>
            <a:chExt cx="2248609" cy="230657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248609" cy="230657"/>
            </a:xfrm>
            <a:custGeom>
              <a:avLst/>
              <a:gdLst/>
              <a:ahLst/>
              <a:cxnLst/>
              <a:rect r="r" b="b" t="t" l="l"/>
              <a:pathLst>
                <a:path h="230657" w="2248609">
                  <a:moveTo>
                    <a:pt x="43123" y="0"/>
                  </a:moveTo>
                  <a:lnTo>
                    <a:pt x="2205486" y="0"/>
                  </a:lnTo>
                  <a:cubicBezTo>
                    <a:pt x="2229302" y="0"/>
                    <a:pt x="2248609" y="19307"/>
                    <a:pt x="2248609" y="43123"/>
                  </a:cubicBezTo>
                  <a:lnTo>
                    <a:pt x="2248609" y="187534"/>
                  </a:lnTo>
                  <a:cubicBezTo>
                    <a:pt x="2248609" y="211350"/>
                    <a:pt x="2229302" y="230657"/>
                    <a:pt x="2205486" y="230657"/>
                  </a:cubicBezTo>
                  <a:lnTo>
                    <a:pt x="43123" y="230657"/>
                  </a:lnTo>
                  <a:cubicBezTo>
                    <a:pt x="19307" y="230657"/>
                    <a:pt x="0" y="211350"/>
                    <a:pt x="0" y="187534"/>
                  </a:cubicBezTo>
                  <a:lnTo>
                    <a:pt x="0" y="43123"/>
                  </a:lnTo>
                  <a:cubicBezTo>
                    <a:pt x="0" y="19307"/>
                    <a:pt x="19307" y="0"/>
                    <a:pt x="43123" y="0"/>
                  </a:cubicBezTo>
                  <a:close/>
                </a:path>
              </a:pathLst>
            </a:custGeom>
            <a:solidFill>
              <a:srgbClr val="EFE7DD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0" id="60"/>
            <p:cNvSpPr txBox="true"/>
            <p:nvPr/>
          </p:nvSpPr>
          <p:spPr>
            <a:xfrm>
              <a:off x="0" y="-85725"/>
              <a:ext cx="2248609" cy="3163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79"/>
                </a:lnSpc>
              </a:pPr>
              <a:r>
                <a:rPr lang="en-US" sz="4199">
                  <a:solidFill>
                    <a:srgbClr val="764B36"/>
                  </a:solidFill>
                  <a:latin typeface="Chewy"/>
                  <a:ea typeface="Chewy"/>
                  <a:cs typeface="Chewy"/>
                  <a:sym typeface="Chewy"/>
                </a:rPr>
                <a:t>AQUELA QUE TRABALHARÁ COM FATOS!</a:t>
              </a:r>
            </a:p>
          </p:txBody>
        </p:sp>
      </p:grpSp>
      <p:sp>
        <p:nvSpPr>
          <p:cNvPr name="Freeform 61" id="61"/>
          <p:cNvSpPr/>
          <p:nvPr/>
        </p:nvSpPr>
        <p:spPr>
          <a:xfrm flipH="false" flipV="false" rot="0">
            <a:off x="16794715" y="9381366"/>
            <a:ext cx="1286142" cy="681655"/>
          </a:xfrm>
          <a:custGeom>
            <a:avLst/>
            <a:gdLst/>
            <a:ahLst/>
            <a:cxnLst/>
            <a:rect r="r" b="b" t="t" l="l"/>
            <a:pathLst>
              <a:path h="681655" w="1286142">
                <a:moveTo>
                  <a:pt x="0" y="0"/>
                </a:moveTo>
                <a:lnTo>
                  <a:pt x="1286142" y="0"/>
                </a:lnTo>
                <a:lnTo>
                  <a:pt x="1286142" y="681655"/>
                </a:lnTo>
                <a:lnTo>
                  <a:pt x="0" y="6816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2" id="62"/>
          <p:cNvSpPr txBox="true"/>
          <p:nvPr/>
        </p:nvSpPr>
        <p:spPr>
          <a:xfrm rot="0">
            <a:off x="8696986" y="4981575"/>
            <a:ext cx="7036415" cy="4098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5226" indent="-312613" lvl="1">
              <a:lnSpc>
                <a:spcPts val="4054"/>
              </a:lnSpc>
              <a:buFont typeface="Arial"/>
              <a:buChar char="•"/>
            </a:pPr>
            <a:r>
              <a:rPr lang="en-US" sz="2895">
                <a:solidFill>
                  <a:srgbClr val="764B36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Transforma conjuntos de dados brutos em informações claras usando gráficos, tabelas e medidas como média e mediana.</a:t>
            </a:r>
          </a:p>
          <a:p>
            <a:pPr algn="l">
              <a:lnSpc>
                <a:spcPts val="4054"/>
              </a:lnSpc>
            </a:pPr>
          </a:p>
          <a:p>
            <a:pPr algn="l" marL="625226" indent="-312613" lvl="1">
              <a:lnSpc>
                <a:spcPts val="4054"/>
              </a:lnSpc>
              <a:buFont typeface="Arial"/>
              <a:buChar char="•"/>
            </a:pPr>
            <a:r>
              <a:rPr lang="en-US" sz="2895">
                <a:solidFill>
                  <a:srgbClr val="764B36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Destaca as principais características dos dados, tornando-os mais acessíveis para análise e tomada de decisões.</a:t>
            </a:r>
          </a:p>
          <a:p>
            <a:pPr algn="l">
              <a:lnSpc>
                <a:spcPts val="4054"/>
              </a:lnSpc>
            </a:pPr>
          </a:p>
        </p:txBody>
      </p:sp>
      <p:sp>
        <p:nvSpPr>
          <p:cNvPr name="TextBox 63" id="63"/>
          <p:cNvSpPr txBox="true"/>
          <p:nvPr/>
        </p:nvSpPr>
        <p:spPr>
          <a:xfrm rot="0">
            <a:off x="793064" y="1142894"/>
            <a:ext cx="16701872" cy="1727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 spc="1519">
                <a:solidFill>
                  <a:srgbClr val="EFE7DD"/>
                </a:solidFill>
                <a:latin typeface="Chewy"/>
                <a:ea typeface="Chewy"/>
                <a:cs typeface="Chewy"/>
                <a:sym typeface="Chewy"/>
              </a:rPr>
              <a:t>ESTATÍSTICA DESCRITIVA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0033711" y="9350736"/>
            <a:ext cx="6589554" cy="647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53"/>
              </a:lnSpc>
            </a:pPr>
            <a:r>
              <a:rPr lang="en-US" sz="3752" b="true">
                <a:solidFill>
                  <a:srgbClr val="EFE7D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Vamos ver alguns exemplos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EFAA9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753471"/>
            <a:ext cx="16230600" cy="4126879"/>
            <a:chOff x="0" y="0"/>
            <a:chExt cx="5256283" cy="13364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56283" cy="1336491"/>
            </a:xfrm>
            <a:custGeom>
              <a:avLst/>
              <a:gdLst/>
              <a:ahLst/>
              <a:cxnLst/>
              <a:rect r="r" b="b" t="t" l="l"/>
              <a:pathLst>
                <a:path h="1336491" w="5256283">
                  <a:moveTo>
                    <a:pt x="24327" y="0"/>
                  </a:moveTo>
                  <a:lnTo>
                    <a:pt x="5231957" y="0"/>
                  </a:lnTo>
                  <a:cubicBezTo>
                    <a:pt x="5238409" y="0"/>
                    <a:pt x="5244596" y="2563"/>
                    <a:pt x="5249158" y="7125"/>
                  </a:cubicBezTo>
                  <a:cubicBezTo>
                    <a:pt x="5253720" y="11687"/>
                    <a:pt x="5256283" y="17875"/>
                    <a:pt x="5256283" y="24327"/>
                  </a:cubicBezTo>
                  <a:lnTo>
                    <a:pt x="5256283" y="1312164"/>
                  </a:lnTo>
                  <a:cubicBezTo>
                    <a:pt x="5256283" y="1325599"/>
                    <a:pt x="5245392" y="1336491"/>
                    <a:pt x="5231957" y="1336491"/>
                  </a:cubicBezTo>
                  <a:lnTo>
                    <a:pt x="24327" y="1336491"/>
                  </a:lnTo>
                  <a:cubicBezTo>
                    <a:pt x="10891" y="1336491"/>
                    <a:pt x="0" y="1325599"/>
                    <a:pt x="0" y="1312164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EDE8EA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5256283" cy="1403166"/>
            </a:xfrm>
            <a:prstGeom prst="rect">
              <a:avLst/>
            </a:prstGeom>
          </p:spPr>
          <p:txBody>
            <a:bodyPr anchor="ctr" rtlCol="false" tIns="38523" lIns="38523" bIns="38523" rIns="38523"/>
            <a:lstStyle/>
            <a:p>
              <a:pPr algn="l">
                <a:lnSpc>
                  <a:spcPts val="46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307331" y="1018621"/>
            <a:ext cx="20830043" cy="2654900"/>
            <a:chOff x="0" y="0"/>
            <a:chExt cx="5115576" cy="6520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15577" cy="652008"/>
            </a:xfrm>
            <a:custGeom>
              <a:avLst/>
              <a:gdLst/>
              <a:ahLst/>
              <a:cxnLst/>
              <a:rect r="r" b="b" t="t" l="l"/>
              <a:pathLst>
                <a:path h="652008" w="5115577">
                  <a:moveTo>
                    <a:pt x="18955" y="0"/>
                  </a:moveTo>
                  <a:lnTo>
                    <a:pt x="5096621" y="0"/>
                  </a:lnTo>
                  <a:cubicBezTo>
                    <a:pt x="5101649" y="0"/>
                    <a:pt x="5106470" y="1997"/>
                    <a:pt x="5110025" y="5552"/>
                  </a:cubicBezTo>
                  <a:cubicBezTo>
                    <a:pt x="5113579" y="9107"/>
                    <a:pt x="5115577" y="13928"/>
                    <a:pt x="5115577" y="18955"/>
                  </a:cubicBezTo>
                  <a:lnTo>
                    <a:pt x="5115577" y="633052"/>
                  </a:lnTo>
                  <a:cubicBezTo>
                    <a:pt x="5115577" y="638080"/>
                    <a:pt x="5113579" y="642901"/>
                    <a:pt x="5110025" y="646456"/>
                  </a:cubicBezTo>
                  <a:cubicBezTo>
                    <a:pt x="5106470" y="650010"/>
                    <a:pt x="5101649" y="652008"/>
                    <a:pt x="5096621" y="652008"/>
                  </a:cubicBezTo>
                  <a:lnTo>
                    <a:pt x="18955" y="652008"/>
                  </a:lnTo>
                  <a:cubicBezTo>
                    <a:pt x="13928" y="652008"/>
                    <a:pt x="9107" y="650010"/>
                    <a:pt x="5552" y="646456"/>
                  </a:cubicBezTo>
                  <a:cubicBezTo>
                    <a:pt x="1997" y="642901"/>
                    <a:pt x="0" y="638080"/>
                    <a:pt x="0" y="633052"/>
                  </a:cubicBezTo>
                  <a:lnTo>
                    <a:pt x="0" y="18955"/>
                  </a:lnTo>
                  <a:cubicBezTo>
                    <a:pt x="0" y="13928"/>
                    <a:pt x="1997" y="9107"/>
                    <a:pt x="5552" y="5552"/>
                  </a:cubicBezTo>
                  <a:cubicBezTo>
                    <a:pt x="9107" y="1997"/>
                    <a:pt x="13928" y="0"/>
                    <a:pt x="18955" y="0"/>
                  </a:cubicBezTo>
                  <a:close/>
                </a:path>
              </a:pathLst>
            </a:custGeom>
            <a:solidFill>
              <a:srgbClr val="503530"/>
            </a:solidFill>
            <a:ln w="571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0"/>
              <a:ext cx="5115576" cy="842508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124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565961" y="3203917"/>
            <a:ext cx="9156078" cy="939209"/>
            <a:chOff x="0" y="0"/>
            <a:chExt cx="2248609" cy="2306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8609" cy="230657"/>
            </a:xfrm>
            <a:custGeom>
              <a:avLst/>
              <a:gdLst/>
              <a:ahLst/>
              <a:cxnLst/>
              <a:rect r="r" b="b" t="t" l="l"/>
              <a:pathLst>
                <a:path h="230657" w="2248609">
                  <a:moveTo>
                    <a:pt x="43123" y="0"/>
                  </a:moveTo>
                  <a:lnTo>
                    <a:pt x="2205486" y="0"/>
                  </a:lnTo>
                  <a:cubicBezTo>
                    <a:pt x="2229302" y="0"/>
                    <a:pt x="2248609" y="19307"/>
                    <a:pt x="2248609" y="43123"/>
                  </a:cubicBezTo>
                  <a:lnTo>
                    <a:pt x="2248609" y="187534"/>
                  </a:lnTo>
                  <a:cubicBezTo>
                    <a:pt x="2248609" y="211350"/>
                    <a:pt x="2229302" y="230657"/>
                    <a:pt x="2205486" y="230657"/>
                  </a:cubicBezTo>
                  <a:lnTo>
                    <a:pt x="43123" y="230657"/>
                  </a:lnTo>
                  <a:cubicBezTo>
                    <a:pt x="19307" y="230657"/>
                    <a:pt x="0" y="211350"/>
                    <a:pt x="0" y="187534"/>
                  </a:cubicBezTo>
                  <a:lnTo>
                    <a:pt x="0" y="43123"/>
                  </a:lnTo>
                  <a:cubicBezTo>
                    <a:pt x="0" y="19307"/>
                    <a:pt x="19307" y="0"/>
                    <a:pt x="43123" y="0"/>
                  </a:cubicBezTo>
                  <a:close/>
                </a:path>
              </a:pathLst>
            </a:custGeom>
            <a:solidFill>
              <a:srgbClr val="EDE8EA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2248609" cy="3163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79"/>
                </a:lnSpc>
              </a:pPr>
              <a:r>
                <a:rPr lang="en-US" sz="4199">
                  <a:solidFill>
                    <a:srgbClr val="503530"/>
                  </a:solidFill>
                  <a:latin typeface="Chewy"/>
                  <a:ea typeface="Chewy"/>
                  <a:cs typeface="Chewy"/>
                  <a:sym typeface="Chewy"/>
                </a:rPr>
                <a:t>Média de Idade da Turma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893837" y="5379155"/>
            <a:ext cx="14427708" cy="2040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4"/>
              </a:lnSpc>
            </a:pPr>
            <a:r>
              <a:rPr lang="en-US" sz="2895">
                <a:solidFill>
                  <a:srgbClr val="50353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Analisando a nossa sala de aula, podemos DESCREVER estatisticamente algumas informações.</a:t>
            </a:r>
          </a:p>
          <a:p>
            <a:pPr algn="l">
              <a:lnSpc>
                <a:spcPts val="4054"/>
              </a:lnSpc>
            </a:pPr>
            <a:r>
              <a:rPr lang="en-US" sz="2895">
                <a:solidFill>
                  <a:srgbClr val="50353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Um destes dados é a MÉDIA DE IDADE DA TURMA.</a:t>
            </a:r>
          </a:p>
          <a:p>
            <a:pPr algn="l">
              <a:lnSpc>
                <a:spcPts val="4054"/>
              </a:lnSpc>
            </a:pPr>
          </a:p>
          <a:p>
            <a:pPr algn="l">
              <a:lnSpc>
                <a:spcPts val="4054"/>
              </a:lnSpc>
            </a:pPr>
            <a:r>
              <a:rPr lang="en-US" sz="2895">
                <a:solidFill>
                  <a:srgbClr val="50353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Vamos fazer juntos no caderno!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93064" y="1142894"/>
            <a:ext cx="16701872" cy="1727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 spc="1519">
                <a:solidFill>
                  <a:srgbClr val="EDE8EA"/>
                </a:solidFill>
                <a:latin typeface="Chewy"/>
                <a:ea typeface="Chewy"/>
                <a:cs typeface="Chewy"/>
                <a:sym typeface="Chewy"/>
              </a:rPr>
              <a:t>ESTATÍSTICA DESCRITIVA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175280" y="6885427"/>
            <a:ext cx="5864126" cy="101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54"/>
              </a:lnSpc>
              <a:spcBef>
                <a:spcPct val="0"/>
              </a:spcBef>
            </a:pPr>
            <a:r>
              <a:rPr lang="en-US" sz="2895" strike="noStrike" u="none">
                <a:solidFill>
                  <a:srgbClr val="50353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MÉDIA = </a:t>
            </a:r>
            <a:r>
              <a:rPr lang="en-US" sz="2895" strike="noStrike" u="sng">
                <a:solidFill>
                  <a:srgbClr val="50353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SOMA DE TODOS OS VALORES</a:t>
            </a:r>
          </a:p>
          <a:p>
            <a:pPr algn="l" marL="0" indent="0" lvl="0">
              <a:lnSpc>
                <a:spcPts val="4054"/>
              </a:lnSpc>
              <a:spcBef>
                <a:spcPct val="0"/>
              </a:spcBef>
            </a:pPr>
            <a:r>
              <a:rPr lang="en-US" sz="2895" strike="noStrike" u="none">
                <a:solidFill>
                  <a:srgbClr val="50353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                     NÚMERO TOTAL DE VALORES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EFAA9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753471"/>
            <a:ext cx="16230600" cy="4126879"/>
            <a:chOff x="0" y="0"/>
            <a:chExt cx="5256283" cy="13364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56283" cy="1336491"/>
            </a:xfrm>
            <a:custGeom>
              <a:avLst/>
              <a:gdLst/>
              <a:ahLst/>
              <a:cxnLst/>
              <a:rect r="r" b="b" t="t" l="l"/>
              <a:pathLst>
                <a:path h="1336491" w="5256283">
                  <a:moveTo>
                    <a:pt x="24327" y="0"/>
                  </a:moveTo>
                  <a:lnTo>
                    <a:pt x="5231957" y="0"/>
                  </a:lnTo>
                  <a:cubicBezTo>
                    <a:pt x="5238409" y="0"/>
                    <a:pt x="5244596" y="2563"/>
                    <a:pt x="5249158" y="7125"/>
                  </a:cubicBezTo>
                  <a:cubicBezTo>
                    <a:pt x="5253720" y="11687"/>
                    <a:pt x="5256283" y="17875"/>
                    <a:pt x="5256283" y="24327"/>
                  </a:cubicBezTo>
                  <a:lnTo>
                    <a:pt x="5256283" y="1312164"/>
                  </a:lnTo>
                  <a:cubicBezTo>
                    <a:pt x="5256283" y="1325599"/>
                    <a:pt x="5245392" y="1336491"/>
                    <a:pt x="5231957" y="1336491"/>
                  </a:cubicBezTo>
                  <a:lnTo>
                    <a:pt x="24327" y="1336491"/>
                  </a:lnTo>
                  <a:cubicBezTo>
                    <a:pt x="10891" y="1336491"/>
                    <a:pt x="0" y="1325599"/>
                    <a:pt x="0" y="1312164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EDE8EA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5256283" cy="1403166"/>
            </a:xfrm>
            <a:prstGeom prst="rect">
              <a:avLst/>
            </a:prstGeom>
          </p:spPr>
          <p:txBody>
            <a:bodyPr anchor="ctr" rtlCol="false" tIns="38523" lIns="38523" bIns="38523" rIns="38523"/>
            <a:lstStyle/>
            <a:p>
              <a:pPr algn="l">
                <a:lnSpc>
                  <a:spcPts val="46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307331" y="1018621"/>
            <a:ext cx="20830043" cy="2654900"/>
            <a:chOff x="0" y="0"/>
            <a:chExt cx="5115576" cy="6520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15577" cy="652008"/>
            </a:xfrm>
            <a:custGeom>
              <a:avLst/>
              <a:gdLst/>
              <a:ahLst/>
              <a:cxnLst/>
              <a:rect r="r" b="b" t="t" l="l"/>
              <a:pathLst>
                <a:path h="652008" w="5115577">
                  <a:moveTo>
                    <a:pt x="18955" y="0"/>
                  </a:moveTo>
                  <a:lnTo>
                    <a:pt x="5096621" y="0"/>
                  </a:lnTo>
                  <a:cubicBezTo>
                    <a:pt x="5101649" y="0"/>
                    <a:pt x="5106470" y="1997"/>
                    <a:pt x="5110025" y="5552"/>
                  </a:cubicBezTo>
                  <a:cubicBezTo>
                    <a:pt x="5113579" y="9107"/>
                    <a:pt x="5115577" y="13928"/>
                    <a:pt x="5115577" y="18955"/>
                  </a:cubicBezTo>
                  <a:lnTo>
                    <a:pt x="5115577" y="633052"/>
                  </a:lnTo>
                  <a:cubicBezTo>
                    <a:pt x="5115577" y="638080"/>
                    <a:pt x="5113579" y="642901"/>
                    <a:pt x="5110025" y="646456"/>
                  </a:cubicBezTo>
                  <a:cubicBezTo>
                    <a:pt x="5106470" y="650010"/>
                    <a:pt x="5101649" y="652008"/>
                    <a:pt x="5096621" y="652008"/>
                  </a:cubicBezTo>
                  <a:lnTo>
                    <a:pt x="18955" y="652008"/>
                  </a:lnTo>
                  <a:cubicBezTo>
                    <a:pt x="13928" y="652008"/>
                    <a:pt x="9107" y="650010"/>
                    <a:pt x="5552" y="646456"/>
                  </a:cubicBezTo>
                  <a:cubicBezTo>
                    <a:pt x="1997" y="642901"/>
                    <a:pt x="0" y="638080"/>
                    <a:pt x="0" y="633052"/>
                  </a:cubicBezTo>
                  <a:lnTo>
                    <a:pt x="0" y="18955"/>
                  </a:lnTo>
                  <a:cubicBezTo>
                    <a:pt x="0" y="13928"/>
                    <a:pt x="1997" y="9107"/>
                    <a:pt x="5552" y="5552"/>
                  </a:cubicBezTo>
                  <a:cubicBezTo>
                    <a:pt x="9107" y="1997"/>
                    <a:pt x="13928" y="0"/>
                    <a:pt x="18955" y="0"/>
                  </a:cubicBezTo>
                  <a:close/>
                </a:path>
              </a:pathLst>
            </a:custGeom>
            <a:solidFill>
              <a:srgbClr val="503530"/>
            </a:solidFill>
            <a:ln w="571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0"/>
              <a:ext cx="5115576" cy="842508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124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565961" y="3203917"/>
            <a:ext cx="9156078" cy="939209"/>
            <a:chOff x="0" y="0"/>
            <a:chExt cx="2248609" cy="2306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8609" cy="230657"/>
            </a:xfrm>
            <a:custGeom>
              <a:avLst/>
              <a:gdLst/>
              <a:ahLst/>
              <a:cxnLst/>
              <a:rect r="r" b="b" t="t" l="l"/>
              <a:pathLst>
                <a:path h="230657" w="2248609">
                  <a:moveTo>
                    <a:pt x="43123" y="0"/>
                  </a:moveTo>
                  <a:lnTo>
                    <a:pt x="2205486" y="0"/>
                  </a:lnTo>
                  <a:cubicBezTo>
                    <a:pt x="2229302" y="0"/>
                    <a:pt x="2248609" y="19307"/>
                    <a:pt x="2248609" y="43123"/>
                  </a:cubicBezTo>
                  <a:lnTo>
                    <a:pt x="2248609" y="187534"/>
                  </a:lnTo>
                  <a:cubicBezTo>
                    <a:pt x="2248609" y="211350"/>
                    <a:pt x="2229302" y="230657"/>
                    <a:pt x="2205486" y="230657"/>
                  </a:cubicBezTo>
                  <a:lnTo>
                    <a:pt x="43123" y="230657"/>
                  </a:lnTo>
                  <a:cubicBezTo>
                    <a:pt x="19307" y="230657"/>
                    <a:pt x="0" y="211350"/>
                    <a:pt x="0" y="187534"/>
                  </a:cubicBezTo>
                  <a:lnTo>
                    <a:pt x="0" y="43123"/>
                  </a:lnTo>
                  <a:cubicBezTo>
                    <a:pt x="0" y="19307"/>
                    <a:pt x="19307" y="0"/>
                    <a:pt x="43123" y="0"/>
                  </a:cubicBezTo>
                  <a:close/>
                </a:path>
              </a:pathLst>
            </a:custGeom>
            <a:solidFill>
              <a:srgbClr val="EDE8EA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2248609" cy="3163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79"/>
                </a:lnSpc>
              </a:pPr>
              <a:r>
                <a:rPr lang="en-US" sz="4199">
                  <a:solidFill>
                    <a:srgbClr val="503530"/>
                  </a:solidFill>
                  <a:latin typeface="Chewy"/>
                  <a:ea typeface="Chewy"/>
                  <a:cs typeface="Chewy"/>
                  <a:sym typeface="Chewy"/>
                </a:rPr>
                <a:t>Desvio Padrão da Altura da Turma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893837" y="5257800"/>
            <a:ext cx="14427708" cy="2159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34"/>
              </a:lnSpc>
            </a:pPr>
            <a:r>
              <a:rPr lang="en-US" sz="3095">
                <a:solidFill>
                  <a:srgbClr val="50353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Vamos medir as  alturas para entender quão diversificada é a estatura na turma. Vamos encontrar o desvio MÁXIMO e o desvio MÍNIMO.</a:t>
            </a:r>
          </a:p>
          <a:p>
            <a:pPr algn="l">
              <a:lnSpc>
                <a:spcPts val="4334"/>
              </a:lnSpc>
            </a:pPr>
          </a:p>
          <a:p>
            <a:pPr algn="l">
              <a:lnSpc>
                <a:spcPts val="4334"/>
              </a:lnSpc>
            </a:pPr>
            <a:r>
              <a:rPr lang="en-US" sz="3095">
                <a:solidFill>
                  <a:srgbClr val="50353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Mais uma vez, faremos juntos: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93064" y="1142894"/>
            <a:ext cx="16701872" cy="1727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 spc="1519">
                <a:solidFill>
                  <a:srgbClr val="EDE8EA"/>
                </a:solidFill>
                <a:latin typeface="Chewy"/>
                <a:ea typeface="Chewy"/>
                <a:cs typeface="Chewy"/>
                <a:sym typeface="Chewy"/>
              </a:rPr>
              <a:t>ESTATÍSTICA DESCRITIVA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527438" y="7205396"/>
            <a:ext cx="9295091" cy="1526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4"/>
              </a:lnSpc>
            </a:pPr>
            <a:r>
              <a:rPr lang="en-US" sz="2895">
                <a:solidFill>
                  <a:srgbClr val="50353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DESVIO MÁXIMO =  MAIS ALTO - MÉDIA DAS ALTURAS</a:t>
            </a:r>
          </a:p>
          <a:p>
            <a:pPr algn="l">
              <a:lnSpc>
                <a:spcPts val="4054"/>
              </a:lnSpc>
            </a:pPr>
            <a:r>
              <a:rPr lang="en-US" sz="2895">
                <a:solidFill>
                  <a:srgbClr val="50353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DESVIO MÍNIMO = MÉDIA DAS ALTURAS - MAIS BAIXO</a:t>
            </a:r>
          </a:p>
          <a:p>
            <a:pPr algn="l" marL="0" indent="0" lvl="0">
              <a:lnSpc>
                <a:spcPts val="405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07331" y="1018621"/>
            <a:ext cx="20830043" cy="2654900"/>
            <a:chOff x="0" y="0"/>
            <a:chExt cx="5115576" cy="6520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15577" cy="652008"/>
            </a:xfrm>
            <a:custGeom>
              <a:avLst/>
              <a:gdLst/>
              <a:ahLst/>
              <a:cxnLst/>
              <a:rect r="r" b="b" t="t" l="l"/>
              <a:pathLst>
                <a:path h="652008" w="5115577">
                  <a:moveTo>
                    <a:pt x="18955" y="0"/>
                  </a:moveTo>
                  <a:lnTo>
                    <a:pt x="5096621" y="0"/>
                  </a:lnTo>
                  <a:cubicBezTo>
                    <a:pt x="5101649" y="0"/>
                    <a:pt x="5106470" y="1997"/>
                    <a:pt x="5110025" y="5552"/>
                  </a:cubicBezTo>
                  <a:cubicBezTo>
                    <a:pt x="5113579" y="9107"/>
                    <a:pt x="5115577" y="13928"/>
                    <a:pt x="5115577" y="18955"/>
                  </a:cubicBezTo>
                  <a:lnTo>
                    <a:pt x="5115577" y="633052"/>
                  </a:lnTo>
                  <a:cubicBezTo>
                    <a:pt x="5115577" y="638080"/>
                    <a:pt x="5113579" y="642901"/>
                    <a:pt x="5110025" y="646456"/>
                  </a:cubicBezTo>
                  <a:cubicBezTo>
                    <a:pt x="5106470" y="650010"/>
                    <a:pt x="5101649" y="652008"/>
                    <a:pt x="5096621" y="652008"/>
                  </a:cubicBezTo>
                  <a:lnTo>
                    <a:pt x="18955" y="652008"/>
                  </a:lnTo>
                  <a:cubicBezTo>
                    <a:pt x="13928" y="652008"/>
                    <a:pt x="9107" y="650010"/>
                    <a:pt x="5552" y="646456"/>
                  </a:cubicBezTo>
                  <a:cubicBezTo>
                    <a:pt x="1997" y="642901"/>
                    <a:pt x="0" y="638080"/>
                    <a:pt x="0" y="633052"/>
                  </a:cubicBezTo>
                  <a:lnTo>
                    <a:pt x="0" y="18955"/>
                  </a:lnTo>
                  <a:cubicBezTo>
                    <a:pt x="0" y="13928"/>
                    <a:pt x="1997" y="9107"/>
                    <a:pt x="5552" y="5552"/>
                  </a:cubicBezTo>
                  <a:cubicBezTo>
                    <a:pt x="9107" y="1997"/>
                    <a:pt x="13928" y="0"/>
                    <a:pt x="18955" y="0"/>
                  </a:cubicBezTo>
                  <a:close/>
                </a:path>
              </a:pathLst>
            </a:custGeom>
            <a:solidFill>
              <a:srgbClr val="6C9286"/>
            </a:solidFill>
            <a:ln w="571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0"/>
              <a:ext cx="5115576" cy="842508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124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565961" y="3203917"/>
            <a:ext cx="9156078" cy="939209"/>
            <a:chOff x="0" y="0"/>
            <a:chExt cx="2248609" cy="23065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8609" cy="230657"/>
            </a:xfrm>
            <a:custGeom>
              <a:avLst/>
              <a:gdLst/>
              <a:ahLst/>
              <a:cxnLst/>
              <a:rect r="r" b="b" t="t" l="l"/>
              <a:pathLst>
                <a:path h="230657" w="2248609">
                  <a:moveTo>
                    <a:pt x="43123" y="0"/>
                  </a:moveTo>
                  <a:lnTo>
                    <a:pt x="2205486" y="0"/>
                  </a:lnTo>
                  <a:cubicBezTo>
                    <a:pt x="2229302" y="0"/>
                    <a:pt x="2248609" y="19307"/>
                    <a:pt x="2248609" y="43123"/>
                  </a:cubicBezTo>
                  <a:lnTo>
                    <a:pt x="2248609" y="187534"/>
                  </a:lnTo>
                  <a:cubicBezTo>
                    <a:pt x="2248609" y="211350"/>
                    <a:pt x="2229302" y="230657"/>
                    <a:pt x="2205486" y="230657"/>
                  </a:cubicBezTo>
                  <a:lnTo>
                    <a:pt x="43123" y="230657"/>
                  </a:lnTo>
                  <a:cubicBezTo>
                    <a:pt x="19307" y="230657"/>
                    <a:pt x="0" y="211350"/>
                    <a:pt x="0" y="187534"/>
                  </a:cubicBezTo>
                  <a:lnTo>
                    <a:pt x="0" y="43123"/>
                  </a:lnTo>
                  <a:cubicBezTo>
                    <a:pt x="0" y="19307"/>
                    <a:pt x="19307" y="0"/>
                    <a:pt x="43123" y="0"/>
                  </a:cubicBezTo>
                  <a:close/>
                </a:path>
              </a:pathLst>
            </a:custGeom>
            <a:solidFill>
              <a:srgbClr val="365B6D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248609" cy="3163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79"/>
                </a:lnSpc>
              </a:pPr>
              <a:r>
                <a:rPr lang="en-US" sz="4199">
                  <a:solidFill>
                    <a:srgbClr val="F7F7F7"/>
                  </a:solidFill>
                  <a:latin typeface="Chewy"/>
                  <a:ea typeface="Chewy"/>
                  <a:cs typeface="Chewy"/>
                  <a:sym typeface="Chewy"/>
                </a:rPr>
                <a:t>ANOTEM NO CADERNO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4769469"/>
            <a:ext cx="16230600" cy="4554536"/>
            <a:chOff x="0" y="0"/>
            <a:chExt cx="5256283" cy="14749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56283" cy="1474987"/>
            </a:xfrm>
            <a:custGeom>
              <a:avLst/>
              <a:gdLst/>
              <a:ahLst/>
              <a:cxnLst/>
              <a:rect r="r" b="b" t="t" l="l"/>
              <a:pathLst>
                <a:path h="1474987" w="5256283">
                  <a:moveTo>
                    <a:pt x="24327" y="0"/>
                  </a:moveTo>
                  <a:lnTo>
                    <a:pt x="5231957" y="0"/>
                  </a:lnTo>
                  <a:cubicBezTo>
                    <a:pt x="5238409" y="0"/>
                    <a:pt x="5244596" y="2563"/>
                    <a:pt x="5249158" y="7125"/>
                  </a:cubicBezTo>
                  <a:cubicBezTo>
                    <a:pt x="5253720" y="11687"/>
                    <a:pt x="5256283" y="17875"/>
                    <a:pt x="5256283" y="24327"/>
                  </a:cubicBezTo>
                  <a:lnTo>
                    <a:pt x="5256283" y="1450661"/>
                  </a:lnTo>
                  <a:cubicBezTo>
                    <a:pt x="5256283" y="1464096"/>
                    <a:pt x="5245392" y="1474987"/>
                    <a:pt x="5231957" y="1474987"/>
                  </a:cubicBezTo>
                  <a:lnTo>
                    <a:pt x="24327" y="1474987"/>
                  </a:lnTo>
                  <a:cubicBezTo>
                    <a:pt x="10891" y="1474987"/>
                    <a:pt x="0" y="1464096"/>
                    <a:pt x="0" y="1450661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365B6D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5256283" cy="1541662"/>
            </a:xfrm>
            <a:prstGeom prst="rect">
              <a:avLst/>
            </a:prstGeom>
          </p:spPr>
          <p:txBody>
            <a:bodyPr anchor="ctr" rtlCol="false" tIns="38523" lIns="38523" bIns="38523" rIns="38523"/>
            <a:lstStyle/>
            <a:p>
              <a:pPr algn="just">
                <a:lnSpc>
                  <a:spcPts val="4899"/>
                </a:lnSpc>
              </a:pPr>
              <a:r>
                <a:rPr lang="en-US" sz="3499">
                  <a:solidFill>
                    <a:srgbClr val="FFFFFF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A estatística descritiva tem como objetivo descrever e resumir os principais aspectos de um conjunto de dados. Sendo assim, ela é usada para simplificar e apresentar dados de maneira compreensível, tornando-os mais acessíveis para análise e interpretação</a:t>
              </a:r>
            </a:p>
            <a:p>
              <a:pPr algn="just">
                <a:lnSpc>
                  <a:spcPts val="4899"/>
                </a:lnSpc>
              </a:pPr>
            </a:p>
            <a:p>
              <a:pPr algn="just">
                <a:lnSpc>
                  <a:spcPts val="4899"/>
                </a:lnSpc>
              </a:pPr>
              <a:r>
                <a:rPr lang="en-US" sz="3499">
                  <a:solidFill>
                    <a:srgbClr val="FFFFFF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Ela envolve a organização, resumo e apresentação dos dados de forma que seja fácil compreender as principais características (por meios de gráficos e tabelas) e medidas (como médias, medianas, desvios padrão). .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793064" y="1142894"/>
            <a:ext cx="16701872" cy="1727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999"/>
              </a:lnSpc>
              <a:spcBef>
                <a:spcPct val="0"/>
              </a:spcBef>
            </a:pPr>
            <a:r>
              <a:rPr lang="en-US" sz="9999" spc="1519">
                <a:solidFill>
                  <a:srgbClr val="F7F7F7"/>
                </a:solidFill>
                <a:latin typeface="Chewy"/>
                <a:ea typeface="Chewy"/>
                <a:cs typeface="Chewy"/>
                <a:sym typeface="Chewy"/>
              </a:rPr>
              <a:t>ESTATÍSTICA DESCRITIVA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B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2415" y="4753471"/>
            <a:ext cx="6230670" cy="4126879"/>
            <a:chOff x="0" y="0"/>
            <a:chExt cx="2017804" cy="13364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7804" cy="1336491"/>
            </a:xfrm>
            <a:custGeom>
              <a:avLst/>
              <a:gdLst/>
              <a:ahLst/>
              <a:cxnLst/>
              <a:rect r="r" b="b" t="t" l="l"/>
              <a:pathLst>
                <a:path h="1336491" w="2017804">
                  <a:moveTo>
                    <a:pt x="63370" y="0"/>
                  </a:moveTo>
                  <a:lnTo>
                    <a:pt x="1954434" y="0"/>
                  </a:lnTo>
                  <a:cubicBezTo>
                    <a:pt x="1971241" y="0"/>
                    <a:pt x="1987359" y="6676"/>
                    <a:pt x="1999243" y="18561"/>
                  </a:cubicBezTo>
                  <a:cubicBezTo>
                    <a:pt x="2011127" y="30445"/>
                    <a:pt x="2017804" y="46563"/>
                    <a:pt x="2017804" y="63370"/>
                  </a:cubicBezTo>
                  <a:lnTo>
                    <a:pt x="2017804" y="1273121"/>
                  </a:lnTo>
                  <a:cubicBezTo>
                    <a:pt x="2017804" y="1308119"/>
                    <a:pt x="1989432" y="1336491"/>
                    <a:pt x="1954434" y="1336491"/>
                  </a:cubicBezTo>
                  <a:lnTo>
                    <a:pt x="63370" y="1336491"/>
                  </a:lnTo>
                  <a:cubicBezTo>
                    <a:pt x="46563" y="1336491"/>
                    <a:pt x="30445" y="1329814"/>
                    <a:pt x="18561" y="1317930"/>
                  </a:cubicBezTo>
                  <a:cubicBezTo>
                    <a:pt x="6676" y="1306046"/>
                    <a:pt x="0" y="1289927"/>
                    <a:pt x="0" y="1273121"/>
                  </a:cubicBezTo>
                  <a:lnTo>
                    <a:pt x="0" y="63370"/>
                  </a:lnTo>
                  <a:cubicBezTo>
                    <a:pt x="0" y="46563"/>
                    <a:pt x="6676" y="30445"/>
                    <a:pt x="18561" y="18561"/>
                  </a:cubicBezTo>
                  <a:cubicBezTo>
                    <a:pt x="30445" y="6676"/>
                    <a:pt x="46563" y="0"/>
                    <a:pt x="63370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017804" cy="1403166"/>
            </a:xfrm>
            <a:prstGeom prst="rect">
              <a:avLst/>
            </a:prstGeom>
          </p:spPr>
          <p:txBody>
            <a:bodyPr anchor="ctr" rtlCol="false" tIns="38523" lIns="38523" bIns="38523" rIns="38523"/>
            <a:lstStyle/>
            <a:p>
              <a:pPr algn="l">
                <a:lnSpc>
                  <a:spcPts val="46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746041" y="5213677"/>
            <a:ext cx="4223419" cy="3206466"/>
            <a:chOff x="0" y="0"/>
            <a:chExt cx="5631225" cy="4275288"/>
          </a:xfrm>
        </p:grpSpPr>
        <p:sp>
          <p:nvSpPr>
            <p:cNvPr name="AutoShape 6" id="6"/>
            <p:cNvSpPr/>
            <p:nvPr/>
          </p:nvSpPr>
          <p:spPr>
            <a:xfrm>
              <a:off x="249285" y="4026002"/>
              <a:ext cx="5381704" cy="32349"/>
            </a:xfrm>
            <a:prstGeom prst="line">
              <a:avLst/>
            </a:prstGeom>
            <a:ln cap="rnd" w="7846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 flipH="true" flipV="true">
              <a:off x="249285" y="0"/>
              <a:ext cx="0" cy="4058351"/>
            </a:xfrm>
            <a:prstGeom prst="line">
              <a:avLst/>
            </a:prstGeom>
            <a:ln cap="rnd" w="7846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" id="8"/>
            <p:cNvSpPr/>
            <p:nvPr/>
          </p:nvSpPr>
          <p:spPr>
            <a:xfrm flipH="true">
              <a:off x="0" y="3575946"/>
              <a:ext cx="498571" cy="0"/>
            </a:xfrm>
            <a:prstGeom prst="line">
              <a:avLst/>
            </a:prstGeom>
            <a:ln cap="rnd" w="7846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" id="9"/>
            <p:cNvSpPr/>
            <p:nvPr/>
          </p:nvSpPr>
          <p:spPr>
            <a:xfrm flipH="true">
              <a:off x="0" y="3179854"/>
              <a:ext cx="498571" cy="0"/>
            </a:xfrm>
            <a:prstGeom prst="line">
              <a:avLst/>
            </a:prstGeom>
            <a:ln cap="rnd" w="7846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" id="10"/>
            <p:cNvSpPr/>
            <p:nvPr/>
          </p:nvSpPr>
          <p:spPr>
            <a:xfrm flipH="true">
              <a:off x="0" y="2783762"/>
              <a:ext cx="498571" cy="0"/>
            </a:xfrm>
            <a:prstGeom prst="line">
              <a:avLst/>
            </a:prstGeom>
            <a:ln cap="rnd" w="7846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" id="11"/>
            <p:cNvSpPr/>
            <p:nvPr/>
          </p:nvSpPr>
          <p:spPr>
            <a:xfrm flipH="true">
              <a:off x="0" y="2387670"/>
              <a:ext cx="498571" cy="0"/>
            </a:xfrm>
            <a:prstGeom prst="line">
              <a:avLst/>
            </a:prstGeom>
            <a:ln cap="rnd" w="7846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" id="12"/>
            <p:cNvSpPr/>
            <p:nvPr/>
          </p:nvSpPr>
          <p:spPr>
            <a:xfrm flipH="true">
              <a:off x="0" y="1991578"/>
              <a:ext cx="498571" cy="0"/>
            </a:xfrm>
            <a:prstGeom prst="line">
              <a:avLst/>
            </a:prstGeom>
            <a:ln cap="rnd" w="7846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" id="13"/>
            <p:cNvSpPr/>
            <p:nvPr/>
          </p:nvSpPr>
          <p:spPr>
            <a:xfrm flipH="true">
              <a:off x="0" y="1595486"/>
              <a:ext cx="498571" cy="0"/>
            </a:xfrm>
            <a:prstGeom prst="line">
              <a:avLst/>
            </a:prstGeom>
            <a:ln cap="rnd" w="7846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4" id="14"/>
            <p:cNvSpPr/>
            <p:nvPr/>
          </p:nvSpPr>
          <p:spPr>
            <a:xfrm flipH="true">
              <a:off x="0" y="1199393"/>
              <a:ext cx="498571" cy="0"/>
            </a:xfrm>
            <a:prstGeom prst="line">
              <a:avLst/>
            </a:prstGeom>
            <a:ln cap="rnd" w="7846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5" id="15"/>
            <p:cNvSpPr/>
            <p:nvPr/>
          </p:nvSpPr>
          <p:spPr>
            <a:xfrm flipH="true" flipV="true">
              <a:off x="0" y="803301"/>
              <a:ext cx="498571" cy="0"/>
            </a:xfrm>
            <a:prstGeom prst="line">
              <a:avLst/>
            </a:prstGeom>
            <a:ln cap="rnd" w="7846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6" id="16"/>
            <p:cNvSpPr/>
            <p:nvPr/>
          </p:nvSpPr>
          <p:spPr>
            <a:xfrm flipH="true">
              <a:off x="0" y="407209"/>
              <a:ext cx="498571" cy="0"/>
            </a:xfrm>
            <a:prstGeom prst="line">
              <a:avLst/>
            </a:prstGeom>
            <a:ln cap="rnd" w="7846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7" id="17"/>
            <p:cNvSpPr/>
            <p:nvPr/>
          </p:nvSpPr>
          <p:spPr>
            <a:xfrm>
              <a:off x="5257519" y="3776717"/>
              <a:ext cx="0" cy="498571"/>
            </a:xfrm>
            <a:prstGeom prst="line">
              <a:avLst/>
            </a:prstGeom>
            <a:ln cap="rnd" w="7846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8" id="18"/>
            <p:cNvSpPr/>
            <p:nvPr/>
          </p:nvSpPr>
          <p:spPr>
            <a:xfrm flipH="true">
              <a:off x="4361924" y="3776717"/>
              <a:ext cx="0" cy="498571"/>
            </a:xfrm>
            <a:prstGeom prst="line">
              <a:avLst/>
            </a:prstGeom>
            <a:ln cap="rnd" w="7846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9" id="19"/>
            <p:cNvSpPr/>
            <p:nvPr/>
          </p:nvSpPr>
          <p:spPr>
            <a:xfrm>
              <a:off x="3466330" y="3776717"/>
              <a:ext cx="0" cy="498571"/>
            </a:xfrm>
            <a:prstGeom prst="line">
              <a:avLst/>
            </a:prstGeom>
            <a:ln cap="rnd" w="7846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0" id="20"/>
            <p:cNvSpPr/>
            <p:nvPr/>
          </p:nvSpPr>
          <p:spPr>
            <a:xfrm flipH="true">
              <a:off x="2570735" y="3776717"/>
              <a:ext cx="0" cy="498571"/>
            </a:xfrm>
            <a:prstGeom prst="line">
              <a:avLst/>
            </a:prstGeom>
            <a:ln cap="rnd" w="7846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1" id="21"/>
            <p:cNvSpPr/>
            <p:nvPr/>
          </p:nvSpPr>
          <p:spPr>
            <a:xfrm flipH="true">
              <a:off x="1675140" y="3776717"/>
              <a:ext cx="0" cy="498571"/>
            </a:xfrm>
            <a:prstGeom prst="line">
              <a:avLst/>
            </a:prstGeom>
            <a:ln cap="rnd" w="7846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2" id="22"/>
            <p:cNvSpPr/>
            <p:nvPr/>
          </p:nvSpPr>
          <p:spPr>
            <a:xfrm flipH="true">
              <a:off x="779545" y="3776717"/>
              <a:ext cx="0" cy="498571"/>
            </a:xfrm>
            <a:prstGeom prst="line">
              <a:avLst/>
            </a:prstGeom>
            <a:ln cap="rnd" w="78464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23" id="23"/>
            <p:cNvGrpSpPr/>
            <p:nvPr/>
          </p:nvGrpSpPr>
          <p:grpSpPr>
            <a:xfrm rot="0">
              <a:off x="3876992" y="996060"/>
              <a:ext cx="265304" cy="265304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25FC8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1006810" y="1261364"/>
              <a:ext cx="265304" cy="265304"/>
              <a:chOff x="0" y="0"/>
              <a:chExt cx="81280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25FC8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1988102" y="2720579"/>
              <a:ext cx="265304" cy="265304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25FC8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1272114" y="2720579"/>
              <a:ext cx="265304" cy="265304"/>
              <a:chOff x="0" y="0"/>
              <a:chExt cx="812800" cy="812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25FC8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1988102" y="1789456"/>
              <a:ext cx="265304" cy="265304"/>
              <a:chOff x="0" y="0"/>
              <a:chExt cx="812800" cy="8128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25FC8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1579319" y="329589"/>
              <a:ext cx="265304" cy="265304"/>
              <a:chOff x="0" y="0"/>
              <a:chExt cx="812800" cy="8128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25FC8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2550304" y="3047202"/>
              <a:ext cx="265304" cy="265304"/>
              <a:chOff x="0" y="0"/>
              <a:chExt cx="812800" cy="8128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25FC8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3466330" y="3179854"/>
              <a:ext cx="265304" cy="265304"/>
              <a:chOff x="0" y="0"/>
              <a:chExt cx="812800" cy="81280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25FC8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7" id="47"/>
            <p:cNvGrpSpPr/>
            <p:nvPr/>
          </p:nvGrpSpPr>
          <p:grpSpPr>
            <a:xfrm rot="0">
              <a:off x="4278139" y="2720579"/>
              <a:ext cx="265304" cy="265304"/>
              <a:chOff x="0" y="0"/>
              <a:chExt cx="812800" cy="812800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25FC8"/>
              </a:solid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50" id="50"/>
            <p:cNvGrpSpPr/>
            <p:nvPr/>
          </p:nvGrpSpPr>
          <p:grpSpPr>
            <a:xfrm rot="0">
              <a:off x="4992215" y="1858925"/>
              <a:ext cx="265304" cy="265304"/>
              <a:chOff x="0" y="0"/>
              <a:chExt cx="812800" cy="812800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25FC8"/>
              </a:solidFill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53" id="53"/>
            <p:cNvGrpSpPr/>
            <p:nvPr/>
          </p:nvGrpSpPr>
          <p:grpSpPr>
            <a:xfrm rot="0">
              <a:off x="3611688" y="1789456"/>
              <a:ext cx="265304" cy="265304"/>
              <a:chOff x="0" y="0"/>
              <a:chExt cx="812800" cy="812800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25FC8"/>
              </a:solidFill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56" id="56"/>
            <p:cNvGrpSpPr/>
            <p:nvPr/>
          </p:nvGrpSpPr>
          <p:grpSpPr>
            <a:xfrm rot="0">
              <a:off x="2694563" y="1462833"/>
              <a:ext cx="265304" cy="265304"/>
              <a:chOff x="0" y="0"/>
              <a:chExt cx="812800" cy="812800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25FC8"/>
              </a:solidFill>
            </p:spPr>
          </p:sp>
          <p:sp>
            <p:nvSpPr>
              <p:cNvPr name="TextBox 58" id="58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59" id="59"/>
          <p:cNvGrpSpPr/>
          <p:nvPr/>
        </p:nvGrpSpPr>
        <p:grpSpPr>
          <a:xfrm rot="0">
            <a:off x="-1307331" y="1018621"/>
            <a:ext cx="20830043" cy="2654900"/>
            <a:chOff x="0" y="0"/>
            <a:chExt cx="5115576" cy="65200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115577" cy="652008"/>
            </a:xfrm>
            <a:custGeom>
              <a:avLst/>
              <a:gdLst/>
              <a:ahLst/>
              <a:cxnLst/>
              <a:rect r="r" b="b" t="t" l="l"/>
              <a:pathLst>
                <a:path h="652008" w="5115577">
                  <a:moveTo>
                    <a:pt x="18955" y="0"/>
                  </a:moveTo>
                  <a:lnTo>
                    <a:pt x="5096621" y="0"/>
                  </a:lnTo>
                  <a:cubicBezTo>
                    <a:pt x="5101649" y="0"/>
                    <a:pt x="5106470" y="1997"/>
                    <a:pt x="5110025" y="5552"/>
                  </a:cubicBezTo>
                  <a:cubicBezTo>
                    <a:pt x="5113579" y="9107"/>
                    <a:pt x="5115577" y="13928"/>
                    <a:pt x="5115577" y="18955"/>
                  </a:cubicBezTo>
                  <a:lnTo>
                    <a:pt x="5115577" y="633052"/>
                  </a:lnTo>
                  <a:cubicBezTo>
                    <a:pt x="5115577" y="638080"/>
                    <a:pt x="5113579" y="642901"/>
                    <a:pt x="5110025" y="646456"/>
                  </a:cubicBezTo>
                  <a:cubicBezTo>
                    <a:pt x="5106470" y="650010"/>
                    <a:pt x="5101649" y="652008"/>
                    <a:pt x="5096621" y="652008"/>
                  </a:cubicBezTo>
                  <a:lnTo>
                    <a:pt x="18955" y="652008"/>
                  </a:lnTo>
                  <a:cubicBezTo>
                    <a:pt x="13928" y="652008"/>
                    <a:pt x="9107" y="650010"/>
                    <a:pt x="5552" y="646456"/>
                  </a:cubicBezTo>
                  <a:cubicBezTo>
                    <a:pt x="1997" y="642901"/>
                    <a:pt x="0" y="638080"/>
                    <a:pt x="0" y="633052"/>
                  </a:cubicBezTo>
                  <a:lnTo>
                    <a:pt x="0" y="18955"/>
                  </a:lnTo>
                  <a:cubicBezTo>
                    <a:pt x="0" y="13928"/>
                    <a:pt x="1997" y="9107"/>
                    <a:pt x="5552" y="5552"/>
                  </a:cubicBezTo>
                  <a:cubicBezTo>
                    <a:pt x="9107" y="1997"/>
                    <a:pt x="13928" y="0"/>
                    <a:pt x="18955" y="0"/>
                  </a:cubicBezTo>
                  <a:close/>
                </a:path>
              </a:pathLst>
            </a:custGeom>
            <a:solidFill>
              <a:srgbClr val="825FC8"/>
            </a:solidFill>
            <a:ln w="571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0"/>
              <a:ext cx="5115576" cy="842508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12459"/>
                </a:lnSpc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3926022" y="3203917"/>
            <a:ext cx="10435956" cy="939209"/>
            <a:chOff x="0" y="0"/>
            <a:chExt cx="2562929" cy="230657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562929" cy="230657"/>
            </a:xfrm>
            <a:custGeom>
              <a:avLst/>
              <a:gdLst/>
              <a:ahLst/>
              <a:cxnLst/>
              <a:rect r="r" b="b" t="t" l="l"/>
              <a:pathLst>
                <a:path h="230657" w="2562929">
                  <a:moveTo>
                    <a:pt x="37834" y="0"/>
                  </a:moveTo>
                  <a:lnTo>
                    <a:pt x="2525095" y="0"/>
                  </a:lnTo>
                  <a:cubicBezTo>
                    <a:pt x="2535129" y="0"/>
                    <a:pt x="2544752" y="3986"/>
                    <a:pt x="2551848" y="11081"/>
                  </a:cubicBezTo>
                  <a:cubicBezTo>
                    <a:pt x="2558943" y="18177"/>
                    <a:pt x="2562929" y="27800"/>
                    <a:pt x="2562929" y="37834"/>
                  </a:cubicBezTo>
                  <a:lnTo>
                    <a:pt x="2562929" y="192823"/>
                  </a:lnTo>
                  <a:cubicBezTo>
                    <a:pt x="2562929" y="202857"/>
                    <a:pt x="2558943" y="212480"/>
                    <a:pt x="2551848" y="219576"/>
                  </a:cubicBezTo>
                  <a:cubicBezTo>
                    <a:pt x="2544752" y="226671"/>
                    <a:pt x="2535129" y="230657"/>
                    <a:pt x="2525095" y="230657"/>
                  </a:cubicBezTo>
                  <a:lnTo>
                    <a:pt x="37834" y="230657"/>
                  </a:lnTo>
                  <a:cubicBezTo>
                    <a:pt x="27800" y="230657"/>
                    <a:pt x="18177" y="226671"/>
                    <a:pt x="11081" y="219576"/>
                  </a:cubicBezTo>
                  <a:cubicBezTo>
                    <a:pt x="3986" y="212480"/>
                    <a:pt x="0" y="202857"/>
                    <a:pt x="0" y="192823"/>
                  </a:cubicBezTo>
                  <a:lnTo>
                    <a:pt x="0" y="37834"/>
                  </a:lnTo>
                  <a:cubicBezTo>
                    <a:pt x="0" y="27800"/>
                    <a:pt x="3986" y="18177"/>
                    <a:pt x="11081" y="11081"/>
                  </a:cubicBezTo>
                  <a:cubicBezTo>
                    <a:pt x="18177" y="3986"/>
                    <a:pt x="27800" y="0"/>
                    <a:pt x="3783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4" id="64"/>
            <p:cNvSpPr txBox="true"/>
            <p:nvPr/>
          </p:nvSpPr>
          <p:spPr>
            <a:xfrm>
              <a:off x="0" y="-85725"/>
              <a:ext cx="2562929" cy="3163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79"/>
                </a:lnSpc>
              </a:pPr>
              <a:r>
                <a:rPr lang="en-US" sz="4199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AQUELA QUE TRABALHARÁ COM POSSIBILIDADES!</a:t>
              </a:r>
            </a:p>
          </p:txBody>
        </p:sp>
      </p:grpSp>
      <p:sp>
        <p:nvSpPr>
          <p:cNvPr name="TextBox 65" id="65"/>
          <p:cNvSpPr txBox="true"/>
          <p:nvPr/>
        </p:nvSpPr>
        <p:spPr>
          <a:xfrm rot="0">
            <a:off x="793064" y="1142894"/>
            <a:ext cx="16701872" cy="1654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00"/>
              </a:lnSpc>
              <a:spcBef>
                <a:spcPct val="0"/>
              </a:spcBef>
            </a:pPr>
            <a:r>
              <a:rPr lang="en-US" sz="9500" spc="1444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ESTATÍSTICA INFERENCIAL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8169584" y="4753471"/>
            <a:ext cx="8186470" cy="4126879"/>
            <a:chOff x="0" y="0"/>
            <a:chExt cx="2651190" cy="1336491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651190" cy="1336491"/>
            </a:xfrm>
            <a:custGeom>
              <a:avLst/>
              <a:gdLst/>
              <a:ahLst/>
              <a:cxnLst/>
              <a:rect r="r" b="b" t="t" l="l"/>
              <a:pathLst>
                <a:path h="1336491" w="2651190">
                  <a:moveTo>
                    <a:pt x="48231" y="0"/>
                  </a:moveTo>
                  <a:lnTo>
                    <a:pt x="2602960" y="0"/>
                  </a:lnTo>
                  <a:cubicBezTo>
                    <a:pt x="2615751" y="0"/>
                    <a:pt x="2628019" y="5081"/>
                    <a:pt x="2637064" y="14126"/>
                  </a:cubicBezTo>
                  <a:cubicBezTo>
                    <a:pt x="2646109" y="23171"/>
                    <a:pt x="2651190" y="35439"/>
                    <a:pt x="2651190" y="48231"/>
                  </a:cubicBezTo>
                  <a:lnTo>
                    <a:pt x="2651190" y="1288260"/>
                  </a:lnTo>
                  <a:cubicBezTo>
                    <a:pt x="2651190" y="1301052"/>
                    <a:pt x="2646109" y="1313319"/>
                    <a:pt x="2637064" y="1322364"/>
                  </a:cubicBezTo>
                  <a:cubicBezTo>
                    <a:pt x="2628019" y="1331409"/>
                    <a:pt x="2615751" y="1336491"/>
                    <a:pt x="2602960" y="1336491"/>
                  </a:cubicBezTo>
                  <a:lnTo>
                    <a:pt x="48231" y="1336491"/>
                  </a:lnTo>
                  <a:cubicBezTo>
                    <a:pt x="35439" y="1336491"/>
                    <a:pt x="23171" y="1331409"/>
                    <a:pt x="14126" y="1322364"/>
                  </a:cubicBezTo>
                  <a:cubicBezTo>
                    <a:pt x="5081" y="1313319"/>
                    <a:pt x="0" y="1301052"/>
                    <a:pt x="0" y="1288260"/>
                  </a:cubicBezTo>
                  <a:lnTo>
                    <a:pt x="0" y="48231"/>
                  </a:lnTo>
                  <a:cubicBezTo>
                    <a:pt x="0" y="35439"/>
                    <a:pt x="5081" y="23171"/>
                    <a:pt x="14126" y="14126"/>
                  </a:cubicBezTo>
                  <a:cubicBezTo>
                    <a:pt x="23171" y="5081"/>
                    <a:pt x="35439" y="0"/>
                    <a:pt x="4823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8" id="68"/>
            <p:cNvSpPr txBox="true"/>
            <p:nvPr/>
          </p:nvSpPr>
          <p:spPr>
            <a:xfrm>
              <a:off x="0" y="-66675"/>
              <a:ext cx="2651190" cy="1403166"/>
            </a:xfrm>
            <a:prstGeom prst="rect">
              <a:avLst/>
            </a:prstGeom>
          </p:spPr>
          <p:txBody>
            <a:bodyPr anchor="ctr" rtlCol="false" tIns="38523" lIns="38523" bIns="38523" rIns="38523"/>
            <a:lstStyle/>
            <a:p>
              <a:pPr algn="l">
                <a:lnSpc>
                  <a:spcPts val="4619"/>
                </a:lnSpc>
              </a:pPr>
            </a:p>
          </p:txBody>
        </p:sp>
      </p:grpSp>
      <p:sp>
        <p:nvSpPr>
          <p:cNvPr name="TextBox 69" id="69"/>
          <p:cNvSpPr txBox="true"/>
          <p:nvPr/>
        </p:nvSpPr>
        <p:spPr>
          <a:xfrm rot="0">
            <a:off x="8376647" y="5156527"/>
            <a:ext cx="7772345" cy="3322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2048" indent="-291024" lvl="1">
              <a:lnSpc>
                <a:spcPts val="3774"/>
              </a:lnSpc>
              <a:buFont typeface="Arial"/>
              <a:buChar char="•"/>
            </a:pPr>
            <a:r>
              <a:rPr lang="en-US" sz="26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Usando a Amostra, podemos compreender e prever características de toda a população, sem precisar analisar cada indivíduo.</a:t>
            </a:r>
          </a:p>
          <a:p>
            <a:pPr algn="just">
              <a:lnSpc>
                <a:spcPts val="3774"/>
              </a:lnSpc>
            </a:pPr>
          </a:p>
          <a:p>
            <a:pPr algn="just" marL="582048" indent="-291024" lvl="1">
              <a:lnSpc>
                <a:spcPts val="3774"/>
              </a:lnSpc>
              <a:buFont typeface="Arial"/>
              <a:buChar char="•"/>
            </a:pPr>
            <a:r>
              <a:rPr lang="en-US" sz="26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Essencial em pesquisas científicas, negócios e tomadas de decisão, permite concluir eficazmente quando não é viável acessar todos os dados.</a:t>
            </a:r>
          </a:p>
        </p:txBody>
      </p:sp>
      <p:sp>
        <p:nvSpPr>
          <p:cNvPr name="Freeform 70" id="70"/>
          <p:cNvSpPr/>
          <p:nvPr/>
        </p:nvSpPr>
        <p:spPr>
          <a:xfrm flipH="false" flipV="false" rot="0">
            <a:off x="16794715" y="9381366"/>
            <a:ext cx="1286142" cy="681655"/>
          </a:xfrm>
          <a:custGeom>
            <a:avLst/>
            <a:gdLst/>
            <a:ahLst/>
            <a:cxnLst/>
            <a:rect r="r" b="b" t="t" l="l"/>
            <a:pathLst>
              <a:path h="681655" w="1286142">
                <a:moveTo>
                  <a:pt x="0" y="0"/>
                </a:moveTo>
                <a:lnTo>
                  <a:pt x="1286142" y="0"/>
                </a:lnTo>
                <a:lnTo>
                  <a:pt x="1286142" y="681655"/>
                </a:lnTo>
                <a:lnTo>
                  <a:pt x="0" y="6816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1" id="71"/>
          <p:cNvSpPr txBox="true"/>
          <p:nvPr/>
        </p:nvSpPr>
        <p:spPr>
          <a:xfrm rot="0">
            <a:off x="10033711" y="9350736"/>
            <a:ext cx="6589554" cy="647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53"/>
              </a:lnSpc>
            </a:pPr>
            <a:r>
              <a:rPr lang="en-US" sz="3752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Vamos ver alguns exemplos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5E376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07331" y="1018621"/>
            <a:ext cx="20830043" cy="2654900"/>
            <a:chOff x="0" y="0"/>
            <a:chExt cx="5115576" cy="6520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15577" cy="652008"/>
            </a:xfrm>
            <a:custGeom>
              <a:avLst/>
              <a:gdLst/>
              <a:ahLst/>
              <a:cxnLst/>
              <a:rect r="r" b="b" t="t" l="l"/>
              <a:pathLst>
                <a:path h="652008" w="5115577">
                  <a:moveTo>
                    <a:pt x="18955" y="0"/>
                  </a:moveTo>
                  <a:lnTo>
                    <a:pt x="5096621" y="0"/>
                  </a:lnTo>
                  <a:cubicBezTo>
                    <a:pt x="5101649" y="0"/>
                    <a:pt x="5106470" y="1997"/>
                    <a:pt x="5110025" y="5552"/>
                  </a:cubicBezTo>
                  <a:cubicBezTo>
                    <a:pt x="5113579" y="9107"/>
                    <a:pt x="5115577" y="13928"/>
                    <a:pt x="5115577" y="18955"/>
                  </a:cubicBezTo>
                  <a:lnTo>
                    <a:pt x="5115577" y="633052"/>
                  </a:lnTo>
                  <a:cubicBezTo>
                    <a:pt x="5115577" y="638080"/>
                    <a:pt x="5113579" y="642901"/>
                    <a:pt x="5110025" y="646456"/>
                  </a:cubicBezTo>
                  <a:cubicBezTo>
                    <a:pt x="5106470" y="650010"/>
                    <a:pt x="5101649" y="652008"/>
                    <a:pt x="5096621" y="652008"/>
                  </a:cubicBezTo>
                  <a:lnTo>
                    <a:pt x="18955" y="652008"/>
                  </a:lnTo>
                  <a:cubicBezTo>
                    <a:pt x="13928" y="652008"/>
                    <a:pt x="9107" y="650010"/>
                    <a:pt x="5552" y="646456"/>
                  </a:cubicBezTo>
                  <a:cubicBezTo>
                    <a:pt x="1997" y="642901"/>
                    <a:pt x="0" y="638080"/>
                    <a:pt x="0" y="633052"/>
                  </a:cubicBezTo>
                  <a:lnTo>
                    <a:pt x="0" y="18955"/>
                  </a:lnTo>
                  <a:cubicBezTo>
                    <a:pt x="0" y="13928"/>
                    <a:pt x="1997" y="9107"/>
                    <a:pt x="5552" y="5552"/>
                  </a:cubicBezTo>
                  <a:cubicBezTo>
                    <a:pt x="9107" y="1997"/>
                    <a:pt x="13928" y="0"/>
                    <a:pt x="18955" y="0"/>
                  </a:cubicBezTo>
                  <a:close/>
                </a:path>
              </a:pathLst>
            </a:custGeom>
            <a:solidFill>
              <a:srgbClr val="F7E951"/>
            </a:solidFill>
            <a:ln w="571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0"/>
              <a:ext cx="5115576" cy="842508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124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926022" y="3203917"/>
            <a:ext cx="10435956" cy="939209"/>
            <a:chOff x="0" y="0"/>
            <a:chExt cx="2562929" cy="23065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62929" cy="230657"/>
            </a:xfrm>
            <a:custGeom>
              <a:avLst/>
              <a:gdLst/>
              <a:ahLst/>
              <a:cxnLst/>
              <a:rect r="r" b="b" t="t" l="l"/>
              <a:pathLst>
                <a:path h="230657" w="2562929">
                  <a:moveTo>
                    <a:pt x="37834" y="0"/>
                  </a:moveTo>
                  <a:lnTo>
                    <a:pt x="2525095" y="0"/>
                  </a:lnTo>
                  <a:cubicBezTo>
                    <a:pt x="2535129" y="0"/>
                    <a:pt x="2544752" y="3986"/>
                    <a:pt x="2551848" y="11081"/>
                  </a:cubicBezTo>
                  <a:cubicBezTo>
                    <a:pt x="2558943" y="18177"/>
                    <a:pt x="2562929" y="27800"/>
                    <a:pt x="2562929" y="37834"/>
                  </a:cubicBezTo>
                  <a:lnTo>
                    <a:pt x="2562929" y="192823"/>
                  </a:lnTo>
                  <a:cubicBezTo>
                    <a:pt x="2562929" y="202857"/>
                    <a:pt x="2558943" y="212480"/>
                    <a:pt x="2551848" y="219576"/>
                  </a:cubicBezTo>
                  <a:cubicBezTo>
                    <a:pt x="2544752" y="226671"/>
                    <a:pt x="2535129" y="230657"/>
                    <a:pt x="2525095" y="230657"/>
                  </a:cubicBezTo>
                  <a:lnTo>
                    <a:pt x="37834" y="230657"/>
                  </a:lnTo>
                  <a:cubicBezTo>
                    <a:pt x="27800" y="230657"/>
                    <a:pt x="18177" y="226671"/>
                    <a:pt x="11081" y="219576"/>
                  </a:cubicBezTo>
                  <a:cubicBezTo>
                    <a:pt x="3986" y="212480"/>
                    <a:pt x="0" y="202857"/>
                    <a:pt x="0" y="192823"/>
                  </a:cubicBezTo>
                  <a:lnTo>
                    <a:pt x="0" y="37834"/>
                  </a:lnTo>
                  <a:cubicBezTo>
                    <a:pt x="0" y="27800"/>
                    <a:pt x="3986" y="18177"/>
                    <a:pt x="11081" y="11081"/>
                  </a:cubicBezTo>
                  <a:cubicBezTo>
                    <a:pt x="18177" y="3986"/>
                    <a:pt x="27800" y="0"/>
                    <a:pt x="37834" y="0"/>
                  </a:cubicBezTo>
                  <a:close/>
                </a:path>
              </a:pathLst>
            </a:custGeom>
            <a:solidFill>
              <a:srgbClr val="F8F8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562929" cy="3163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79"/>
                </a:lnSpc>
              </a:pPr>
              <a:r>
                <a:rPr lang="en-US" sz="4199">
                  <a:solidFill>
                    <a:srgbClr val="5E376D"/>
                  </a:solidFill>
                  <a:latin typeface="Chewy"/>
                  <a:ea typeface="Chewy"/>
                  <a:cs typeface="Chewy"/>
                  <a:sym typeface="Chewy"/>
                </a:rPr>
                <a:t>Pesquisa de Opinião Pública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93064" y="1142894"/>
            <a:ext cx="16701872" cy="1654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00"/>
              </a:lnSpc>
              <a:spcBef>
                <a:spcPct val="0"/>
              </a:spcBef>
            </a:pPr>
            <a:r>
              <a:rPr lang="en-US" sz="9500" spc="1444">
                <a:solidFill>
                  <a:srgbClr val="774F86"/>
                </a:solidFill>
                <a:latin typeface="Chewy"/>
                <a:ea typeface="Chewy"/>
                <a:cs typeface="Chewy"/>
                <a:sym typeface="Chewy"/>
              </a:rPr>
              <a:t>ESTATÍSTICA INFERENCIAL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4753471"/>
            <a:ext cx="16230600" cy="4126879"/>
            <a:chOff x="0" y="0"/>
            <a:chExt cx="5256283" cy="13364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256283" cy="1336491"/>
            </a:xfrm>
            <a:custGeom>
              <a:avLst/>
              <a:gdLst/>
              <a:ahLst/>
              <a:cxnLst/>
              <a:rect r="r" b="b" t="t" l="l"/>
              <a:pathLst>
                <a:path h="1336491" w="5256283">
                  <a:moveTo>
                    <a:pt x="24327" y="0"/>
                  </a:moveTo>
                  <a:lnTo>
                    <a:pt x="5231957" y="0"/>
                  </a:lnTo>
                  <a:cubicBezTo>
                    <a:pt x="5238409" y="0"/>
                    <a:pt x="5244596" y="2563"/>
                    <a:pt x="5249158" y="7125"/>
                  </a:cubicBezTo>
                  <a:cubicBezTo>
                    <a:pt x="5253720" y="11687"/>
                    <a:pt x="5256283" y="17875"/>
                    <a:pt x="5256283" y="24327"/>
                  </a:cubicBezTo>
                  <a:lnTo>
                    <a:pt x="5256283" y="1312164"/>
                  </a:lnTo>
                  <a:cubicBezTo>
                    <a:pt x="5256283" y="1325599"/>
                    <a:pt x="5245392" y="1336491"/>
                    <a:pt x="5231957" y="1336491"/>
                  </a:cubicBezTo>
                  <a:lnTo>
                    <a:pt x="24327" y="1336491"/>
                  </a:lnTo>
                  <a:cubicBezTo>
                    <a:pt x="10891" y="1336491"/>
                    <a:pt x="0" y="1325599"/>
                    <a:pt x="0" y="1312164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8F8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5256283" cy="1403166"/>
            </a:xfrm>
            <a:prstGeom prst="rect">
              <a:avLst/>
            </a:prstGeom>
          </p:spPr>
          <p:txBody>
            <a:bodyPr anchor="ctr" rtlCol="false" tIns="38523" lIns="38523" bIns="38523" rIns="38523"/>
            <a:lstStyle/>
            <a:p>
              <a:pPr algn="l">
                <a:lnSpc>
                  <a:spcPts val="461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168757" y="5076825"/>
            <a:ext cx="13950486" cy="4180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3174" indent="-366587" lvl="1">
              <a:lnSpc>
                <a:spcPts val="4754"/>
              </a:lnSpc>
              <a:buFont typeface="Arial"/>
              <a:buChar char="•"/>
            </a:pPr>
            <a:r>
              <a:rPr lang="en-US" b="true" sz="3395">
                <a:solidFill>
                  <a:srgbClr val="5E376D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Situação</a:t>
            </a:r>
            <a:r>
              <a:rPr lang="en-US" sz="3395">
                <a:solidFill>
                  <a:srgbClr val="5E376D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: Uma empresa de pesquisa quer saber se a população de uma cidade aprova a construção de um novo parque ecológico.</a:t>
            </a:r>
          </a:p>
          <a:p>
            <a:pPr algn="just" marL="733174" indent="-366587" lvl="1">
              <a:lnSpc>
                <a:spcPts val="4754"/>
              </a:lnSpc>
              <a:buFont typeface="Arial"/>
              <a:buChar char="•"/>
            </a:pPr>
            <a:r>
              <a:rPr lang="en-US" b="true" sz="3395">
                <a:solidFill>
                  <a:srgbClr val="5E376D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Aplicação</a:t>
            </a:r>
            <a:r>
              <a:rPr lang="en-US" sz="3395">
                <a:solidFill>
                  <a:srgbClr val="5E376D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: Entrevistando uma amostra representativa de moradores, os pesquisadores utilizam a estatística inferencial para estimar o percentual de aprovação entre todos os cidadãos, mesmo sem consultar cada indivíduo.</a:t>
            </a:r>
          </a:p>
          <a:p>
            <a:pPr algn="just">
              <a:lnSpc>
                <a:spcPts val="4754"/>
              </a:lnSpc>
            </a:pPr>
          </a:p>
          <a:p>
            <a:pPr algn="just">
              <a:lnSpc>
                <a:spcPts val="4754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5E376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07331" y="1018621"/>
            <a:ext cx="20830043" cy="2654900"/>
            <a:chOff x="0" y="0"/>
            <a:chExt cx="5115576" cy="6520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15577" cy="652008"/>
            </a:xfrm>
            <a:custGeom>
              <a:avLst/>
              <a:gdLst/>
              <a:ahLst/>
              <a:cxnLst/>
              <a:rect r="r" b="b" t="t" l="l"/>
              <a:pathLst>
                <a:path h="652008" w="5115577">
                  <a:moveTo>
                    <a:pt x="18955" y="0"/>
                  </a:moveTo>
                  <a:lnTo>
                    <a:pt x="5096621" y="0"/>
                  </a:lnTo>
                  <a:cubicBezTo>
                    <a:pt x="5101649" y="0"/>
                    <a:pt x="5106470" y="1997"/>
                    <a:pt x="5110025" y="5552"/>
                  </a:cubicBezTo>
                  <a:cubicBezTo>
                    <a:pt x="5113579" y="9107"/>
                    <a:pt x="5115577" y="13928"/>
                    <a:pt x="5115577" y="18955"/>
                  </a:cubicBezTo>
                  <a:lnTo>
                    <a:pt x="5115577" y="633052"/>
                  </a:lnTo>
                  <a:cubicBezTo>
                    <a:pt x="5115577" y="638080"/>
                    <a:pt x="5113579" y="642901"/>
                    <a:pt x="5110025" y="646456"/>
                  </a:cubicBezTo>
                  <a:cubicBezTo>
                    <a:pt x="5106470" y="650010"/>
                    <a:pt x="5101649" y="652008"/>
                    <a:pt x="5096621" y="652008"/>
                  </a:cubicBezTo>
                  <a:lnTo>
                    <a:pt x="18955" y="652008"/>
                  </a:lnTo>
                  <a:cubicBezTo>
                    <a:pt x="13928" y="652008"/>
                    <a:pt x="9107" y="650010"/>
                    <a:pt x="5552" y="646456"/>
                  </a:cubicBezTo>
                  <a:cubicBezTo>
                    <a:pt x="1997" y="642901"/>
                    <a:pt x="0" y="638080"/>
                    <a:pt x="0" y="633052"/>
                  </a:cubicBezTo>
                  <a:lnTo>
                    <a:pt x="0" y="18955"/>
                  </a:lnTo>
                  <a:cubicBezTo>
                    <a:pt x="0" y="13928"/>
                    <a:pt x="1997" y="9107"/>
                    <a:pt x="5552" y="5552"/>
                  </a:cubicBezTo>
                  <a:cubicBezTo>
                    <a:pt x="9107" y="1997"/>
                    <a:pt x="13928" y="0"/>
                    <a:pt x="18955" y="0"/>
                  </a:cubicBezTo>
                  <a:close/>
                </a:path>
              </a:pathLst>
            </a:custGeom>
            <a:solidFill>
              <a:srgbClr val="F7E951"/>
            </a:solidFill>
            <a:ln w="571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0"/>
              <a:ext cx="5115576" cy="842508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124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926022" y="3203917"/>
            <a:ext cx="10435956" cy="939209"/>
            <a:chOff x="0" y="0"/>
            <a:chExt cx="2562929" cy="23065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62929" cy="230657"/>
            </a:xfrm>
            <a:custGeom>
              <a:avLst/>
              <a:gdLst/>
              <a:ahLst/>
              <a:cxnLst/>
              <a:rect r="r" b="b" t="t" l="l"/>
              <a:pathLst>
                <a:path h="230657" w="2562929">
                  <a:moveTo>
                    <a:pt x="37834" y="0"/>
                  </a:moveTo>
                  <a:lnTo>
                    <a:pt x="2525095" y="0"/>
                  </a:lnTo>
                  <a:cubicBezTo>
                    <a:pt x="2535129" y="0"/>
                    <a:pt x="2544752" y="3986"/>
                    <a:pt x="2551848" y="11081"/>
                  </a:cubicBezTo>
                  <a:cubicBezTo>
                    <a:pt x="2558943" y="18177"/>
                    <a:pt x="2562929" y="27800"/>
                    <a:pt x="2562929" y="37834"/>
                  </a:cubicBezTo>
                  <a:lnTo>
                    <a:pt x="2562929" y="192823"/>
                  </a:lnTo>
                  <a:cubicBezTo>
                    <a:pt x="2562929" y="202857"/>
                    <a:pt x="2558943" y="212480"/>
                    <a:pt x="2551848" y="219576"/>
                  </a:cubicBezTo>
                  <a:cubicBezTo>
                    <a:pt x="2544752" y="226671"/>
                    <a:pt x="2535129" y="230657"/>
                    <a:pt x="2525095" y="230657"/>
                  </a:cubicBezTo>
                  <a:lnTo>
                    <a:pt x="37834" y="230657"/>
                  </a:lnTo>
                  <a:cubicBezTo>
                    <a:pt x="27800" y="230657"/>
                    <a:pt x="18177" y="226671"/>
                    <a:pt x="11081" y="219576"/>
                  </a:cubicBezTo>
                  <a:cubicBezTo>
                    <a:pt x="3986" y="212480"/>
                    <a:pt x="0" y="202857"/>
                    <a:pt x="0" y="192823"/>
                  </a:cubicBezTo>
                  <a:lnTo>
                    <a:pt x="0" y="37834"/>
                  </a:lnTo>
                  <a:cubicBezTo>
                    <a:pt x="0" y="27800"/>
                    <a:pt x="3986" y="18177"/>
                    <a:pt x="11081" y="11081"/>
                  </a:cubicBezTo>
                  <a:cubicBezTo>
                    <a:pt x="18177" y="3986"/>
                    <a:pt x="27800" y="0"/>
                    <a:pt x="37834" y="0"/>
                  </a:cubicBezTo>
                  <a:close/>
                </a:path>
              </a:pathLst>
            </a:custGeom>
            <a:solidFill>
              <a:srgbClr val="F8F8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562929" cy="3163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79"/>
                </a:lnSpc>
              </a:pPr>
              <a:r>
                <a:rPr lang="en-US" sz="4199">
                  <a:solidFill>
                    <a:srgbClr val="5E376D"/>
                  </a:solidFill>
                  <a:latin typeface="Chewy"/>
                  <a:ea typeface="Chewy"/>
                  <a:cs typeface="Chewy"/>
                  <a:sym typeface="Chewy"/>
                </a:rPr>
                <a:t>Teste de Eficácia de um Tratamento Médico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93064" y="1142894"/>
            <a:ext cx="16701872" cy="1654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00"/>
              </a:lnSpc>
              <a:spcBef>
                <a:spcPct val="0"/>
              </a:spcBef>
            </a:pPr>
            <a:r>
              <a:rPr lang="en-US" sz="9500" spc="1444">
                <a:solidFill>
                  <a:srgbClr val="774F86"/>
                </a:solidFill>
                <a:latin typeface="Chewy"/>
                <a:ea typeface="Chewy"/>
                <a:cs typeface="Chewy"/>
                <a:sym typeface="Chewy"/>
              </a:rPr>
              <a:t>ESTATÍSTICA INFERENCIAL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4753471"/>
            <a:ext cx="16230600" cy="4126879"/>
            <a:chOff x="0" y="0"/>
            <a:chExt cx="5256283" cy="13364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256283" cy="1336491"/>
            </a:xfrm>
            <a:custGeom>
              <a:avLst/>
              <a:gdLst/>
              <a:ahLst/>
              <a:cxnLst/>
              <a:rect r="r" b="b" t="t" l="l"/>
              <a:pathLst>
                <a:path h="1336491" w="5256283">
                  <a:moveTo>
                    <a:pt x="24327" y="0"/>
                  </a:moveTo>
                  <a:lnTo>
                    <a:pt x="5231957" y="0"/>
                  </a:lnTo>
                  <a:cubicBezTo>
                    <a:pt x="5238409" y="0"/>
                    <a:pt x="5244596" y="2563"/>
                    <a:pt x="5249158" y="7125"/>
                  </a:cubicBezTo>
                  <a:cubicBezTo>
                    <a:pt x="5253720" y="11687"/>
                    <a:pt x="5256283" y="17875"/>
                    <a:pt x="5256283" y="24327"/>
                  </a:cubicBezTo>
                  <a:lnTo>
                    <a:pt x="5256283" y="1312164"/>
                  </a:lnTo>
                  <a:cubicBezTo>
                    <a:pt x="5256283" y="1325599"/>
                    <a:pt x="5245392" y="1336491"/>
                    <a:pt x="5231957" y="1336491"/>
                  </a:cubicBezTo>
                  <a:lnTo>
                    <a:pt x="24327" y="1336491"/>
                  </a:lnTo>
                  <a:cubicBezTo>
                    <a:pt x="10891" y="1336491"/>
                    <a:pt x="0" y="1325599"/>
                    <a:pt x="0" y="1312164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8F8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5256283" cy="1403166"/>
            </a:xfrm>
            <a:prstGeom prst="rect">
              <a:avLst/>
            </a:prstGeom>
          </p:spPr>
          <p:txBody>
            <a:bodyPr anchor="ctr" rtlCol="false" tIns="38523" lIns="38523" bIns="38523" rIns="38523"/>
            <a:lstStyle/>
            <a:p>
              <a:pPr algn="l">
                <a:lnSpc>
                  <a:spcPts val="461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168757" y="5076825"/>
            <a:ext cx="13950486" cy="3580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3174" indent="-366587" lvl="1">
              <a:lnSpc>
                <a:spcPts val="4754"/>
              </a:lnSpc>
              <a:buFont typeface="Arial"/>
              <a:buChar char="•"/>
            </a:pPr>
            <a:r>
              <a:rPr lang="en-US" b="true" sz="3395">
                <a:solidFill>
                  <a:srgbClr val="5E376D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Situação</a:t>
            </a:r>
            <a:r>
              <a:rPr lang="en-US" sz="3395">
                <a:solidFill>
                  <a:srgbClr val="5E376D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: Cientistas desenvolvem uma nova vacina e precisam saber se ela é eficaz na prevenção de uma doença.</a:t>
            </a:r>
          </a:p>
          <a:p>
            <a:pPr algn="just" marL="733174" indent="-366587" lvl="1">
              <a:lnSpc>
                <a:spcPts val="4754"/>
              </a:lnSpc>
              <a:buFont typeface="Arial"/>
              <a:buChar char="•"/>
            </a:pPr>
            <a:r>
              <a:rPr lang="en-US" b="true" sz="3395">
                <a:solidFill>
                  <a:srgbClr val="5E376D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Aplicação</a:t>
            </a:r>
            <a:r>
              <a:rPr lang="en-US" sz="3395">
                <a:solidFill>
                  <a:srgbClr val="5E376D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: Aplicando a vacina em um grupo de voluntários (amostra), eles analisam os resultados e, através da estatística inferencial, inferem a eficácia esperada na população geral.</a:t>
            </a:r>
          </a:p>
          <a:p>
            <a:pPr algn="just">
              <a:lnSpc>
                <a:spcPts val="4754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5E376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07331" y="1018621"/>
            <a:ext cx="20830043" cy="2654900"/>
            <a:chOff x="0" y="0"/>
            <a:chExt cx="5115576" cy="6520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15577" cy="652008"/>
            </a:xfrm>
            <a:custGeom>
              <a:avLst/>
              <a:gdLst/>
              <a:ahLst/>
              <a:cxnLst/>
              <a:rect r="r" b="b" t="t" l="l"/>
              <a:pathLst>
                <a:path h="652008" w="5115577">
                  <a:moveTo>
                    <a:pt x="18955" y="0"/>
                  </a:moveTo>
                  <a:lnTo>
                    <a:pt x="5096621" y="0"/>
                  </a:lnTo>
                  <a:cubicBezTo>
                    <a:pt x="5101649" y="0"/>
                    <a:pt x="5106470" y="1997"/>
                    <a:pt x="5110025" y="5552"/>
                  </a:cubicBezTo>
                  <a:cubicBezTo>
                    <a:pt x="5113579" y="9107"/>
                    <a:pt x="5115577" y="13928"/>
                    <a:pt x="5115577" y="18955"/>
                  </a:cubicBezTo>
                  <a:lnTo>
                    <a:pt x="5115577" y="633052"/>
                  </a:lnTo>
                  <a:cubicBezTo>
                    <a:pt x="5115577" y="638080"/>
                    <a:pt x="5113579" y="642901"/>
                    <a:pt x="5110025" y="646456"/>
                  </a:cubicBezTo>
                  <a:cubicBezTo>
                    <a:pt x="5106470" y="650010"/>
                    <a:pt x="5101649" y="652008"/>
                    <a:pt x="5096621" y="652008"/>
                  </a:cubicBezTo>
                  <a:lnTo>
                    <a:pt x="18955" y="652008"/>
                  </a:lnTo>
                  <a:cubicBezTo>
                    <a:pt x="13928" y="652008"/>
                    <a:pt x="9107" y="650010"/>
                    <a:pt x="5552" y="646456"/>
                  </a:cubicBezTo>
                  <a:cubicBezTo>
                    <a:pt x="1997" y="642901"/>
                    <a:pt x="0" y="638080"/>
                    <a:pt x="0" y="633052"/>
                  </a:cubicBezTo>
                  <a:lnTo>
                    <a:pt x="0" y="18955"/>
                  </a:lnTo>
                  <a:cubicBezTo>
                    <a:pt x="0" y="13928"/>
                    <a:pt x="1997" y="9107"/>
                    <a:pt x="5552" y="5552"/>
                  </a:cubicBezTo>
                  <a:cubicBezTo>
                    <a:pt x="9107" y="1997"/>
                    <a:pt x="13928" y="0"/>
                    <a:pt x="18955" y="0"/>
                  </a:cubicBezTo>
                  <a:close/>
                </a:path>
              </a:pathLst>
            </a:custGeom>
            <a:solidFill>
              <a:srgbClr val="F7E951"/>
            </a:solidFill>
            <a:ln w="571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0"/>
              <a:ext cx="5115576" cy="842508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124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926022" y="3203917"/>
            <a:ext cx="10435956" cy="939209"/>
            <a:chOff x="0" y="0"/>
            <a:chExt cx="2562929" cy="23065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62929" cy="230657"/>
            </a:xfrm>
            <a:custGeom>
              <a:avLst/>
              <a:gdLst/>
              <a:ahLst/>
              <a:cxnLst/>
              <a:rect r="r" b="b" t="t" l="l"/>
              <a:pathLst>
                <a:path h="230657" w="2562929">
                  <a:moveTo>
                    <a:pt x="37834" y="0"/>
                  </a:moveTo>
                  <a:lnTo>
                    <a:pt x="2525095" y="0"/>
                  </a:lnTo>
                  <a:cubicBezTo>
                    <a:pt x="2535129" y="0"/>
                    <a:pt x="2544752" y="3986"/>
                    <a:pt x="2551848" y="11081"/>
                  </a:cubicBezTo>
                  <a:cubicBezTo>
                    <a:pt x="2558943" y="18177"/>
                    <a:pt x="2562929" y="27800"/>
                    <a:pt x="2562929" y="37834"/>
                  </a:cubicBezTo>
                  <a:lnTo>
                    <a:pt x="2562929" y="192823"/>
                  </a:lnTo>
                  <a:cubicBezTo>
                    <a:pt x="2562929" y="202857"/>
                    <a:pt x="2558943" y="212480"/>
                    <a:pt x="2551848" y="219576"/>
                  </a:cubicBezTo>
                  <a:cubicBezTo>
                    <a:pt x="2544752" y="226671"/>
                    <a:pt x="2535129" y="230657"/>
                    <a:pt x="2525095" y="230657"/>
                  </a:cubicBezTo>
                  <a:lnTo>
                    <a:pt x="37834" y="230657"/>
                  </a:lnTo>
                  <a:cubicBezTo>
                    <a:pt x="27800" y="230657"/>
                    <a:pt x="18177" y="226671"/>
                    <a:pt x="11081" y="219576"/>
                  </a:cubicBezTo>
                  <a:cubicBezTo>
                    <a:pt x="3986" y="212480"/>
                    <a:pt x="0" y="202857"/>
                    <a:pt x="0" y="192823"/>
                  </a:cubicBezTo>
                  <a:lnTo>
                    <a:pt x="0" y="37834"/>
                  </a:lnTo>
                  <a:cubicBezTo>
                    <a:pt x="0" y="27800"/>
                    <a:pt x="3986" y="18177"/>
                    <a:pt x="11081" y="11081"/>
                  </a:cubicBezTo>
                  <a:cubicBezTo>
                    <a:pt x="18177" y="3986"/>
                    <a:pt x="27800" y="0"/>
                    <a:pt x="37834" y="0"/>
                  </a:cubicBezTo>
                  <a:close/>
                </a:path>
              </a:pathLst>
            </a:custGeom>
            <a:solidFill>
              <a:srgbClr val="F8F8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562929" cy="3163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79"/>
                </a:lnSpc>
              </a:pPr>
              <a:r>
                <a:rPr lang="en-US" sz="4199">
                  <a:solidFill>
                    <a:srgbClr val="5E376D"/>
                  </a:solidFill>
                  <a:latin typeface="Chewy"/>
                  <a:ea typeface="Chewy"/>
                  <a:cs typeface="Chewy"/>
                  <a:sym typeface="Chewy"/>
                </a:rPr>
                <a:t>Análise de Mercado para Lançamento de Produto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93064" y="1142894"/>
            <a:ext cx="16701872" cy="1654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00"/>
              </a:lnSpc>
              <a:spcBef>
                <a:spcPct val="0"/>
              </a:spcBef>
            </a:pPr>
            <a:r>
              <a:rPr lang="en-US" sz="9500" spc="1444">
                <a:solidFill>
                  <a:srgbClr val="774F86"/>
                </a:solidFill>
                <a:latin typeface="Chewy"/>
                <a:ea typeface="Chewy"/>
                <a:cs typeface="Chewy"/>
                <a:sym typeface="Chewy"/>
              </a:rPr>
              <a:t>ESTATÍSTICA INFERENCIAL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4753471"/>
            <a:ext cx="16230600" cy="4126879"/>
            <a:chOff x="0" y="0"/>
            <a:chExt cx="5256283" cy="13364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256283" cy="1336491"/>
            </a:xfrm>
            <a:custGeom>
              <a:avLst/>
              <a:gdLst/>
              <a:ahLst/>
              <a:cxnLst/>
              <a:rect r="r" b="b" t="t" l="l"/>
              <a:pathLst>
                <a:path h="1336491" w="5256283">
                  <a:moveTo>
                    <a:pt x="24327" y="0"/>
                  </a:moveTo>
                  <a:lnTo>
                    <a:pt x="5231957" y="0"/>
                  </a:lnTo>
                  <a:cubicBezTo>
                    <a:pt x="5238409" y="0"/>
                    <a:pt x="5244596" y="2563"/>
                    <a:pt x="5249158" y="7125"/>
                  </a:cubicBezTo>
                  <a:cubicBezTo>
                    <a:pt x="5253720" y="11687"/>
                    <a:pt x="5256283" y="17875"/>
                    <a:pt x="5256283" y="24327"/>
                  </a:cubicBezTo>
                  <a:lnTo>
                    <a:pt x="5256283" y="1312164"/>
                  </a:lnTo>
                  <a:cubicBezTo>
                    <a:pt x="5256283" y="1325599"/>
                    <a:pt x="5245392" y="1336491"/>
                    <a:pt x="5231957" y="1336491"/>
                  </a:cubicBezTo>
                  <a:lnTo>
                    <a:pt x="24327" y="1336491"/>
                  </a:lnTo>
                  <a:cubicBezTo>
                    <a:pt x="10891" y="1336491"/>
                    <a:pt x="0" y="1325599"/>
                    <a:pt x="0" y="1312164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8F8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5256283" cy="1403166"/>
            </a:xfrm>
            <a:prstGeom prst="rect">
              <a:avLst/>
            </a:prstGeom>
          </p:spPr>
          <p:txBody>
            <a:bodyPr anchor="ctr" rtlCol="false" tIns="38523" lIns="38523" bIns="38523" rIns="38523"/>
            <a:lstStyle/>
            <a:p>
              <a:pPr algn="l">
                <a:lnSpc>
                  <a:spcPts val="461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168757" y="5076825"/>
            <a:ext cx="13950486" cy="3580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3174" indent="-366587" lvl="1">
              <a:lnSpc>
                <a:spcPts val="4754"/>
              </a:lnSpc>
              <a:buFont typeface="Arial"/>
              <a:buChar char="•"/>
            </a:pPr>
            <a:r>
              <a:rPr lang="en-US" b="true" sz="3395">
                <a:solidFill>
                  <a:srgbClr val="5E376D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Situação</a:t>
            </a:r>
            <a:r>
              <a:rPr lang="en-US" sz="3395">
                <a:solidFill>
                  <a:srgbClr val="5E376D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: Uma empresa quer lançar um novo aplicativo e deseja entender o interesse do público-alvo.</a:t>
            </a:r>
          </a:p>
          <a:p>
            <a:pPr algn="just" marL="733174" indent="-366587" lvl="1">
              <a:lnSpc>
                <a:spcPts val="4754"/>
              </a:lnSpc>
              <a:buFont typeface="Arial"/>
              <a:buChar char="•"/>
            </a:pPr>
            <a:r>
              <a:rPr lang="en-US" b="true" sz="3395">
                <a:solidFill>
                  <a:srgbClr val="5E376D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Aplicação</a:t>
            </a:r>
            <a:r>
              <a:rPr lang="en-US" sz="3395">
                <a:solidFill>
                  <a:srgbClr val="5E376D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: Com base em feedbacks e testes realizados com um grupo selecionado de usuários, utilizam a estatística inferencial para prever a aceitação e o desempenho do aplicativo no mercado em massa.</a:t>
            </a:r>
          </a:p>
          <a:p>
            <a:pPr algn="just">
              <a:lnSpc>
                <a:spcPts val="4754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07331" y="1018621"/>
            <a:ext cx="20830043" cy="2654900"/>
            <a:chOff x="0" y="0"/>
            <a:chExt cx="5115576" cy="6520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15577" cy="652008"/>
            </a:xfrm>
            <a:custGeom>
              <a:avLst/>
              <a:gdLst/>
              <a:ahLst/>
              <a:cxnLst/>
              <a:rect r="r" b="b" t="t" l="l"/>
              <a:pathLst>
                <a:path h="652008" w="5115577">
                  <a:moveTo>
                    <a:pt x="18955" y="0"/>
                  </a:moveTo>
                  <a:lnTo>
                    <a:pt x="5096621" y="0"/>
                  </a:lnTo>
                  <a:cubicBezTo>
                    <a:pt x="5101649" y="0"/>
                    <a:pt x="5106470" y="1997"/>
                    <a:pt x="5110025" y="5552"/>
                  </a:cubicBezTo>
                  <a:cubicBezTo>
                    <a:pt x="5113579" y="9107"/>
                    <a:pt x="5115577" y="13928"/>
                    <a:pt x="5115577" y="18955"/>
                  </a:cubicBezTo>
                  <a:lnTo>
                    <a:pt x="5115577" y="633052"/>
                  </a:lnTo>
                  <a:cubicBezTo>
                    <a:pt x="5115577" y="638080"/>
                    <a:pt x="5113579" y="642901"/>
                    <a:pt x="5110025" y="646456"/>
                  </a:cubicBezTo>
                  <a:cubicBezTo>
                    <a:pt x="5106470" y="650010"/>
                    <a:pt x="5101649" y="652008"/>
                    <a:pt x="5096621" y="652008"/>
                  </a:cubicBezTo>
                  <a:lnTo>
                    <a:pt x="18955" y="652008"/>
                  </a:lnTo>
                  <a:cubicBezTo>
                    <a:pt x="13928" y="652008"/>
                    <a:pt x="9107" y="650010"/>
                    <a:pt x="5552" y="646456"/>
                  </a:cubicBezTo>
                  <a:cubicBezTo>
                    <a:pt x="1997" y="642901"/>
                    <a:pt x="0" y="638080"/>
                    <a:pt x="0" y="633052"/>
                  </a:cubicBezTo>
                  <a:lnTo>
                    <a:pt x="0" y="18955"/>
                  </a:lnTo>
                  <a:cubicBezTo>
                    <a:pt x="0" y="13928"/>
                    <a:pt x="1997" y="9107"/>
                    <a:pt x="5552" y="5552"/>
                  </a:cubicBezTo>
                  <a:cubicBezTo>
                    <a:pt x="9107" y="1997"/>
                    <a:pt x="13928" y="0"/>
                    <a:pt x="18955" y="0"/>
                  </a:cubicBezTo>
                  <a:close/>
                </a:path>
              </a:pathLst>
            </a:custGeom>
            <a:solidFill>
              <a:srgbClr val="1C3F60"/>
            </a:solidFill>
            <a:ln w="571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0"/>
              <a:ext cx="5115576" cy="842508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124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565961" y="3203917"/>
            <a:ext cx="9156078" cy="939209"/>
            <a:chOff x="0" y="0"/>
            <a:chExt cx="2248609" cy="23065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8609" cy="230657"/>
            </a:xfrm>
            <a:custGeom>
              <a:avLst/>
              <a:gdLst/>
              <a:ahLst/>
              <a:cxnLst/>
              <a:rect r="r" b="b" t="t" l="l"/>
              <a:pathLst>
                <a:path h="230657" w="2248609">
                  <a:moveTo>
                    <a:pt x="43123" y="0"/>
                  </a:moveTo>
                  <a:lnTo>
                    <a:pt x="2205486" y="0"/>
                  </a:lnTo>
                  <a:cubicBezTo>
                    <a:pt x="2229302" y="0"/>
                    <a:pt x="2248609" y="19307"/>
                    <a:pt x="2248609" y="43123"/>
                  </a:cubicBezTo>
                  <a:lnTo>
                    <a:pt x="2248609" y="187534"/>
                  </a:lnTo>
                  <a:cubicBezTo>
                    <a:pt x="2248609" y="211350"/>
                    <a:pt x="2229302" y="230657"/>
                    <a:pt x="2205486" y="230657"/>
                  </a:cubicBezTo>
                  <a:lnTo>
                    <a:pt x="43123" y="230657"/>
                  </a:lnTo>
                  <a:cubicBezTo>
                    <a:pt x="19307" y="230657"/>
                    <a:pt x="0" y="211350"/>
                    <a:pt x="0" y="187534"/>
                  </a:cubicBezTo>
                  <a:lnTo>
                    <a:pt x="0" y="43123"/>
                  </a:lnTo>
                  <a:cubicBezTo>
                    <a:pt x="0" y="19307"/>
                    <a:pt x="19307" y="0"/>
                    <a:pt x="43123" y="0"/>
                  </a:cubicBezTo>
                  <a:close/>
                </a:path>
              </a:pathLst>
            </a:custGeom>
            <a:solidFill>
              <a:srgbClr val="F3F6FA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248609" cy="3163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79"/>
                </a:lnSpc>
              </a:pPr>
              <a:r>
                <a:rPr lang="en-US" sz="4199">
                  <a:solidFill>
                    <a:srgbClr val="0B1320"/>
                  </a:solidFill>
                  <a:latin typeface="Chewy"/>
                  <a:ea typeface="Chewy"/>
                  <a:cs typeface="Chewy"/>
                  <a:sym typeface="Chewy"/>
                </a:rPr>
                <a:t>ANOTEM NO CADERNO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4769469"/>
            <a:ext cx="16230600" cy="4554536"/>
            <a:chOff x="0" y="0"/>
            <a:chExt cx="5256283" cy="14749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56283" cy="1474987"/>
            </a:xfrm>
            <a:custGeom>
              <a:avLst/>
              <a:gdLst/>
              <a:ahLst/>
              <a:cxnLst/>
              <a:rect r="r" b="b" t="t" l="l"/>
              <a:pathLst>
                <a:path h="1474987" w="5256283">
                  <a:moveTo>
                    <a:pt x="24327" y="0"/>
                  </a:moveTo>
                  <a:lnTo>
                    <a:pt x="5231957" y="0"/>
                  </a:lnTo>
                  <a:cubicBezTo>
                    <a:pt x="5238409" y="0"/>
                    <a:pt x="5244596" y="2563"/>
                    <a:pt x="5249158" y="7125"/>
                  </a:cubicBezTo>
                  <a:cubicBezTo>
                    <a:pt x="5253720" y="11687"/>
                    <a:pt x="5256283" y="17875"/>
                    <a:pt x="5256283" y="24327"/>
                  </a:cubicBezTo>
                  <a:lnTo>
                    <a:pt x="5256283" y="1450661"/>
                  </a:lnTo>
                  <a:cubicBezTo>
                    <a:pt x="5256283" y="1464096"/>
                    <a:pt x="5245392" y="1474987"/>
                    <a:pt x="5231957" y="1474987"/>
                  </a:cubicBezTo>
                  <a:lnTo>
                    <a:pt x="24327" y="1474987"/>
                  </a:lnTo>
                  <a:cubicBezTo>
                    <a:pt x="10891" y="1474987"/>
                    <a:pt x="0" y="1464096"/>
                    <a:pt x="0" y="1450661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3F6FA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5256283" cy="1541662"/>
            </a:xfrm>
            <a:prstGeom prst="rect">
              <a:avLst/>
            </a:prstGeom>
          </p:spPr>
          <p:txBody>
            <a:bodyPr anchor="ctr" rtlCol="false" tIns="38523" lIns="38523" bIns="38523" rIns="38523"/>
            <a:lstStyle/>
            <a:p>
              <a:pPr algn="just">
                <a:lnSpc>
                  <a:spcPts val="4899"/>
                </a:lnSpc>
              </a:pPr>
              <a:r>
                <a:rPr lang="en-US" sz="3499">
                  <a:solidFill>
                    <a:srgbClr val="0B132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A estatística Inferencial visa fazer inferências ou estimativas sobre uma população com base na análise de uma amostra representativa. Ela envolve a aplicação de probabilidades e modelos estatísticos em dados amostrais para tirar conclusões sobre a população.</a:t>
              </a:r>
            </a:p>
            <a:p>
              <a:pPr algn="just">
                <a:lnSpc>
                  <a:spcPts val="4899"/>
                </a:lnSpc>
              </a:pPr>
            </a:p>
            <a:p>
              <a:pPr algn="just">
                <a:lnSpc>
                  <a:spcPts val="4899"/>
                </a:lnSpc>
              </a:pPr>
              <a:r>
                <a:rPr lang="en-US" sz="3499">
                  <a:solidFill>
                    <a:srgbClr val="0B132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Ela é comumente usada em pesquisa científica, negócios e tomada de decisões.</a:t>
              </a:r>
            </a:p>
            <a:p>
              <a:pPr algn="just">
                <a:lnSpc>
                  <a:spcPts val="4899"/>
                </a:lnSpc>
              </a:pPr>
            </a:p>
            <a:p>
              <a:pPr algn="just">
                <a:lnSpc>
                  <a:spcPts val="489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793064" y="1152419"/>
            <a:ext cx="16701872" cy="1661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440"/>
              </a:lnSpc>
              <a:spcBef>
                <a:spcPct val="0"/>
              </a:spcBef>
            </a:pPr>
            <a:r>
              <a:rPr lang="en-US" sz="9600" spc="1459">
                <a:solidFill>
                  <a:srgbClr val="F3F6FA"/>
                </a:solidFill>
                <a:latin typeface="Chewy"/>
                <a:ea typeface="Chewy"/>
                <a:cs typeface="Chewy"/>
                <a:sym typeface="Chewy"/>
              </a:rPr>
              <a:t>ESTATÍSTICA INFERENCIAL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DAGgIMhlq5k</dc:identifier>
  <dcterms:modified xsi:type="dcterms:W3CDTF">2011-08-01T06:04:30Z</dcterms:modified>
  <cp:revision>1</cp:revision>
  <dc:title>Estatistica Aplicada - Semana 03</dc:title>
</cp:coreProperties>
</file>