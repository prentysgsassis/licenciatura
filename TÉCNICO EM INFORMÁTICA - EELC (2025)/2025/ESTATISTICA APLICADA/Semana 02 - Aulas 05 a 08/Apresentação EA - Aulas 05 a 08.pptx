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Fredoka" charset="1" panose="02000000000000000000"/>
      <p:regular r:id="rId14"/>
    </p:embeddedFont>
    <p:embeddedFont>
      <p:font typeface="Capriola" charset="1" panose="0201060303050206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0465" y="6030501"/>
            <a:ext cx="7147736" cy="1137742"/>
            <a:chOff x="0" y="0"/>
            <a:chExt cx="313590845" cy="49915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313446061" cy="49771082"/>
            </a:xfrm>
            <a:custGeom>
              <a:avLst/>
              <a:gdLst/>
              <a:ahLst/>
              <a:cxnLst/>
              <a:rect r="r" b="b" t="t" l="l"/>
              <a:pathLst>
                <a:path h="49771082" w="313446061">
                  <a:moveTo>
                    <a:pt x="0" y="0"/>
                  </a:moveTo>
                  <a:lnTo>
                    <a:pt x="313446061" y="0"/>
                  </a:lnTo>
                  <a:lnTo>
                    <a:pt x="313446061" y="49771082"/>
                  </a:lnTo>
                  <a:lnTo>
                    <a:pt x="0" y="497710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3590856" cy="49915862"/>
            </a:xfrm>
            <a:custGeom>
              <a:avLst/>
              <a:gdLst/>
              <a:ahLst/>
              <a:cxnLst/>
              <a:rect r="r" b="b" t="t" l="l"/>
              <a:pathLst>
                <a:path h="49915862" w="313590856">
                  <a:moveTo>
                    <a:pt x="313446071" y="49771083"/>
                  </a:moveTo>
                  <a:lnTo>
                    <a:pt x="313590856" y="49771083"/>
                  </a:lnTo>
                  <a:lnTo>
                    <a:pt x="313590856" y="49915862"/>
                  </a:lnTo>
                  <a:lnTo>
                    <a:pt x="313446071" y="49915862"/>
                  </a:lnTo>
                  <a:lnTo>
                    <a:pt x="313446071" y="4977108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9771083"/>
                  </a:lnTo>
                  <a:lnTo>
                    <a:pt x="0" y="49771083"/>
                  </a:lnTo>
                  <a:lnTo>
                    <a:pt x="0" y="144780"/>
                  </a:lnTo>
                  <a:close/>
                  <a:moveTo>
                    <a:pt x="0" y="49771083"/>
                  </a:moveTo>
                  <a:lnTo>
                    <a:pt x="144780" y="49771083"/>
                  </a:lnTo>
                  <a:lnTo>
                    <a:pt x="144780" y="49915862"/>
                  </a:lnTo>
                  <a:lnTo>
                    <a:pt x="0" y="49915862"/>
                  </a:lnTo>
                  <a:lnTo>
                    <a:pt x="0" y="49771083"/>
                  </a:lnTo>
                  <a:close/>
                  <a:moveTo>
                    <a:pt x="313446071" y="144780"/>
                  </a:moveTo>
                  <a:lnTo>
                    <a:pt x="313590856" y="144780"/>
                  </a:lnTo>
                  <a:lnTo>
                    <a:pt x="313590856" y="49771083"/>
                  </a:lnTo>
                  <a:lnTo>
                    <a:pt x="313446071" y="49771083"/>
                  </a:lnTo>
                  <a:lnTo>
                    <a:pt x="313446071" y="144780"/>
                  </a:lnTo>
                  <a:close/>
                  <a:moveTo>
                    <a:pt x="144780" y="49771083"/>
                  </a:moveTo>
                  <a:lnTo>
                    <a:pt x="313446071" y="49771083"/>
                  </a:lnTo>
                  <a:lnTo>
                    <a:pt x="313446071" y="49915862"/>
                  </a:lnTo>
                  <a:lnTo>
                    <a:pt x="144780" y="49915862"/>
                  </a:lnTo>
                  <a:lnTo>
                    <a:pt x="144780" y="49771083"/>
                  </a:lnTo>
                  <a:close/>
                  <a:moveTo>
                    <a:pt x="313446071" y="0"/>
                  </a:moveTo>
                  <a:lnTo>
                    <a:pt x="313590856" y="0"/>
                  </a:lnTo>
                  <a:lnTo>
                    <a:pt x="313590856" y="144780"/>
                  </a:lnTo>
                  <a:lnTo>
                    <a:pt x="313446071" y="144780"/>
                  </a:lnTo>
                  <a:lnTo>
                    <a:pt x="31344607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13446071" y="0"/>
                  </a:lnTo>
                  <a:lnTo>
                    <a:pt x="31344607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656509" y="5154179"/>
            <a:ext cx="6055518" cy="3512200"/>
          </a:xfrm>
          <a:custGeom>
            <a:avLst/>
            <a:gdLst/>
            <a:ahLst/>
            <a:cxnLst/>
            <a:rect r="r" b="b" t="t" l="l"/>
            <a:pathLst>
              <a:path h="3512200" w="6055518">
                <a:moveTo>
                  <a:pt x="0" y="0"/>
                </a:moveTo>
                <a:lnTo>
                  <a:pt x="6055518" y="0"/>
                </a:lnTo>
                <a:lnTo>
                  <a:pt x="6055518" y="3512200"/>
                </a:lnTo>
                <a:lnTo>
                  <a:pt x="0" y="351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895475"/>
            <a:ext cx="16230600" cy="260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ESTATÍSTICA APLICADA</a:t>
            </a:r>
          </a:p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F7A739"/>
                </a:solidFill>
                <a:latin typeface="Fredoka"/>
                <a:ea typeface="Fredoka"/>
                <a:cs typeface="Fredoka"/>
                <a:sym typeface="Fredoka"/>
              </a:rPr>
              <a:t>POPULAÇÃO, CENSO E AMOSTRAGEM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28014" y="6231072"/>
            <a:ext cx="627263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Técnico em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A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8348" y="1514475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OBJETIVOS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09304" y="3659865"/>
            <a:ext cx="13648688" cy="4294599"/>
            <a:chOff x="0" y="0"/>
            <a:chExt cx="598805476" cy="1884158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598660676" cy="188271090"/>
            </a:xfrm>
            <a:custGeom>
              <a:avLst/>
              <a:gdLst/>
              <a:ahLst/>
              <a:cxnLst/>
              <a:rect r="r" b="b" t="t" l="l"/>
              <a:pathLst>
                <a:path h="188271090" w="598660676">
                  <a:moveTo>
                    <a:pt x="0" y="0"/>
                  </a:moveTo>
                  <a:lnTo>
                    <a:pt x="598660676" y="0"/>
                  </a:lnTo>
                  <a:lnTo>
                    <a:pt x="598660676" y="188271090"/>
                  </a:lnTo>
                  <a:lnTo>
                    <a:pt x="0" y="188271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8805496" cy="188415873"/>
            </a:xfrm>
            <a:custGeom>
              <a:avLst/>
              <a:gdLst/>
              <a:ahLst/>
              <a:cxnLst/>
              <a:rect r="r" b="b" t="t" l="l"/>
              <a:pathLst>
                <a:path h="188415873" w="598805496">
                  <a:moveTo>
                    <a:pt x="598660686" y="188271088"/>
                  </a:moveTo>
                  <a:lnTo>
                    <a:pt x="598805496" y="188271088"/>
                  </a:lnTo>
                  <a:lnTo>
                    <a:pt x="598805496" y="188415873"/>
                  </a:lnTo>
                  <a:lnTo>
                    <a:pt x="598660686" y="188415873"/>
                  </a:lnTo>
                  <a:lnTo>
                    <a:pt x="598660686" y="18827108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8271088"/>
                  </a:lnTo>
                  <a:lnTo>
                    <a:pt x="0" y="188271088"/>
                  </a:lnTo>
                  <a:lnTo>
                    <a:pt x="0" y="144780"/>
                  </a:lnTo>
                  <a:close/>
                  <a:moveTo>
                    <a:pt x="0" y="188271088"/>
                  </a:moveTo>
                  <a:lnTo>
                    <a:pt x="144780" y="188271088"/>
                  </a:lnTo>
                  <a:lnTo>
                    <a:pt x="144780" y="188415873"/>
                  </a:lnTo>
                  <a:lnTo>
                    <a:pt x="0" y="188415873"/>
                  </a:lnTo>
                  <a:lnTo>
                    <a:pt x="0" y="188271088"/>
                  </a:lnTo>
                  <a:close/>
                  <a:moveTo>
                    <a:pt x="598660686" y="144780"/>
                  </a:moveTo>
                  <a:lnTo>
                    <a:pt x="598805496" y="144780"/>
                  </a:lnTo>
                  <a:lnTo>
                    <a:pt x="598805496" y="188271088"/>
                  </a:lnTo>
                  <a:lnTo>
                    <a:pt x="598660686" y="188271088"/>
                  </a:lnTo>
                  <a:lnTo>
                    <a:pt x="598660686" y="144780"/>
                  </a:lnTo>
                  <a:close/>
                  <a:moveTo>
                    <a:pt x="144780" y="188271088"/>
                  </a:moveTo>
                  <a:lnTo>
                    <a:pt x="598660686" y="188271088"/>
                  </a:lnTo>
                  <a:lnTo>
                    <a:pt x="598660686" y="188415873"/>
                  </a:lnTo>
                  <a:lnTo>
                    <a:pt x="144780" y="188415873"/>
                  </a:lnTo>
                  <a:lnTo>
                    <a:pt x="144780" y="188271088"/>
                  </a:lnTo>
                  <a:close/>
                  <a:moveTo>
                    <a:pt x="598660686" y="0"/>
                  </a:moveTo>
                  <a:lnTo>
                    <a:pt x="598805496" y="0"/>
                  </a:lnTo>
                  <a:lnTo>
                    <a:pt x="598805496" y="144780"/>
                  </a:lnTo>
                  <a:lnTo>
                    <a:pt x="598660686" y="144780"/>
                  </a:lnTo>
                  <a:lnTo>
                    <a:pt x="59866068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98660686" y="0"/>
                  </a:lnTo>
                  <a:lnTo>
                    <a:pt x="59866068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91799" y="4385717"/>
            <a:ext cx="13104402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Compreender o conceito de população, em estatística, e a distinção entre censo (estudo da população inteira) e amostragem (estudo de uma parte representativa da população). Compreender e discutir as vantagens e desvantagens de cada método.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09707" y="6399937"/>
            <a:ext cx="9258300" cy="28555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09304" y="3659865"/>
            <a:ext cx="13648688" cy="4294599"/>
            <a:chOff x="0" y="0"/>
            <a:chExt cx="598805476" cy="188415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598660676" cy="188271090"/>
            </a:xfrm>
            <a:custGeom>
              <a:avLst/>
              <a:gdLst/>
              <a:ahLst/>
              <a:cxnLst/>
              <a:rect r="r" b="b" t="t" l="l"/>
              <a:pathLst>
                <a:path h="188271090" w="598660676">
                  <a:moveTo>
                    <a:pt x="0" y="0"/>
                  </a:moveTo>
                  <a:lnTo>
                    <a:pt x="598660676" y="0"/>
                  </a:lnTo>
                  <a:lnTo>
                    <a:pt x="598660676" y="188271090"/>
                  </a:lnTo>
                  <a:lnTo>
                    <a:pt x="0" y="188271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8805496" cy="188415873"/>
            </a:xfrm>
            <a:custGeom>
              <a:avLst/>
              <a:gdLst/>
              <a:ahLst/>
              <a:cxnLst/>
              <a:rect r="r" b="b" t="t" l="l"/>
              <a:pathLst>
                <a:path h="188415873" w="598805496">
                  <a:moveTo>
                    <a:pt x="598660686" y="188271088"/>
                  </a:moveTo>
                  <a:lnTo>
                    <a:pt x="598805496" y="188271088"/>
                  </a:lnTo>
                  <a:lnTo>
                    <a:pt x="598805496" y="188415873"/>
                  </a:lnTo>
                  <a:lnTo>
                    <a:pt x="598660686" y="188415873"/>
                  </a:lnTo>
                  <a:lnTo>
                    <a:pt x="598660686" y="18827108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8271088"/>
                  </a:lnTo>
                  <a:lnTo>
                    <a:pt x="0" y="188271088"/>
                  </a:lnTo>
                  <a:lnTo>
                    <a:pt x="0" y="144780"/>
                  </a:lnTo>
                  <a:close/>
                  <a:moveTo>
                    <a:pt x="0" y="188271088"/>
                  </a:moveTo>
                  <a:lnTo>
                    <a:pt x="144780" y="188271088"/>
                  </a:lnTo>
                  <a:lnTo>
                    <a:pt x="144780" y="188415873"/>
                  </a:lnTo>
                  <a:lnTo>
                    <a:pt x="0" y="188415873"/>
                  </a:lnTo>
                  <a:lnTo>
                    <a:pt x="0" y="188271088"/>
                  </a:lnTo>
                  <a:close/>
                  <a:moveTo>
                    <a:pt x="598660686" y="144780"/>
                  </a:moveTo>
                  <a:lnTo>
                    <a:pt x="598805496" y="144780"/>
                  </a:lnTo>
                  <a:lnTo>
                    <a:pt x="598805496" y="188271088"/>
                  </a:lnTo>
                  <a:lnTo>
                    <a:pt x="598660686" y="188271088"/>
                  </a:lnTo>
                  <a:lnTo>
                    <a:pt x="598660686" y="144780"/>
                  </a:lnTo>
                  <a:close/>
                  <a:moveTo>
                    <a:pt x="144780" y="188271088"/>
                  </a:moveTo>
                  <a:lnTo>
                    <a:pt x="598660686" y="188271088"/>
                  </a:lnTo>
                  <a:lnTo>
                    <a:pt x="598660686" y="188415873"/>
                  </a:lnTo>
                  <a:lnTo>
                    <a:pt x="144780" y="188415873"/>
                  </a:lnTo>
                  <a:lnTo>
                    <a:pt x="144780" y="188271088"/>
                  </a:lnTo>
                  <a:close/>
                  <a:moveTo>
                    <a:pt x="598660686" y="0"/>
                  </a:moveTo>
                  <a:lnTo>
                    <a:pt x="598805496" y="0"/>
                  </a:lnTo>
                  <a:lnTo>
                    <a:pt x="598805496" y="144780"/>
                  </a:lnTo>
                  <a:lnTo>
                    <a:pt x="598660686" y="144780"/>
                  </a:lnTo>
                  <a:lnTo>
                    <a:pt x="59866068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98660686" y="0"/>
                  </a:lnTo>
                  <a:lnTo>
                    <a:pt x="59866068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57460" y="7191103"/>
            <a:ext cx="4134395" cy="2411730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15536177" y="1159058"/>
            <a:ext cx="1431322" cy="1441808"/>
          </a:xfrm>
          <a:custGeom>
            <a:avLst/>
            <a:gdLst/>
            <a:ahLst/>
            <a:cxnLst/>
            <a:rect r="r" b="b" t="t" l="l"/>
            <a:pathLst>
              <a:path h="1441808" w="1431322">
                <a:moveTo>
                  <a:pt x="0" y="0"/>
                </a:moveTo>
                <a:lnTo>
                  <a:pt x="1431323" y="0"/>
                </a:lnTo>
                <a:lnTo>
                  <a:pt x="1431323" y="1441808"/>
                </a:lnTo>
                <a:lnTo>
                  <a:pt x="0" y="1441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96935" y="2247927"/>
            <a:ext cx="1099266" cy="1132203"/>
          </a:xfrm>
          <a:custGeom>
            <a:avLst/>
            <a:gdLst/>
            <a:ahLst/>
            <a:cxnLst/>
            <a:rect r="r" b="b" t="t" l="l"/>
            <a:pathLst>
              <a:path h="1132203" w="1099266">
                <a:moveTo>
                  <a:pt x="0" y="0"/>
                </a:moveTo>
                <a:lnTo>
                  <a:pt x="1099266" y="0"/>
                </a:lnTo>
                <a:lnTo>
                  <a:pt x="1099266" y="1132202"/>
                </a:lnTo>
                <a:lnTo>
                  <a:pt x="0" y="1132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848376" y="2700540"/>
            <a:ext cx="883125" cy="883125"/>
          </a:xfrm>
          <a:custGeom>
            <a:avLst/>
            <a:gdLst/>
            <a:ahLst/>
            <a:cxnLst/>
            <a:rect r="r" b="b" t="t" l="l"/>
            <a:pathLst>
              <a:path h="883125" w="883125">
                <a:moveTo>
                  <a:pt x="0" y="0"/>
                </a:moveTo>
                <a:lnTo>
                  <a:pt x="883125" y="0"/>
                </a:lnTo>
                <a:lnTo>
                  <a:pt x="883125" y="883125"/>
                </a:lnTo>
                <a:lnTo>
                  <a:pt x="0" y="88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1799" y="4104729"/>
            <a:ext cx="13104402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A ESTATÍSTICA É UTILIZADA PARA EXTRAIR INFORMAÇÕES DE </a:t>
            </a:r>
            <a:r>
              <a:rPr lang="en-US" sz="3200">
                <a:solidFill>
                  <a:srgbClr val="FF3131"/>
                </a:solidFill>
                <a:latin typeface="Capriola"/>
                <a:ea typeface="Capriola"/>
                <a:cs typeface="Capriola"/>
                <a:sym typeface="Capriola"/>
              </a:rPr>
              <a:t>CONJUNTOS DE DADOS</a:t>
            </a: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, BUSCANDO ENTENDER PADRÕES, FAZER INFERÊNCIAS, TOMAR DECISÕES E REALIZAR PREVISÕES...</a:t>
            </a:r>
          </a:p>
          <a:p>
            <a:pPr algn="l">
              <a:lnSpc>
                <a:spcPts val="448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3645401" y="5526177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2A1E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88900" y="31750"/>
              <a:ext cx="635000" cy="692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FFFFFF"/>
                  </a:solidFill>
                  <a:latin typeface="Capriola"/>
                  <a:ea typeface="Capriola"/>
                  <a:cs typeface="Capriola"/>
                  <a:sym typeface="Capriola"/>
                </a:rPr>
                <a:t>MAS DE ONDE VEM ESTES DADOS?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18348" y="1514475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RELEMBRANDO...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A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1733" y="2694214"/>
            <a:ext cx="15063830" cy="6188340"/>
            <a:chOff x="0" y="0"/>
            <a:chExt cx="660891687" cy="2714994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60746908" cy="271354714"/>
            </a:xfrm>
            <a:custGeom>
              <a:avLst/>
              <a:gdLst/>
              <a:ahLst/>
              <a:cxnLst/>
              <a:rect r="r" b="b" t="t" l="l"/>
              <a:pathLst>
                <a:path h="271354714" w="660746908">
                  <a:moveTo>
                    <a:pt x="0" y="0"/>
                  </a:moveTo>
                  <a:lnTo>
                    <a:pt x="660746908" y="0"/>
                  </a:lnTo>
                  <a:lnTo>
                    <a:pt x="660746908" y="271354714"/>
                  </a:lnTo>
                  <a:lnTo>
                    <a:pt x="0" y="2713547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891679" cy="271499484"/>
            </a:xfrm>
            <a:custGeom>
              <a:avLst/>
              <a:gdLst/>
              <a:ahLst/>
              <a:cxnLst/>
              <a:rect r="r" b="b" t="t" l="l"/>
              <a:pathLst>
                <a:path h="271499484" w="660891679">
                  <a:moveTo>
                    <a:pt x="660746918" y="271354724"/>
                  </a:moveTo>
                  <a:lnTo>
                    <a:pt x="660891679" y="271354724"/>
                  </a:lnTo>
                  <a:lnTo>
                    <a:pt x="660891679" y="271499484"/>
                  </a:lnTo>
                  <a:lnTo>
                    <a:pt x="660746918" y="271499484"/>
                  </a:lnTo>
                  <a:lnTo>
                    <a:pt x="660746918" y="2713547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71354724"/>
                  </a:lnTo>
                  <a:lnTo>
                    <a:pt x="0" y="271354724"/>
                  </a:lnTo>
                  <a:lnTo>
                    <a:pt x="0" y="144780"/>
                  </a:lnTo>
                  <a:close/>
                  <a:moveTo>
                    <a:pt x="0" y="271354724"/>
                  </a:moveTo>
                  <a:lnTo>
                    <a:pt x="144780" y="271354724"/>
                  </a:lnTo>
                  <a:lnTo>
                    <a:pt x="144780" y="271499484"/>
                  </a:lnTo>
                  <a:lnTo>
                    <a:pt x="0" y="271499484"/>
                  </a:lnTo>
                  <a:lnTo>
                    <a:pt x="0" y="271354724"/>
                  </a:lnTo>
                  <a:close/>
                  <a:moveTo>
                    <a:pt x="660746918" y="144780"/>
                  </a:moveTo>
                  <a:lnTo>
                    <a:pt x="660891679" y="144780"/>
                  </a:lnTo>
                  <a:lnTo>
                    <a:pt x="660891679" y="271354724"/>
                  </a:lnTo>
                  <a:lnTo>
                    <a:pt x="660746918" y="271354724"/>
                  </a:lnTo>
                  <a:lnTo>
                    <a:pt x="660746918" y="144780"/>
                  </a:lnTo>
                  <a:close/>
                  <a:moveTo>
                    <a:pt x="144780" y="271354724"/>
                  </a:moveTo>
                  <a:lnTo>
                    <a:pt x="660746918" y="271354724"/>
                  </a:lnTo>
                  <a:lnTo>
                    <a:pt x="660746918" y="271499484"/>
                  </a:lnTo>
                  <a:lnTo>
                    <a:pt x="144780" y="271499484"/>
                  </a:lnTo>
                  <a:lnTo>
                    <a:pt x="144780" y="271354724"/>
                  </a:lnTo>
                  <a:close/>
                  <a:moveTo>
                    <a:pt x="660746918" y="0"/>
                  </a:moveTo>
                  <a:lnTo>
                    <a:pt x="660891679" y="0"/>
                  </a:lnTo>
                  <a:lnTo>
                    <a:pt x="660891679" y="144780"/>
                  </a:lnTo>
                  <a:lnTo>
                    <a:pt x="660746918" y="144780"/>
                  </a:lnTo>
                  <a:lnTo>
                    <a:pt x="66074691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60746918" y="0"/>
                  </a:lnTo>
                  <a:lnTo>
                    <a:pt x="66074691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8348" y="1160689"/>
            <a:ext cx="1624095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POPULAÇÃO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68999">
            <a:off x="803456" y="844753"/>
            <a:ext cx="1820531" cy="1539176"/>
          </a:xfrm>
          <a:custGeom>
            <a:avLst/>
            <a:gdLst/>
            <a:ahLst/>
            <a:cxnLst/>
            <a:rect r="r" b="b" t="t" l="l"/>
            <a:pathLst>
              <a:path h="1539176" w="1820531">
                <a:moveTo>
                  <a:pt x="0" y="0"/>
                </a:moveTo>
                <a:lnTo>
                  <a:pt x="1820531" y="0"/>
                </a:lnTo>
                <a:lnTo>
                  <a:pt x="1820531" y="1539177"/>
                </a:lnTo>
                <a:lnTo>
                  <a:pt x="0" y="1539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47513" y="4524507"/>
            <a:ext cx="12683580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DEFINE-SE UMA CARACTERÍSTICA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47513" y="5788611"/>
            <a:ext cx="12683580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SÃO TODOS AQUELES QUE POSSUEM ESSA CARACTERÍSTICA EM COMUM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47513" y="7499936"/>
            <a:ext cx="12683580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VAMOS CRIAR ALGUNS EXEMPLOS...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905844" y="3667441"/>
            <a:ext cx="14089352" cy="4432840"/>
            <a:chOff x="0" y="0"/>
            <a:chExt cx="2402786" cy="7559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02786" cy="755973"/>
            </a:xfrm>
            <a:custGeom>
              <a:avLst/>
              <a:gdLst/>
              <a:ahLst/>
              <a:cxnLst/>
              <a:rect r="r" b="b" t="t" l="l"/>
              <a:pathLst>
                <a:path h="755973" w="2402786">
                  <a:moveTo>
                    <a:pt x="2323368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676555"/>
                  </a:lnTo>
                  <a:cubicBezTo>
                    <a:pt x="43699" y="676555"/>
                    <a:pt x="79418" y="711894"/>
                    <a:pt x="79418" y="755973"/>
                  </a:cubicBezTo>
                  <a:lnTo>
                    <a:pt x="2323368" y="755973"/>
                  </a:lnTo>
                  <a:cubicBezTo>
                    <a:pt x="2323368" y="712273"/>
                    <a:pt x="2358707" y="676555"/>
                    <a:pt x="2402786" y="676555"/>
                  </a:cubicBezTo>
                  <a:lnTo>
                    <a:pt x="2402786" y="79418"/>
                  </a:lnTo>
                  <a:cubicBezTo>
                    <a:pt x="2359087" y="79418"/>
                    <a:pt x="2323368" y="44079"/>
                    <a:pt x="232336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3A5D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38100" y="-28575"/>
              <a:ext cx="2326586" cy="74644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5040"/>
                </a:lnSpc>
              </a:pPr>
              <a:r>
                <a:rPr lang="en-US" sz="3600">
                  <a:solidFill>
                    <a:srgbClr val="004AAD"/>
                  </a:solidFill>
                  <a:latin typeface="Fredoka"/>
                  <a:ea typeface="Fredoka"/>
                  <a:cs typeface="Fredoka"/>
                  <a:sym typeface="Fredoka"/>
                </a:rPr>
                <a:t>ANOTEM NO CADERNO:</a:t>
              </a:r>
            </a:p>
            <a:p>
              <a:pPr algn="just">
                <a:lnSpc>
                  <a:spcPts val="5040"/>
                </a:lnSpc>
              </a:pPr>
            </a:p>
            <a:p>
              <a:pPr algn="just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004AAD"/>
                  </a:solidFill>
                  <a:latin typeface="Fredoka"/>
                  <a:ea typeface="Fredoka"/>
                  <a:cs typeface="Fredoka"/>
                  <a:sym typeface="Fredoka"/>
                </a:rPr>
                <a:t>POPULAÇÃO É O CONJUNTO DE ELEMENTOS E/OU INDIVIDUOS QUE POSSUEM AO MENOS UMA CARACTERÍSTICA OBSERVÁVEL EM COMUM. POPULAÇÃO TAMBÉM RECEBE O NOME DE </a:t>
              </a:r>
              <a:r>
                <a:rPr lang="en-US" sz="3600">
                  <a:solidFill>
                    <a:srgbClr val="FF3131"/>
                  </a:solidFill>
                  <a:latin typeface="Fredoka"/>
                  <a:ea typeface="Fredoka"/>
                  <a:cs typeface="Fredoka"/>
                  <a:sym typeface="Fredoka"/>
                </a:rPr>
                <a:t>UNIVERSO ESTATÍSTICO</a:t>
              </a:r>
              <a:r>
                <a:rPr lang="en-US" sz="3600">
                  <a:solidFill>
                    <a:srgbClr val="004AAD"/>
                  </a:solidFill>
                  <a:latin typeface="Fredoka"/>
                  <a:ea typeface="Fredoka"/>
                  <a:cs typeface="Fredoka"/>
                  <a:sym typeface="Fredok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38656" y="3589380"/>
            <a:ext cx="14410688" cy="4648385"/>
            <a:chOff x="0" y="0"/>
            <a:chExt cx="632236513" cy="203937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32091740" cy="203792648"/>
            </a:xfrm>
            <a:custGeom>
              <a:avLst/>
              <a:gdLst/>
              <a:ahLst/>
              <a:cxnLst/>
              <a:rect r="r" b="b" t="t" l="l"/>
              <a:pathLst>
                <a:path h="203792648" w="632091740">
                  <a:moveTo>
                    <a:pt x="0" y="0"/>
                  </a:moveTo>
                  <a:lnTo>
                    <a:pt x="632091740" y="0"/>
                  </a:lnTo>
                  <a:lnTo>
                    <a:pt x="632091740" y="203792648"/>
                  </a:lnTo>
                  <a:lnTo>
                    <a:pt x="0" y="203792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2236510" cy="203937419"/>
            </a:xfrm>
            <a:custGeom>
              <a:avLst/>
              <a:gdLst/>
              <a:ahLst/>
              <a:cxnLst/>
              <a:rect r="r" b="b" t="t" l="l"/>
              <a:pathLst>
                <a:path h="203937419" w="632236510">
                  <a:moveTo>
                    <a:pt x="632091750" y="203792646"/>
                  </a:moveTo>
                  <a:lnTo>
                    <a:pt x="632236510" y="203792646"/>
                  </a:lnTo>
                  <a:lnTo>
                    <a:pt x="632236510" y="203937419"/>
                  </a:lnTo>
                  <a:lnTo>
                    <a:pt x="632091750" y="203937419"/>
                  </a:lnTo>
                  <a:lnTo>
                    <a:pt x="632091750" y="20379264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03792646"/>
                  </a:lnTo>
                  <a:lnTo>
                    <a:pt x="0" y="203792646"/>
                  </a:lnTo>
                  <a:lnTo>
                    <a:pt x="0" y="144780"/>
                  </a:lnTo>
                  <a:close/>
                  <a:moveTo>
                    <a:pt x="0" y="203792646"/>
                  </a:moveTo>
                  <a:lnTo>
                    <a:pt x="144780" y="203792646"/>
                  </a:lnTo>
                  <a:lnTo>
                    <a:pt x="144780" y="203937419"/>
                  </a:lnTo>
                  <a:lnTo>
                    <a:pt x="0" y="203937419"/>
                  </a:lnTo>
                  <a:lnTo>
                    <a:pt x="0" y="203792646"/>
                  </a:lnTo>
                  <a:close/>
                  <a:moveTo>
                    <a:pt x="632091750" y="144780"/>
                  </a:moveTo>
                  <a:lnTo>
                    <a:pt x="632236510" y="144780"/>
                  </a:lnTo>
                  <a:lnTo>
                    <a:pt x="632236510" y="203792646"/>
                  </a:lnTo>
                  <a:lnTo>
                    <a:pt x="632091750" y="203792646"/>
                  </a:lnTo>
                  <a:lnTo>
                    <a:pt x="632091750" y="144780"/>
                  </a:lnTo>
                  <a:close/>
                  <a:moveTo>
                    <a:pt x="144780" y="203792646"/>
                  </a:moveTo>
                  <a:lnTo>
                    <a:pt x="632091750" y="203792646"/>
                  </a:lnTo>
                  <a:lnTo>
                    <a:pt x="632091750" y="203937419"/>
                  </a:lnTo>
                  <a:lnTo>
                    <a:pt x="144780" y="203937419"/>
                  </a:lnTo>
                  <a:lnTo>
                    <a:pt x="144780" y="203792646"/>
                  </a:lnTo>
                  <a:close/>
                  <a:moveTo>
                    <a:pt x="632091750" y="0"/>
                  </a:moveTo>
                  <a:lnTo>
                    <a:pt x="632236510" y="0"/>
                  </a:lnTo>
                  <a:lnTo>
                    <a:pt x="632236510" y="144780"/>
                  </a:lnTo>
                  <a:lnTo>
                    <a:pt x="632091750" y="144780"/>
                  </a:lnTo>
                  <a:lnTo>
                    <a:pt x="63209175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32091750" y="0"/>
                  </a:lnTo>
                  <a:lnTo>
                    <a:pt x="63209175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876368" y="1510911"/>
            <a:ext cx="1934975" cy="1591517"/>
          </a:xfrm>
          <a:custGeom>
            <a:avLst/>
            <a:gdLst/>
            <a:ahLst/>
            <a:cxnLst/>
            <a:rect r="r" b="b" t="t" l="l"/>
            <a:pathLst>
              <a:path h="1591517" w="1934975">
                <a:moveTo>
                  <a:pt x="0" y="0"/>
                </a:moveTo>
                <a:lnTo>
                  <a:pt x="1934975" y="0"/>
                </a:lnTo>
                <a:lnTo>
                  <a:pt x="1934975" y="1591518"/>
                </a:lnTo>
                <a:lnTo>
                  <a:pt x="0" y="1591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91799" y="3930150"/>
            <a:ext cx="13104402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E sobre população ainda podemos analisar que: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O ideal é que se levante os dados de TODOS os indivíduos;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568904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POPULAÇÃO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591799" y="5591944"/>
            <a:ext cx="13104402" cy="2447768"/>
            <a:chOff x="0" y="0"/>
            <a:chExt cx="17472536" cy="32636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0863831" y="1099261"/>
              <a:ext cx="2717891" cy="2164430"/>
            </a:xfrm>
            <a:custGeom>
              <a:avLst/>
              <a:gdLst/>
              <a:ahLst/>
              <a:cxnLst/>
              <a:rect r="r" b="b" t="t" l="l"/>
              <a:pathLst>
                <a:path h="2164430" w="2717891">
                  <a:moveTo>
                    <a:pt x="0" y="0"/>
                  </a:moveTo>
                  <a:lnTo>
                    <a:pt x="2717891" y="0"/>
                  </a:lnTo>
                  <a:lnTo>
                    <a:pt x="2717891" y="2164430"/>
                  </a:lnTo>
                  <a:lnTo>
                    <a:pt x="0" y="2164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891940" y="1099261"/>
              <a:ext cx="2717891" cy="2164430"/>
            </a:xfrm>
            <a:custGeom>
              <a:avLst/>
              <a:gdLst/>
              <a:ahLst/>
              <a:cxnLst/>
              <a:rect r="r" b="b" t="t" l="l"/>
              <a:pathLst>
                <a:path h="2164430" w="2717891">
                  <a:moveTo>
                    <a:pt x="0" y="0"/>
                  </a:moveTo>
                  <a:lnTo>
                    <a:pt x="2717891" y="0"/>
                  </a:lnTo>
                  <a:lnTo>
                    <a:pt x="2717891" y="2164430"/>
                  </a:lnTo>
                  <a:lnTo>
                    <a:pt x="0" y="2164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752411" y="965760"/>
              <a:ext cx="2885529" cy="2297931"/>
            </a:xfrm>
            <a:custGeom>
              <a:avLst/>
              <a:gdLst/>
              <a:ahLst/>
              <a:cxnLst/>
              <a:rect r="r" b="b" t="t" l="l"/>
              <a:pathLst>
                <a:path h="2297931" w="2885529">
                  <a:moveTo>
                    <a:pt x="0" y="0"/>
                  </a:moveTo>
                  <a:lnTo>
                    <a:pt x="2885529" y="0"/>
                  </a:lnTo>
                  <a:lnTo>
                    <a:pt x="2885529" y="2297931"/>
                  </a:lnTo>
                  <a:lnTo>
                    <a:pt x="0" y="2297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659888" y="982714"/>
              <a:ext cx="2842953" cy="2264024"/>
            </a:xfrm>
            <a:custGeom>
              <a:avLst/>
              <a:gdLst/>
              <a:ahLst/>
              <a:cxnLst/>
              <a:rect r="r" b="b" t="t" l="l"/>
              <a:pathLst>
                <a:path h="2264024" w="2842953">
                  <a:moveTo>
                    <a:pt x="0" y="0"/>
                  </a:moveTo>
                  <a:lnTo>
                    <a:pt x="2842953" y="0"/>
                  </a:lnTo>
                  <a:lnTo>
                    <a:pt x="2842953" y="2264024"/>
                  </a:lnTo>
                  <a:lnTo>
                    <a:pt x="0" y="2264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835722" y="1032511"/>
              <a:ext cx="2717891" cy="2164430"/>
            </a:xfrm>
            <a:custGeom>
              <a:avLst/>
              <a:gdLst/>
              <a:ahLst/>
              <a:cxnLst/>
              <a:rect r="r" b="b" t="t" l="l"/>
              <a:pathLst>
                <a:path h="2164430" w="2717891">
                  <a:moveTo>
                    <a:pt x="0" y="0"/>
                  </a:moveTo>
                  <a:lnTo>
                    <a:pt x="2717892" y="0"/>
                  </a:lnTo>
                  <a:lnTo>
                    <a:pt x="2717892" y="2164430"/>
                  </a:lnTo>
                  <a:lnTo>
                    <a:pt x="0" y="2164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17472536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00" strike="noStrike" u="none">
                  <a:solidFill>
                    <a:srgbClr val="000000"/>
                  </a:solidFill>
                  <a:latin typeface="Capriola"/>
                  <a:ea typeface="Capriola"/>
                  <a:cs typeface="Capriola"/>
                  <a:sym typeface="Capriola"/>
                </a:rPr>
                <a:t>É sempre viável?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168999">
            <a:off x="803456" y="844753"/>
            <a:ext cx="1820531" cy="1539176"/>
          </a:xfrm>
          <a:custGeom>
            <a:avLst/>
            <a:gdLst/>
            <a:ahLst/>
            <a:cxnLst/>
            <a:rect r="r" b="b" t="t" l="l"/>
            <a:pathLst>
              <a:path h="1539176" w="1820531">
                <a:moveTo>
                  <a:pt x="0" y="0"/>
                </a:moveTo>
                <a:lnTo>
                  <a:pt x="1820531" y="0"/>
                </a:lnTo>
                <a:lnTo>
                  <a:pt x="1820531" y="1539177"/>
                </a:lnTo>
                <a:lnTo>
                  <a:pt x="0" y="1539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41B8D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33054" y="2803071"/>
            <a:ext cx="14601188" cy="6147801"/>
            <a:chOff x="0" y="0"/>
            <a:chExt cx="640594272" cy="2697209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40449481" cy="269576193"/>
            </a:xfrm>
            <a:custGeom>
              <a:avLst/>
              <a:gdLst/>
              <a:ahLst/>
              <a:cxnLst/>
              <a:rect r="r" b="b" t="t" l="l"/>
              <a:pathLst>
                <a:path h="269576193" w="640449481">
                  <a:moveTo>
                    <a:pt x="0" y="0"/>
                  </a:moveTo>
                  <a:lnTo>
                    <a:pt x="640449481" y="0"/>
                  </a:lnTo>
                  <a:lnTo>
                    <a:pt x="640449481" y="269576193"/>
                  </a:lnTo>
                  <a:lnTo>
                    <a:pt x="0" y="269576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594251" cy="269720963"/>
            </a:xfrm>
            <a:custGeom>
              <a:avLst/>
              <a:gdLst/>
              <a:ahLst/>
              <a:cxnLst/>
              <a:rect r="r" b="b" t="t" l="l"/>
              <a:pathLst>
                <a:path h="269720963" w="640594251">
                  <a:moveTo>
                    <a:pt x="640449491" y="269576178"/>
                  </a:moveTo>
                  <a:lnTo>
                    <a:pt x="640594251" y="269576178"/>
                  </a:lnTo>
                  <a:lnTo>
                    <a:pt x="640594251" y="269720963"/>
                  </a:lnTo>
                  <a:lnTo>
                    <a:pt x="640449491" y="269720963"/>
                  </a:lnTo>
                  <a:lnTo>
                    <a:pt x="640449491" y="2695761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69576178"/>
                  </a:lnTo>
                  <a:lnTo>
                    <a:pt x="0" y="269576178"/>
                  </a:lnTo>
                  <a:lnTo>
                    <a:pt x="0" y="144780"/>
                  </a:lnTo>
                  <a:close/>
                  <a:moveTo>
                    <a:pt x="0" y="269576178"/>
                  </a:moveTo>
                  <a:lnTo>
                    <a:pt x="144780" y="269576178"/>
                  </a:lnTo>
                  <a:lnTo>
                    <a:pt x="144780" y="269720963"/>
                  </a:lnTo>
                  <a:lnTo>
                    <a:pt x="0" y="269720963"/>
                  </a:lnTo>
                  <a:lnTo>
                    <a:pt x="0" y="269576178"/>
                  </a:lnTo>
                  <a:close/>
                  <a:moveTo>
                    <a:pt x="640449491" y="144780"/>
                  </a:moveTo>
                  <a:lnTo>
                    <a:pt x="640594251" y="144780"/>
                  </a:lnTo>
                  <a:lnTo>
                    <a:pt x="640594251" y="269576178"/>
                  </a:lnTo>
                  <a:lnTo>
                    <a:pt x="640449491" y="269576178"/>
                  </a:lnTo>
                  <a:lnTo>
                    <a:pt x="640449491" y="144780"/>
                  </a:lnTo>
                  <a:close/>
                  <a:moveTo>
                    <a:pt x="144780" y="269576178"/>
                  </a:moveTo>
                  <a:lnTo>
                    <a:pt x="640449491" y="269576178"/>
                  </a:lnTo>
                  <a:lnTo>
                    <a:pt x="640449491" y="269720963"/>
                  </a:lnTo>
                  <a:lnTo>
                    <a:pt x="144780" y="269720963"/>
                  </a:lnTo>
                  <a:lnTo>
                    <a:pt x="144780" y="269576178"/>
                  </a:lnTo>
                  <a:close/>
                  <a:moveTo>
                    <a:pt x="640449491" y="0"/>
                  </a:moveTo>
                  <a:lnTo>
                    <a:pt x="640594251" y="0"/>
                  </a:lnTo>
                  <a:lnTo>
                    <a:pt x="640594251" y="144780"/>
                  </a:lnTo>
                  <a:lnTo>
                    <a:pt x="640449491" y="144780"/>
                  </a:lnTo>
                  <a:lnTo>
                    <a:pt x="64044949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40449491" y="0"/>
                  </a:lnTo>
                  <a:lnTo>
                    <a:pt x="64044949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81447" y="3050587"/>
            <a:ext cx="13104402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CENSO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CENSO É LEVANTAR OS DADOS DE TODOS.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Vantagem: Informações precisas e detalhadas.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priola"/>
                <a:ea typeface="Capriola"/>
                <a:cs typeface="Capriola"/>
                <a:sym typeface="Capriola"/>
              </a:rPr>
              <a:t>Desvantagem: Caros e demorados.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68792" y="7188882"/>
            <a:ext cx="1924664" cy="1907167"/>
          </a:xfrm>
          <a:custGeom>
            <a:avLst/>
            <a:gdLst/>
            <a:ahLst/>
            <a:cxnLst/>
            <a:rect r="r" b="b" t="t" l="l"/>
            <a:pathLst>
              <a:path h="1907167" w="1924664">
                <a:moveTo>
                  <a:pt x="0" y="0"/>
                </a:moveTo>
                <a:lnTo>
                  <a:pt x="1924664" y="0"/>
                </a:lnTo>
                <a:lnTo>
                  <a:pt x="1924664" y="1907167"/>
                </a:lnTo>
                <a:lnTo>
                  <a:pt x="0" y="190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57439" y="6717337"/>
            <a:ext cx="1618670" cy="1609841"/>
          </a:xfrm>
          <a:custGeom>
            <a:avLst/>
            <a:gdLst/>
            <a:ahLst/>
            <a:cxnLst/>
            <a:rect r="r" b="b" t="t" l="l"/>
            <a:pathLst>
              <a:path h="1609841" w="1618670">
                <a:moveTo>
                  <a:pt x="0" y="0"/>
                </a:moveTo>
                <a:lnTo>
                  <a:pt x="1618670" y="0"/>
                </a:lnTo>
                <a:lnTo>
                  <a:pt x="1618670" y="1609841"/>
                </a:lnTo>
                <a:lnTo>
                  <a:pt x="0" y="1609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74467" y="7012798"/>
            <a:ext cx="1482972" cy="1469491"/>
          </a:xfrm>
          <a:custGeom>
            <a:avLst/>
            <a:gdLst/>
            <a:ahLst/>
            <a:cxnLst/>
            <a:rect r="r" b="b" t="t" l="l"/>
            <a:pathLst>
              <a:path h="1469491" w="1482972">
                <a:moveTo>
                  <a:pt x="0" y="0"/>
                </a:moveTo>
                <a:lnTo>
                  <a:pt x="1482972" y="0"/>
                </a:lnTo>
                <a:lnTo>
                  <a:pt x="1482972" y="1469491"/>
                </a:lnTo>
                <a:lnTo>
                  <a:pt x="0" y="14694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18348" y="1051832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COLETA DE DADOS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15650" y="3107737"/>
            <a:ext cx="14065620" cy="5514161"/>
            <a:chOff x="0" y="0"/>
            <a:chExt cx="2386410" cy="9355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86410" cy="935547"/>
            </a:xfrm>
            <a:custGeom>
              <a:avLst/>
              <a:gdLst/>
              <a:ahLst/>
              <a:cxnLst/>
              <a:rect r="r" b="b" t="t" l="l"/>
              <a:pathLst>
                <a:path h="935547" w="2386410">
                  <a:moveTo>
                    <a:pt x="230699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856129"/>
                  </a:lnTo>
                  <a:cubicBezTo>
                    <a:pt x="43699" y="856129"/>
                    <a:pt x="79418" y="891468"/>
                    <a:pt x="79418" y="935547"/>
                  </a:cubicBezTo>
                  <a:lnTo>
                    <a:pt x="2306992" y="935547"/>
                  </a:lnTo>
                  <a:cubicBezTo>
                    <a:pt x="2306992" y="891848"/>
                    <a:pt x="2342331" y="856129"/>
                    <a:pt x="2386410" y="856129"/>
                  </a:cubicBezTo>
                  <a:lnTo>
                    <a:pt x="2386410" y="79418"/>
                  </a:lnTo>
                  <a:cubicBezTo>
                    <a:pt x="2342711" y="79418"/>
                    <a:pt x="2306992" y="44079"/>
                    <a:pt x="23069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3A5D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38100" y="-28575"/>
              <a:ext cx="2310210" cy="92602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5040"/>
                </a:lnSpc>
              </a:pPr>
              <a:r>
                <a:rPr lang="en-US" sz="3600">
                  <a:solidFill>
                    <a:srgbClr val="004AAD"/>
                  </a:solidFill>
                  <a:latin typeface="Fredoka"/>
                  <a:ea typeface="Fredoka"/>
                  <a:cs typeface="Fredoka"/>
                  <a:sym typeface="Fredoka"/>
                </a:rPr>
                <a:t>ANOTEM NO CADERNO:</a:t>
              </a:r>
            </a:p>
            <a:p>
              <a:pPr algn="just">
                <a:lnSpc>
                  <a:spcPts val="5040"/>
                </a:lnSpc>
              </a:pPr>
            </a:p>
            <a:p>
              <a:pPr algn="just">
                <a:lnSpc>
                  <a:spcPts val="5040"/>
                </a:lnSpc>
              </a:pPr>
              <a:r>
                <a:rPr lang="en-US" sz="3600">
                  <a:solidFill>
                    <a:srgbClr val="004AAD"/>
                  </a:solidFill>
                  <a:latin typeface="Fredoka"/>
                  <a:ea typeface="Fredoka"/>
                  <a:cs typeface="Fredoka"/>
                  <a:sym typeface="Fredoka"/>
                </a:rPr>
                <a:t>CENSO É A COLETA DOS DADOS DE TODOS OS ELEMENTOS DE UMA POPULAÇÃO. E TEM COMO OBJETIVO OBTER INFORMAÇÕES PRECISAS E DETALHADAS SOBRE A POPULAÇÃO.</a:t>
              </a:r>
            </a:p>
            <a:p>
              <a:pPr algn="just" marL="0" indent="0" lvl="0">
                <a:lnSpc>
                  <a:spcPts val="50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7304" y="3231624"/>
            <a:ext cx="11444330" cy="5524093"/>
            <a:chOff x="0" y="0"/>
            <a:chExt cx="502094263" cy="242357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501949482" cy="242212406"/>
            </a:xfrm>
            <a:custGeom>
              <a:avLst/>
              <a:gdLst/>
              <a:ahLst/>
              <a:cxnLst/>
              <a:rect r="r" b="b" t="t" l="l"/>
              <a:pathLst>
                <a:path h="242212406" w="501949482">
                  <a:moveTo>
                    <a:pt x="0" y="0"/>
                  </a:moveTo>
                  <a:lnTo>
                    <a:pt x="501949482" y="0"/>
                  </a:lnTo>
                  <a:lnTo>
                    <a:pt x="501949482" y="242212406"/>
                  </a:lnTo>
                  <a:lnTo>
                    <a:pt x="0" y="242212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094252" cy="242357176"/>
            </a:xfrm>
            <a:custGeom>
              <a:avLst/>
              <a:gdLst/>
              <a:ahLst/>
              <a:cxnLst/>
              <a:rect r="r" b="b" t="t" l="l"/>
              <a:pathLst>
                <a:path h="242357176" w="502094252">
                  <a:moveTo>
                    <a:pt x="501949492" y="242212391"/>
                  </a:moveTo>
                  <a:lnTo>
                    <a:pt x="502094252" y="242212391"/>
                  </a:lnTo>
                  <a:lnTo>
                    <a:pt x="502094252" y="242357176"/>
                  </a:lnTo>
                  <a:lnTo>
                    <a:pt x="501949492" y="242357176"/>
                  </a:lnTo>
                  <a:lnTo>
                    <a:pt x="501949492" y="24221239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42212391"/>
                  </a:lnTo>
                  <a:lnTo>
                    <a:pt x="0" y="242212391"/>
                  </a:lnTo>
                  <a:lnTo>
                    <a:pt x="0" y="144780"/>
                  </a:lnTo>
                  <a:close/>
                  <a:moveTo>
                    <a:pt x="0" y="242212391"/>
                  </a:moveTo>
                  <a:lnTo>
                    <a:pt x="144780" y="242212391"/>
                  </a:lnTo>
                  <a:lnTo>
                    <a:pt x="144780" y="242357176"/>
                  </a:lnTo>
                  <a:lnTo>
                    <a:pt x="0" y="242357176"/>
                  </a:lnTo>
                  <a:lnTo>
                    <a:pt x="0" y="242212391"/>
                  </a:lnTo>
                  <a:close/>
                  <a:moveTo>
                    <a:pt x="501949492" y="144780"/>
                  </a:moveTo>
                  <a:lnTo>
                    <a:pt x="502094252" y="144780"/>
                  </a:lnTo>
                  <a:lnTo>
                    <a:pt x="502094252" y="242212391"/>
                  </a:lnTo>
                  <a:lnTo>
                    <a:pt x="501949492" y="242212391"/>
                  </a:lnTo>
                  <a:lnTo>
                    <a:pt x="501949492" y="144780"/>
                  </a:lnTo>
                  <a:close/>
                  <a:moveTo>
                    <a:pt x="144780" y="242212391"/>
                  </a:moveTo>
                  <a:lnTo>
                    <a:pt x="501949492" y="242212391"/>
                  </a:lnTo>
                  <a:lnTo>
                    <a:pt x="501949492" y="242357176"/>
                  </a:lnTo>
                  <a:lnTo>
                    <a:pt x="144780" y="242357176"/>
                  </a:lnTo>
                  <a:lnTo>
                    <a:pt x="144780" y="242212391"/>
                  </a:lnTo>
                  <a:close/>
                  <a:moveTo>
                    <a:pt x="501949492" y="0"/>
                  </a:moveTo>
                  <a:lnTo>
                    <a:pt x="502094252" y="0"/>
                  </a:lnTo>
                  <a:lnTo>
                    <a:pt x="502094252" y="144780"/>
                  </a:lnTo>
                  <a:lnTo>
                    <a:pt x="501949492" y="144780"/>
                  </a:lnTo>
                  <a:lnTo>
                    <a:pt x="50194949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01949492" y="0"/>
                  </a:lnTo>
                  <a:lnTo>
                    <a:pt x="50194949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28304" y="3880609"/>
            <a:ext cx="10682330" cy="432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AMOSTRA</a:t>
            </a:r>
          </a:p>
          <a:p>
            <a:pPr algn="l">
              <a:lnSpc>
                <a:spcPts val="4340"/>
              </a:lnSpc>
            </a:pP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AMOSTRAGEM É SELECIONAR UMA PARTE MENOR.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Vantagem</a:t>
            </a:r>
            <a:r>
              <a:rPr lang="en-US" sz="31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: Mais rápido, e barato.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Desvantagens:</a:t>
            </a:r>
          </a:p>
          <a:p>
            <a:pPr algn="l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sz="31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Envolve uma margem de erro maior.</a:t>
            </a:r>
          </a:p>
          <a:p>
            <a:pPr algn="l" marL="1338582" indent="-446194" lvl="2">
              <a:lnSpc>
                <a:spcPts val="4340"/>
              </a:lnSpc>
              <a:buFont typeface="Arial"/>
              <a:buChar char="⚬"/>
            </a:pPr>
            <a:r>
              <a:rPr lang="en-US" sz="31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É necessário garantir que o processo de amostragem seja JUSTO.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391984" y="4197038"/>
            <a:ext cx="3508334" cy="3593266"/>
          </a:xfrm>
          <a:custGeom>
            <a:avLst/>
            <a:gdLst/>
            <a:ahLst/>
            <a:cxnLst/>
            <a:rect r="r" b="b" t="t" l="l"/>
            <a:pathLst>
              <a:path h="3593266" w="3508334">
                <a:moveTo>
                  <a:pt x="0" y="0"/>
                </a:moveTo>
                <a:lnTo>
                  <a:pt x="3508334" y="0"/>
                </a:lnTo>
                <a:lnTo>
                  <a:pt x="3508334" y="3593266"/>
                </a:lnTo>
                <a:lnTo>
                  <a:pt x="0" y="3593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806784" y="3293334"/>
            <a:ext cx="5341884" cy="2709085"/>
            <a:chOff x="0" y="0"/>
            <a:chExt cx="1406916" cy="7135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6927" cy="713504"/>
            </a:xfrm>
            <a:custGeom>
              <a:avLst/>
              <a:gdLst/>
              <a:ahLst/>
              <a:cxnLst/>
              <a:rect r="r" b="b" t="t" l="l"/>
              <a:pathLst>
                <a:path h="713504" w="1406927">
                  <a:moveTo>
                    <a:pt x="1114366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7125"/>
                  </a:cubicBezTo>
                  <a:cubicBezTo>
                    <a:pt x="0" y="388473"/>
                    <a:pt x="66279" y="483613"/>
                    <a:pt x="162037" y="527755"/>
                  </a:cubicBezTo>
                  <a:lnTo>
                    <a:pt x="162037" y="713504"/>
                  </a:lnTo>
                  <a:lnTo>
                    <a:pt x="353844" y="554036"/>
                  </a:lnTo>
                  <a:lnTo>
                    <a:pt x="1114366" y="554036"/>
                  </a:lnTo>
                  <a:cubicBezTo>
                    <a:pt x="1280479" y="554036"/>
                    <a:pt x="1406916" y="430524"/>
                    <a:pt x="1406916" y="277114"/>
                  </a:cubicBezTo>
                  <a:cubicBezTo>
                    <a:pt x="1406927" y="123512"/>
                    <a:pt x="1280479" y="0"/>
                    <a:pt x="1114366" y="0"/>
                  </a:cubicBezTo>
                  <a:close/>
                </a:path>
              </a:pathLst>
            </a:custGeom>
            <a:solidFill>
              <a:srgbClr val="5CE1E6"/>
            </a:solidFill>
            <a:ln w="38100" cap="sq">
              <a:solidFill>
                <a:srgbClr val="7AC9F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06916" cy="532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trike="noStrike" u="none">
                  <a:solidFill>
                    <a:srgbClr val="112E3A"/>
                  </a:solidFill>
                  <a:latin typeface="Fredoka"/>
                  <a:ea typeface="Fredoka"/>
                  <a:cs typeface="Fredoka"/>
                  <a:sym typeface="Fredoka"/>
                </a:rPr>
                <a:t>E NÓS VAMOS FAZER O QUE COM ESTES DADOS?</a:t>
              </a: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</a:p>
            <a:p>
              <a:pPr algn="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112E3A"/>
                  </a:solidFill>
                  <a:latin typeface="Fredoka"/>
                  <a:ea typeface="Fredoka"/>
                  <a:cs typeface="Fredoka"/>
                  <a:sym typeface="Fredoka"/>
                </a:rPr>
                <a:t>PRÓXIMA AULA...       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18348" y="1323975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COLETA DE DADOS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70255" y="3425791"/>
            <a:ext cx="11036529" cy="5047931"/>
            <a:chOff x="0" y="0"/>
            <a:chExt cx="2045430" cy="9355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5430" cy="935547"/>
            </a:xfrm>
            <a:custGeom>
              <a:avLst/>
              <a:gdLst/>
              <a:ahLst/>
              <a:cxnLst/>
              <a:rect r="r" b="b" t="t" l="l"/>
              <a:pathLst>
                <a:path h="935547" w="2045430">
                  <a:moveTo>
                    <a:pt x="196601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856129"/>
                  </a:lnTo>
                  <a:cubicBezTo>
                    <a:pt x="43699" y="856129"/>
                    <a:pt x="79418" y="891468"/>
                    <a:pt x="79418" y="935547"/>
                  </a:cubicBezTo>
                  <a:lnTo>
                    <a:pt x="1966012" y="935547"/>
                  </a:lnTo>
                  <a:cubicBezTo>
                    <a:pt x="1966012" y="891848"/>
                    <a:pt x="2001351" y="856129"/>
                    <a:pt x="2045430" y="856129"/>
                  </a:cubicBezTo>
                  <a:lnTo>
                    <a:pt x="2045430" y="79418"/>
                  </a:lnTo>
                  <a:cubicBezTo>
                    <a:pt x="2001731" y="79418"/>
                    <a:pt x="1966012" y="44079"/>
                    <a:pt x="196601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3A5D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38100" y="-28575"/>
              <a:ext cx="1969230" cy="92602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just">
                <a:lnSpc>
                  <a:spcPts val="4900"/>
                </a:lnSpc>
              </a:pPr>
              <a:r>
                <a:rPr lang="en-US" sz="3500">
                  <a:solidFill>
                    <a:srgbClr val="004AAD"/>
                  </a:solidFill>
                  <a:latin typeface="Fredoka"/>
                  <a:ea typeface="Fredoka"/>
                  <a:cs typeface="Fredoka"/>
                  <a:sym typeface="Fredoka"/>
                </a:rPr>
                <a:t>ANOTEM NO CADERNO:</a:t>
              </a:r>
            </a:p>
            <a:p>
              <a:pPr algn="just">
                <a:lnSpc>
                  <a:spcPts val="4900"/>
                </a:lnSpc>
              </a:pPr>
            </a:p>
            <a:p>
              <a:pPr algn="just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4AAD"/>
                  </a:solidFill>
                  <a:latin typeface="Fredoka"/>
                  <a:ea typeface="Fredoka"/>
                  <a:cs typeface="Fredoka"/>
                  <a:sym typeface="Fredoka"/>
                </a:rPr>
                <a:t>AMOSTRA É A COLETA DE DADOS DE UMA PARTE REPRESENTATIVA DA POPULAÇÃO. E TEM COMO OBJETIVO INFERIR CARACTERÍSTICAS DA POPULAÇÃO COM BASE NAS OBSERVAÇÕES DA AMOSTRA.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954" y="677127"/>
            <a:ext cx="17121388" cy="8954103"/>
            <a:chOff x="0" y="0"/>
            <a:chExt cx="285972152" cy="14955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85827381" cy="149412253"/>
            </a:xfrm>
            <a:custGeom>
              <a:avLst/>
              <a:gdLst/>
              <a:ahLst/>
              <a:cxnLst/>
              <a:rect r="r" b="b" t="t" l="l"/>
              <a:pathLst>
                <a:path h="149412253" w="285827381">
                  <a:moveTo>
                    <a:pt x="0" y="0"/>
                  </a:moveTo>
                  <a:lnTo>
                    <a:pt x="285827381" y="0"/>
                  </a:lnTo>
                  <a:lnTo>
                    <a:pt x="285827381" y="149412253"/>
                  </a:lnTo>
                  <a:lnTo>
                    <a:pt x="0" y="149412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72151" cy="149557036"/>
            </a:xfrm>
            <a:custGeom>
              <a:avLst/>
              <a:gdLst/>
              <a:ahLst/>
              <a:cxnLst/>
              <a:rect r="r" b="b" t="t" l="l"/>
              <a:pathLst>
                <a:path h="149557036" w="285972151">
                  <a:moveTo>
                    <a:pt x="285827366" y="149412251"/>
                  </a:moveTo>
                  <a:lnTo>
                    <a:pt x="285972151" y="149412251"/>
                  </a:lnTo>
                  <a:lnTo>
                    <a:pt x="285972151" y="149557036"/>
                  </a:lnTo>
                  <a:lnTo>
                    <a:pt x="285827366" y="149557036"/>
                  </a:lnTo>
                  <a:lnTo>
                    <a:pt x="285827366" y="14941225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9412251"/>
                  </a:lnTo>
                  <a:lnTo>
                    <a:pt x="0" y="149412251"/>
                  </a:lnTo>
                  <a:lnTo>
                    <a:pt x="0" y="144780"/>
                  </a:lnTo>
                  <a:close/>
                  <a:moveTo>
                    <a:pt x="0" y="149412251"/>
                  </a:moveTo>
                  <a:lnTo>
                    <a:pt x="144780" y="149412251"/>
                  </a:lnTo>
                  <a:lnTo>
                    <a:pt x="144780" y="149557036"/>
                  </a:lnTo>
                  <a:lnTo>
                    <a:pt x="0" y="149557036"/>
                  </a:lnTo>
                  <a:lnTo>
                    <a:pt x="0" y="149412251"/>
                  </a:lnTo>
                  <a:close/>
                  <a:moveTo>
                    <a:pt x="285827366" y="144780"/>
                  </a:moveTo>
                  <a:lnTo>
                    <a:pt x="285972151" y="144780"/>
                  </a:lnTo>
                  <a:lnTo>
                    <a:pt x="285972151" y="149412251"/>
                  </a:lnTo>
                  <a:lnTo>
                    <a:pt x="285827366" y="149412251"/>
                  </a:lnTo>
                  <a:lnTo>
                    <a:pt x="285827366" y="144780"/>
                  </a:lnTo>
                  <a:close/>
                  <a:moveTo>
                    <a:pt x="144780" y="149412251"/>
                  </a:moveTo>
                  <a:lnTo>
                    <a:pt x="285827366" y="149412251"/>
                  </a:lnTo>
                  <a:lnTo>
                    <a:pt x="285827366" y="149557036"/>
                  </a:lnTo>
                  <a:lnTo>
                    <a:pt x="144780" y="149557036"/>
                  </a:lnTo>
                  <a:lnTo>
                    <a:pt x="144780" y="149412251"/>
                  </a:lnTo>
                  <a:close/>
                  <a:moveTo>
                    <a:pt x="285827366" y="0"/>
                  </a:moveTo>
                  <a:lnTo>
                    <a:pt x="285972151" y="0"/>
                  </a:lnTo>
                  <a:lnTo>
                    <a:pt x="285972151" y="144780"/>
                  </a:lnTo>
                  <a:lnTo>
                    <a:pt x="285827366" y="144780"/>
                  </a:lnTo>
                  <a:lnTo>
                    <a:pt x="28582736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85827366" y="0"/>
                  </a:lnTo>
                  <a:lnTo>
                    <a:pt x="28582736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BA0D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271093656" cy="1374559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270948884" cy="137311162"/>
            </a:xfrm>
            <a:custGeom>
              <a:avLst/>
              <a:gdLst/>
              <a:ahLst/>
              <a:cxnLst/>
              <a:rect r="r" b="b" t="t" l="l"/>
              <a:pathLst>
                <a:path h="137311162" w="270948884">
                  <a:moveTo>
                    <a:pt x="0" y="0"/>
                  </a:moveTo>
                  <a:lnTo>
                    <a:pt x="270948884" y="0"/>
                  </a:lnTo>
                  <a:lnTo>
                    <a:pt x="270948884" y="137311162"/>
                  </a:lnTo>
                  <a:lnTo>
                    <a:pt x="0" y="137311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3654" cy="137455945"/>
            </a:xfrm>
            <a:custGeom>
              <a:avLst/>
              <a:gdLst/>
              <a:ahLst/>
              <a:cxnLst/>
              <a:rect r="r" b="b" t="t" l="l"/>
              <a:pathLst>
                <a:path h="137455945" w="271093654">
                  <a:moveTo>
                    <a:pt x="270948869" y="137311160"/>
                  </a:moveTo>
                  <a:lnTo>
                    <a:pt x="271093654" y="137311160"/>
                  </a:lnTo>
                  <a:lnTo>
                    <a:pt x="271093654" y="137455945"/>
                  </a:lnTo>
                  <a:lnTo>
                    <a:pt x="270948869" y="137455945"/>
                  </a:lnTo>
                  <a:lnTo>
                    <a:pt x="270948869" y="13731116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37311160"/>
                  </a:lnTo>
                  <a:lnTo>
                    <a:pt x="0" y="137311160"/>
                  </a:lnTo>
                  <a:lnTo>
                    <a:pt x="0" y="144780"/>
                  </a:lnTo>
                  <a:close/>
                  <a:moveTo>
                    <a:pt x="0" y="137311160"/>
                  </a:moveTo>
                  <a:lnTo>
                    <a:pt x="144780" y="137311160"/>
                  </a:lnTo>
                  <a:lnTo>
                    <a:pt x="144780" y="137455945"/>
                  </a:lnTo>
                  <a:lnTo>
                    <a:pt x="0" y="137455945"/>
                  </a:lnTo>
                  <a:lnTo>
                    <a:pt x="0" y="137311160"/>
                  </a:lnTo>
                  <a:close/>
                  <a:moveTo>
                    <a:pt x="270948869" y="144780"/>
                  </a:moveTo>
                  <a:lnTo>
                    <a:pt x="271093654" y="144780"/>
                  </a:lnTo>
                  <a:lnTo>
                    <a:pt x="271093654" y="137311160"/>
                  </a:lnTo>
                  <a:lnTo>
                    <a:pt x="270948869" y="137311160"/>
                  </a:lnTo>
                  <a:lnTo>
                    <a:pt x="270948869" y="144780"/>
                  </a:lnTo>
                  <a:close/>
                  <a:moveTo>
                    <a:pt x="144780" y="137311160"/>
                  </a:moveTo>
                  <a:lnTo>
                    <a:pt x="270948869" y="137311160"/>
                  </a:lnTo>
                  <a:lnTo>
                    <a:pt x="270948869" y="137455945"/>
                  </a:lnTo>
                  <a:lnTo>
                    <a:pt x="144780" y="137455945"/>
                  </a:lnTo>
                  <a:lnTo>
                    <a:pt x="144780" y="137311160"/>
                  </a:lnTo>
                  <a:close/>
                  <a:moveTo>
                    <a:pt x="270948869" y="0"/>
                  </a:moveTo>
                  <a:lnTo>
                    <a:pt x="271093654" y="0"/>
                  </a:lnTo>
                  <a:lnTo>
                    <a:pt x="271093654" y="144780"/>
                  </a:lnTo>
                  <a:lnTo>
                    <a:pt x="270948869" y="144780"/>
                  </a:lnTo>
                  <a:lnTo>
                    <a:pt x="270948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0948869" y="0"/>
                  </a:lnTo>
                  <a:lnTo>
                    <a:pt x="270948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6FF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28304" y="3356715"/>
            <a:ext cx="14410688" cy="3428593"/>
            <a:chOff x="0" y="0"/>
            <a:chExt cx="632236513" cy="150421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72390" y="72390"/>
              <a:ext cx="632091740" cy="150277044"/>
            </a:xfrm>
            <a:custGeom>
              <a:avLst/>
              <a:gdLst/>
              <a:ahLst/>
              <a:cxnLst/>
              <a:rect r="r" b="b" t="t" l="l"/>
              <a:pathLst>
                <a:path h="150277044" w="632091740">
                  <a:moveTo>
                    <a:pt x="0" y="0"/>
                  </a:moveTo>
                  <a:lnTo>
                    <a:pt x="632091740" y="0"/>
                  </a:lnTo>
                  <a:lnTo>
                    <a:pt x="632091740" y="150277044"/>
                  </a:lnTo>
                  <a:lnTo>
                    <a:pt x="0" y="150277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2236510" cy="150421826"/>
            </a:xfrm>
            <a:custGeom>
              <a:avLst/>
              <a:gdLst/>
              <a:ahLst/>
              <a:cxnLst/>
              <a:rect r="r" b="b" t="t" l="l"/>
              <a:pathLst>
                <a:path h="150421826" w="632236510">
                  <a:moveTo>
                    <a:pt x="632091750" y="150277041"/>
                  </a:moveTo>
                  <a:lnTo>
                    <a:pt x="632236510" y="150277041"/>
                  </a:lnTo>
                  <a:lnTo>
                    <a:pt x="632236510" y="150421826"/>
                  </a:lnTo>
                  <a:lnTo>
                    <a:pt x="632091750" y="150421826"/>
                  </a:lnTo>
                  <a:lnTo>
                    <a:pt x="632091750" y="1502770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0277041"/>
                  </a:lnTo>
                  <a:lnTo>
                    <a:pt x="0" y="150277041"/>
                  </a:lnTo>
                  <a:lnTo>
                    <a:pt x="0" y="144780"/>
                  </a:lnTo>
                  <a:close/>
                  <a:moveTo>
                    <a:pt x="0" y="150277041"/>
                  </a:moveTo>
                  <a:lnTo>
                    <a:pt x="144780" y="150277041"/>
                  </a:lnTo>
                  <a:lnTo>
                    <a:pt x="144780" y="150421826"/>
                  </a:lnTo>
                  <a:lnTo>
                    <a:pt x="0" y="150421826"/>
                  </a:lnTo>
                  <a:lnTo>
                    <a:pt x="0" y="150277041"/>
                  </a:lnTo>
                  <a:close/>
                  <a:moveTo>
                    <a:pt x="632091750" y="144780"/>
                  </a:moveTo>
                  <a:lnTo>
                    <a:pt x="632236510" y="144780"/>
                  </a:lnTo>
                  <a:lnTo>
                    <a:pt x="632236510" y="150277041"/>
                  </a:lnTo>
                  <a:lnTo>
                    <a:pt x="632091750" y="150277041"/>
                  </a:lnTo>
                  <a:lnTo>
                    <a:pt x="632091750" y="144780"/>
                  </a:lnTo>
                  <a:close/>
                  <a:moveTo>
                    <a:pt x="144780" y="150277041"/>
                  </a:moveTo>
                  <a:lnTo>
                    <a:pt x="632091750" y="150277041"/>
                  </a:lnTo>
                  <a:lnTo>
                    <a:pt x="632091750" y="150421826"/>
                  </a:lnTo>
                  <a:lnTo>
                    <a:pt x="144780" y="150421826"/>
                  </a:lnTo>
                  <a:lnTo>
                    <a:pt x="144780" y="150277041"/>
                  </a:lnTo>
                  <a:close/>
                  <a:moveTo>
                    <a:pt x="632091750" y="0"/>
                  </a:moveTo>
                  <a:lnTo>
                    <a:pt x="632236510" y="0"/>
                  </a:lnTo>
                  <a:lnTo>
                    <a:pt x="632236510" y="144780"/>
                  </a:lnTo>
                  <a:lnTo>
                    <a:pt x="632091750" y="144780"/>
                  </a:lnTo>
                  <a:lnTo>
                    <a:pt x="63209175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32091750" y="0"/>
                  </a:lnTo>
                  <a:lnTo>
                    <a:pt x="63209175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FF0F1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370814" y="5971797"/>
            <a:ext cx="3320901" cy="3025039"/>
          </a:xfrm>
          <a:custGeom>
            <a:avLst/>
            <a:gdLst/>
            <a:ahLst/>
            <a:cxnLst/>
            <a:rect r="r" b="b" t="t" l="l"/>
            <a:pathLst>
              <a:path h="3025039" w="3320901">
                <a:moveTo>
                  <a:pt x="0" y="0"/>
                </a:moveTo>
                <a:lnTo>
                  <a:pt x="3320901" y="0"/>
                </a:lnTo>
                <a:lnTo>
                  <a:pt x="3320901" y="3025039"/>
                </a:lnTo>
                <a:lnTo>
                  <a:pt x="0" y="302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09304" y="3649565"/>
            <a:ext cx="13675902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 Finalizem o caderno realizando a atividade;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Ao final, anexem uma foto no GOOGLE SALA DE AULA do dia 18/02/2025 - Aulas 05 a 08.</a:t>
            </a: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Capriola"/>
                <a:ea typeface="Capriola"/>
                <a:cs typeface="Capriola"/>
                <a:sym typeface="Capriola"/>
              </a:rPr>
              <a:t>Não precisam entregar a atividade, isso realizaremos só na sexta.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568904"/>
            <a:ext cx="1623060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DAGfdTvf36U</dc:identifier>
  <dcterms:modified xsi:type="dcterms:W3CDTF">2011-08-01T06:04:30Z</dcterms:modified>
  <cp:revision>1</cp:revision>
  <dc:title>POPULAÇÃO, CENSO E AMOSTRAGEM</dc:title>
</cp:coreProperties>
</file>