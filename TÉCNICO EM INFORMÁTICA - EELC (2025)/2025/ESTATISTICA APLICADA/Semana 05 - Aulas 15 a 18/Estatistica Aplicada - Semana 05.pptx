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Baloo" panose="020B0604020202020204" charset="0"/>
      <p:regular r:id="rId14"/>
    </p:embeddedFont>
    <p:embeddedFont>
      <p:font typeface="Chewy" panose="020B0604020202020204" charset="0"/>
      <p:regular r:id="rId15"/>
    </p:embeddedFont>
    <p:embeddedFont>
      <p:font typeface="Open Sans" panose="020B0606030504020204" pitchFamily="34" charset="0"/>
      <p:regular r:id="rId16"/>
    </p:embeddedFont>
    <p:embeddedFont>
      <p:font typeface="Open Sans Bold" panose="020B0806030504020204" charset="0"/>
      <p:regular r:id="rId17"/>
    </p:embeddedFont>
    <p:embeddedFont>
      <p:font typeface="TT Rounds Condensed" panose="020B0604020202020204" charset="0"/>
      <p:regular r:id="rId18"/>
    </p:embeddedFont>
    <p:embeddedFont>
      <p:font typeface="TT Rounds Condensed Bold" panose="020B0604020202020204" charset="0"/>
      <p:regular r:id="rId19"/>
    </p:embeddedFont>
    <p:embeddedFont>
      <p:font typeface="TT Rounds Condensed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ntys Assis" userId="9e9e1f5991e00f07" providerId="LiveId" clId="{57C1EF75-7D71-4A35-8A62-731ED5EE979A}"/>
    <pc:docChg chg="modSld">
      <pc:chgData name="Prentys Assis" userId="9e9e1f5991e00f07" providerId="LiveId" clId="{57C1EF75-7D71-4A35-8A62-731ED5EE979A}" dt="2025-03-10T19:12:27.360" v="13" actId="6549"/>
      <pc:docMkLst>
        <pc:docMk/>
      </pc:docMkLst>
      <pc:sldChg chg="modSp mod">
        <pc:chgData name="Prentys Assis" userId="9e9e1f5991e00f07" providerId="LiveId" clId="{57C1EF75-7D71-4A35-8A62-731ED5EE979A}" dt="2025-03-10T19:12:27.360" v="13" actId="6549"/>
        <pc:sldMkLst>
          <pc:docMk/>
          <pc:sldMk cId="0" sldId="264"/>
        </pc:sldMkLst>
        <pc:spChg chg="mod">
          <ac:chgData name="Prentys Assis" userId="9e9e1f5991e00f07" providerId="LiveId" clId="{57C1EF75-7D71-4A35-8A62-731ED5EE979A}" dt="2025-03-10T19:12:27.360" v="13" actId="6549"/>
          <ac:spMkLst>
            <pc:docMk/>
            <pc:sldMk cId="0" sldId="264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D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13734" y="1575810"/>
            <a:ext cx="11487404" cy="7135380"/>
            <a:chOff x="0" y="0"/>
            <a:chExt cx="3025489" cy="18792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25489" cy="1879277"/>
            </a:xfrm>
            <a:custGeom>
              <a:avLst/>
              <a:gdLst/>
              <a:ahLst/>
              <a:cxnLst/>
              <a:rect l="l" t="t" r="r" b="b"/>
              <a:pathLst>
                <a:path w="3025489" h="1879277">
                  <a:moveTo>
                    <a:pt x="0" y="0"/>
                  </a:moveTo>
                  <a:lnTo>
                    <a:pt x="3025489" y="0"/>
                  </a:lnTo>
                  <a:lnTo>
                    <a:pt x="3025489" y="1879277"/>
                  </a:lnTo>
                  <a:lnTo>
                    <a:pt x="0" y="1879277"/>
                  </a:lnTo>
                  <a:close/>
                </a:path>
              </a:pathLst>
            </a:custGeom>
            <a:solidFill>
              <a:srgbClr val="920671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25489" cy="19269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84300" y="2990655"/>
            <a:ext cx="5122944" cy="1751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72"/>
              </a:lnSpc>
            </a:pPr>
            <a:r>
              <a:rPr lang="en-US" sz="6450" spc="98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id="6" name="AutoShape 6"/>
          <p:cNvSpPr/>
          <p:nvPr/>
        </p:nvSpPr>
        <p:spPr>
          <a:xfrm>
            <a:off x="1384300" y="5532877"/>
            <a:ext cx="4611969" cy="0"/>
          </a:xfrm>
          <a:prstGeom prst="line">
            <a:avLst/>
          </a:prstGeom>
          <a:ln w="38100" cap="flat">
            <a:solidFill>
              <a:srgbClr val="AF308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384300" y="5872149"/>
            <a:ext cx="4611969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Variáveis e Série Estatística (Distribuição de Frequência)</a:t>
            </a:r>
          </a:p>
        </p:txBody>
      </p:sp>
      <p:sp>
        <p:nvSpPr>
          <p:cNvPr id="8" name="AutoShape 8"/>
          <p:cNvSpPr/>
          <p:nvPr/>
        </p:nvSpPr>
        <p:spPr>
          <a:xfrm>
            <a:off x="14745852" y="5658671"/>
            <a:ext cx="1453582" cy="8737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AutoShape 9"/>
          <p:cNvSpPr/>
          <p:nvPr/>
        </p:nvSpPr>
        <p:spPr>
          <a:xfrm flipV="1">
            <a:off x="14745852" y="4571260"/>
            <a:ext cx="0" cy="1096149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0" name="AutoShape 10"/>
          <p:cNvSpPr/>
          <p:nvPr/>
        </p:nvSpPr>
        <p:spPr>
          <a:xfrm flipH="1">
            <a:off x="14678520" y="5537113"/>
            <a:ext cx="134662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1" name="AutoShape 11"/>
          <p:cNvSpPr/>
          <p:nvPr/>
        </p:nvSpPr>
        <p:spPr>
          <a:xfrm flipH="1">
            <a:off x="14678520" y="5430129"/>
            <a:ext cx="134662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2" name="AutoShape 12"/>
          <p:cNvSpPr/>
          <p:nvPr/>
        </p:nvSpPr>
        <p:spPr>
          <a:xfrm flipH="1">
            <a:off x="14678520" y="5323146"/>
            <a:ext cx="134662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3" name="AutoShape 13"/>
          <p:cNvSpPr/>
          <p:nvPr/>
        </p:nvSpPr>
        <p:spPr>
          <a:xfrm flipH="1">
            <a:off x="14678520" y="5216163"/>
            <a:ext cx="134662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4" name="AutoShape 14"/>
          <p:cNvSpPr/>
          <p:nvPr/>
        </p:nvSpPr>
        <p:spPr>
          <a:xfrm flipH="1">
            <a:off x="14678520" y="5109179"/>
            <a:ext cx="134662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" name="AutoShape 15"/>
          <p:cNvSpPr/>
          <p:nvPr/>
        </p:nvSpPr>
        <p:spPr>
          <a:xfrm flipH="1">
            <a:off x="14678520" y="5002196"/>
            <a:ext cx="134662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6" name="AutoShape 16"/>
          <p:cNvSpPr/>
          <p:nvPr/>
        </p:nvSpPr>
        <p:spPr>
          <a:xfrm flipH="1">
            <a:off x="14678520" y="4895213"/>
            <a:ext cx="134662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7" name="AutoShape 17"/>
          <p:cNvSpPr/>
          <p:nvPr/>
        </p:nvSpPr>
        <p:spPr>
          <a:xfrm flipH="1" flipV="1">
            <a:off x="14678520" y="4788230"/>
            <a:ext cx="134662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8" name="AutoShape 18"/>
          <p:cNvSpPr/>
          <p:nvPr/>
        </p:nvSpPr>
        <p:spPr>
          <a:xfrm flipH="1">
            <a:off x="14678520" y="4681246"/>
            <a:ext cx="134662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9" name="AutoShape 19"/>
          <p:cNvSpPr/>
          <p:nvPr/>
        </p:nvSpPr>
        <p:spPr>
          <a:xfrm>
            <a:off x="16098561" y="5591340"/>
            <a:ext cx="0" cy="134662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0" name="AutoShape 20"/>
          <p:cNvSpPr/>
          <p:nvPr/>
        </p:nvSpPr>
        <p:spPr>
          <a:xfrm>
            <a:off x="15856663" y="5591340"/>
            <a:ext cx="0" cy="134662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1" name="AutoShape 21"/>
          <p:cNvSpPr/>
          <p:nvPr/>
        </p:nvSpPr>
        <p:spPr>
          <a:xfrm>
            <a:off x="15614766" y="5591340"/>
            <a:ext cx="0" cy="134662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2" name="AutoShape 22"/>
          <p:cNvSpPr/>
          <p:nvPr/>
        </p:nvSpPr>
        <p:spPr>
          <a:xfrm>
            <a:off x="15372868" y="5591340"/>
            <a:ext cx="0" cy="134662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3" name="AutoShape 23"/>
          <p:cNvSpPr/>
          <p:nvPr/>
        </p:nvSpPr>
        <p:spPr>
          <a:xfrm flipH="1">
            <a:off x="15130971" y="5591340"/>
            <a:ext cx="0" cy="134662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4" name="AutoShape 24"/>
          <p:cNvSpPr/>
          <p:nvPr/>
        </p:nvSpPr>
        <p:spPr>
          <a:xfrm>
            <a:off x="14889073" y="5591340"/>
            <a:ext cx="0" cy="134662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25" name="Group 25"/>
          <p:cNvGrpSpPr/>
          <p:nvPr/>
        </p:nvGrpSpPr>
        <p:grpSpPr>
          <a:xfrm>
            <a:off x="14862681" y="5189770"/>
            <a:ext cx="52785" cy="5278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7368" tIns="27368" rIns="27368" bIns="27368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078186" y="4975804"/>
            <a:ext cx="52785" cy="52785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7368" tIns="27368" rIns="27368" bIns="27368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282370" y="5082787"/>
            <a:ext cx="52785" cy="52785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7368" tIns="27368" rIns="27368" bIns="27368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561981" y="4761837"/>
            <a:ext cx="52785" cy="52785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7368" tIns="27368" rIns="27368" bIns="27368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5803879" y="5403737"/>
            <a:ext cx="52785" cy="52785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7368" tIns="27368" rIns="27368" bIns="27368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6072168" y="5296754"/>
            <a:ext cx="52785" cy="52785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7368" tIns="27368" rIns="27368" bIns="27368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sp>
        <p:nvSpPr>
          <p:cNvPr id="43" name="AutoShape 43"/>
          <p:cNvSpPr/>
          <p:nvPr/>
        </p:nvSpPr>
        <p:spPr>
          <a:xfrm flipH="1">
            <a:off x="14907802" y="5020791"/>
            <a:ext cx="178047" cy="176776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4" name="AutoShape 44"/>
          <p:cNvSpPr/>
          <p:nvPr/>
        </p:nvSpPr>
        <p:spPr>
          <a:xfrm flipH="1" flipV="1">
            <a:off x="15127961" y="5014447"/>
            <a:ext cx="157419" cy="8248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5" name="AutoShape 45"/>
          <p:cNvSpPr/>
          <p:nvPr/>
        </p:nvSpPr>
        <p:spPr>
          <a:xfrm flipV="1">
            <a:off x="15326099" y="4808129"/>
            <a:ext cx="244937" cy="28115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6" name="AutoShape 46"/>
          <p:cNvSpPr/>
          <p:nvPr/>
        </p:nvSpPr>
        <p:spPr>
          <a:xfrm>
            <a:off x="15597683" y="4812933"/>
            <a:ext cx="223279" cy="592493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7" name="AutoShape 47"/>
          <p:cNvSpPr/>
          <p:nvPr/>
        </p:nvSpPr>
        <p:spPr>
          <a:xfrm flipV="1">
            <a:off x="15854793" y="5332924"/>
            <a:ext cx="219246" cy="87427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8" name="AutoShape 48"/>
          <p:cNvSpPr/>
          <p:nvPr/>
        </p:nvSpPr>
        <p:spPr>
          <a:xfrm>
            <a:off x="16449279" y="5658071"/>
            <a:ext cx="1466555" cy="8815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9" name="AutoShape 49"/>
          <p:cNvSpPr/>
          <p:nvPr/>
        </p:nvSpPr>
        <p:spPr>
          <a:xfrm flipV="1">
            <a:off x="16449279" y="4560954"/>
            <a:ext cx="0" cy="1105931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0" name="AutoShape 50"/>
          <p:cNvSpPr/>
          <p:nvPr/>
        </p:nvSpPr>
        <p:spPr>
          <a:xfrm flipH="1">
            <a:off x="16381346" y="5535427"/>
            <a:ext cx="135864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1" name="AutoShape 51"/>
          <p:cNvSpPr/>
          <p:nvPr/>
        </p:nvSpPr>
        <p:spPr>
          <a:xfrm flipH="1">
            <a:off x="16381346" y="5427489"/>
            <a:ext cx="135864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2" name="AutoShape 52"/>
          <p:cNvSpPr/>
          <p:nvPr/>
        </p:nvSpPr>
        <p:spPr>
          <a:xfrm flipH="1">
            <a:off x="16381346" y="5319551"/>
            <a:ext cx="135864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3" name="AutoShape 53"/>
          <p:cNvSpPr/>
          <p:nvPr/>
        </p:nvSpPr>
        <p:spPr>
          <a:xfrm flipH="1">
            <a:off x="16381346" y="5211612"/>
            <a:ext cx="135864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4" name="AutoShape 54"/>
          <p:cNvSpPr/>
          <p:nvPr/>
        </p:nvSpPr>
        <p:spPr>
          <a:xfrm flipH="1">
            <a:off x="16381346" y="5103674"/>
            <a:ext cx="135864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5" name="AutoShape 55"/>
          <p:cNvSpPr/>
          <p:nvPr/>
        </p:nvSpPr>
        <p:spPr>
          <a:xfrm flipH="1">
            <a:off x="16381346" y="4995736"/>
            <a:ext cx="135864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6" name="AutoShape 56"/>
          <p:cNvSpPr/>
          <p:nvPr/>
        </p:nvSpPr>
        <p:spPr>
          <a:xfrm flipH="1">
            <a:off x="16381346" y="4887798"/>
            <a:ext cx="135864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7" name="AutoShape 57"/>
          <p:cNvSpPr/>
          <p:nvPr/>
        </p:nvSpPr>
        <p:spPr>
          <a:xfrm flipH="1" flipV="1">
            <a:off x="16381346" y="4779860"/>
            <a:ext cx="135864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8" name="AutoShape 58"/>
          <p:cNvSpPr/>
          <p:nvPr/>
        </p:nvSpPr>
        <p:spPr>
          <a:xfrm flipH="1">
            <a:off x="16381346" y="4671922"/>
            <a:ext cx="135864" cy="0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9" name="AutoShape 59"/>
          <p:cNvSpPr/>
          <p:nvPr/>
        </p:nvSpPr>
        <p:spPr>
          <a:xfrm>
            <a:off x="17814060" y="5590138"/>
            <a:ext cx="0" cy="135864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0" name="AutoShape 60"/>
          <p:cNvSpPr/>
          <p:nvPr/>
        </p:nvSpPr>
        <p:spPr>
          <a:xfrm flipH="1">
            <a:off x="17570004" y="5590138"/>
            <a:ext cx="0" cy="135864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1" name="AutoShape 61"/>
          <p:cNvSpPr/>
          <p:nvPr/>
        </p:nvSpPr>
        <p:spPr>
          <a:xfrm>
            <a:off x="17325947" y="5590138"/>
            <a:ext cx="0" cy="135864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2" name="AutoShape 62"/>
          <p:cNvSpPr/>
          <p:nvPr/>
        </p:nvSpPr>
        <p:spPr>
          <a:xfrm flipH="1">
            <a:off x="17081891" y="5590138"/>
            <a:ext cx="0" cy="135864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3" name="AutoShape 63"/>
          <p:cNvSpPr/>
          <p:nvPr/>
        </p:nvSpPr>
        <p:spPr>
          <a:xfrm>
            <a:off x="16837835" y="5590138"/>
            <a:ext cx="0" cy="135864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4" name="AutoShape 64"/>
          <p:cNvSpPr/>
          <p:nvPr/>
        </p:nvSpPr>
        <p:spPr>
          <a:xfrm flipH="1">
            <a:off x="16593778" y="5590138"/>
            <a:ext cx="0" cy="135864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65" name="Group 65"/>
          <p:cNvGrpSpPr/>
          <p:nvPr/>
        </p:nvGrpSpPr>
        <p:grpSpPr>
          <a:xfrm>
            <a:off x="17437856" y="4832388"/>
            <a:ext cx="72297" cy="72297"/>
            <a:chOff x="0" y="0"/>
            <a:chExt cx="812800" cy="8128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4255" tIns="14255" rIns="14255" bIns="14255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6655710" y="4904686"/>
            <a:ext cx="72297" cy="72297"/>
            <a:chOff x="0" y="0"/>
            <a:chExt cx="812800" cy="8128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4255" tIns="14255" rIns="14255" bIns="14255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6923119" y="5302333"/>
            <a:ext cx="72297" cy="72297"/>
            <a:chOff x="0" y="0"/>
            <a:chExt cx="812800" cy="8128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4255" tIns="14255" rIns="14255" bIns="14255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6728007" y="5302333"/>
            <a:ext cx="72297" cy="72297"/>
            <a:chOff x="0" y="0"/>
            <a:chExt cx="812800" cy="8128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4255" tIns="14255" rIns="14255" bIns="14255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6923119" y="5048595"/>
            <a:ext cx="72297" cy="72297"/>
            <a:chOff x="0" y="0"/>
            <a:chExt cx="812800" cy="8128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4255" tIns="14255" rIns="14255" bIns="14255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6811723" y="4650770"/>
            <a:ext cx="72297" cy="72297"/>
            <a:chOff x="0" y="0"/>
            <a:chExt cx="812800" cy="8128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4255" tIns="14255" rIns="14255" bIns="14255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7076324" y="5391340"/>
            <a:ext cx="72297" cy="72297"/>
            <a:chOff x="0" y="0"/>
            <a:chExt cx="812800" cy="8128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4255" tIns="14255" rIns="14255" bIns="14255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7325947" y="5427489"/>
            <a:ext cx="72297" cy="72297"/>
            <a:chOff x="0" y="0"/>
            <a:chExt cx="812800" cy="8128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4255" tIns="14255" rIns="14255" bIns="14255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7547172" y="5302333"/>
            <a:ext cx="72297" cy="72297"/>
            <a:chOff x="0" y="0"/>
            <a:chExt cx="812800" cy="8128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4255" tIns="14255" rIns="14255" bIns="14255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7741763" y="5067526"/>
            <a:ext cx="72297" cy="72297"/>
            <a:chOff x="0" y="0"/>
            <a:chExt cx="812800" cy="81280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4255" tIns="14255" rIns="14255" bIns="14255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7365559" y="5048595"/>
            <a:ext cx="72297" cy="72297"/>
            <a:chOff x="0" y="0"/>
            <a:chExt cx="812800" cy="81280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4255" tIns="14255" rIns="14255" bIns="14255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7115635" y="4959588"/>
            <a:ext cx="72297" cy="72297"/>
            <a:chOff x="0" y="0"/>
            <a:chExt cx="812800" cy="81280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4255" tIns="14255" rIns="14255" bIns="14255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sp>
        <p:nvSpPr>
          <p:cNvPr id="101" name="AutoShape 101"/>
          <p:cNvSpPr/>
          <p:nvPr/>
        </p:nvSpPr>
        <p:spPr>
          <a:xfrm>
            <a:off x="12906764" y="5656067"/>
            <a:ext cx="1510728" cy="9081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02" name="AutoShape 102"/>
          <p:cNvSpPr/>
          <p:nvPr/>
        </p:nvSpPr>
        <p:spPr>
          <a:xfrm>
            <a:off x="14312652" y="5586089"/>
            <a:ext cx="0" cy="139957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03" name="AutoShape 103"/>
          <p:cNvSpPr/>
          <p:nvPr/>
        </p:nvSpPr>
        <p:spPr>
          <a:xfrm>
            <a:off x="14061245" y="5586089"/>
            <a:ext cx="0" cy="139957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04" name="AutoShape 104"/>
          <p:cNvSpPr/>
          <p:nvPr/>
        </p:nvSpPr>
        <p:spPr>
          <a:xfrm flipH="1">
            <a:off x="13809838" y="5586089"/>
            <a:ext cx="0" cy="139957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05" name="AutoShape 105"/>
          <p:cNvSpPr/>
          <p:nvPr/>
        </p:nvSpPr>
        <p:spPr>
          <a:xfrm flipH="1">
            <a:off x="13558431" y="5586089"/>
            <a:ext cx="0" cy="139957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06" name="AutoShape 106"/>
          <p:cNvSpPr/>
          <p:nvPr/>
        </p:nvSpPr>
        <p:spPr>
          <a:xfrm>
            <a:off x="13307023" y="5586089"/>
            <a:ext cx="0" cy="139957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07" name="AutoShape 107"/>
          <p:cNvSpPr/>
          <p:nvPr/>
        </p:nvSpPr>
        <p:spPr>
          <a:xfrm>
            <a:off x="13055616" y="5586089"/>
            <a:ext cx="0" cy="139957"/>
          </a:xfrm>
          <a:prstGeom prst="line">
            <a:avLst/>
          </a:prstGeom>
          <a:ln w="19050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08" name="Group 108"/>
          <p:cNvGrpSpPr/>
          <p:nvPr/>
        </p:nvGrpSpPr>
        <p:grpSpPr>
          <a:xfrm>
            <a:off x="12997364" y="5382608"/>
            <a:ext cx="116504" cy="116504"/>
            <a:chOff x="0" y="0"/>
            <a:chExt cx="812800" cy="81280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2676" tIns="12676" rIns="12676" bIns="12676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2997364" y="5178452"/>
            <a:ext cx="116504" cy="116504"/>
            <a:chOff x="0" y="0"/>
            <a:chExt cx="812800" cy="81280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2676" tIns="12676" rIns="12676" bIns="12676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3248771" y="5382608"/>
            <a:ext cx="116504" cy="116504"/>
            <a:chOff x="0" y="0"/>
            <a:chExt cx="812800" cy="812800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2676" tIns="12676" rIns="12676" bIns="12676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13248771" y="5178165"/>
            <a:ext cx="116504" cy="116504"/>
            <a:chOff x="0" y="0"/>
            <a:chExt cx="812800" cy="812800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2676" tIns="12676" rIns="12676" bIns="12676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13248771" y="4973722"/>
            <a:ext cx="116504" cy="116504"/>
            <a:chOff x="0" y="0"/>
            <a:chExt cx="812800" cy="812800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2676" tIns="12676" rIns="12676" bIns="12676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13248771" y="4769279"/>
            <a:ext cx="116504" cy="116504"/>
            <a:chOff x="0" y="0"/>
            <a:chExt cx="812800" cy="812800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2676" tIns="12676" rIns="12676" bIns="12676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13500749" y="5382608"/>
            <a:ext cx="116504" cy="116504"/>
            <a:chOff x="0" y="0"/>
            <a:chExt cx="812800" cy="812800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2676" tIns="12676" rIns="12676" bIns="12676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13751586" y="5382608"/>
            <a:ext cx="116504" cy="116504"/>
            <a:chOff x="0" y="0"/>
            <a:chExt cx="812800" cy="812800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2676" tIns="12676" rIns="12676" bIns="12676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14254401" y="5382608"/>
            <a:ext cx="116504" cy="116504"/>
            <a:chOff x="0" y="0"/>
            <a:chExt cx="812800" cy="812800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2676" tIns="12676" rIns="12676" bIns="12676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4254401" y="5178452"/>
            <a:ext cx="116504" cy="116504"/>
            <a:chOff x="0" y="0"/>
            <a:chExt cx="812800" cy="812800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2676" tIns="12676" rIns="12676" bIns="12676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14254401" y="4973722"/>
            <a:ext cx="116504" cy="116504"/>
            <a:chOff x="0" y="0"/>
            <a:chExt cx="812800" cy="812800"/>
          </a:xfrm>
        </p:grpSpPr>
        <p:sp>
          <p:nvSpPr>
            <p:cNvPr id="139" name="Freeform 1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2676" tIns="12676" rIns="12676" bIns="12676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13751586" y="5178452"/>
            <a:ext cx="116504" cy="116504"/>
            <a:chOff x="0" y="0"/>
            <a:chExt cx="812800" cy="812800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2676" tIns="12676" rIns="12676" bIns="12676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13248771" y="4571260"/>
            <a:ext cx="116504" cy="116504"/>
            <a:chOff x="0" y="0"/>
            <a:chExt cx="812800" cy="812800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12676" tIns="12676" rIns="12676" bIns="12676" rtlCol="0" anchor="ctr"/>
            <a:lstStyle/>
            <a:p>
              <a:pPr algn="ctr">
                <a:lnSpc>
                  <a:spcPts val="1225"/>
                </a:lnSpc>
              </a:pPr>
              <a:endParaRPr/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8246856" y="4308889"/>
            <a:ext cx="750309" cy="2514379"/>
            <a:chOff x="0" y="0"/>
            <a:chExt cx="283864" cy="951262"/>
          </a:xfrm>
        </p:grpSpPr>
        <p:sp>
          <p:nvSpPr>
            <p:cNvPr id="148" name="Freeform 148"/>
            <p:cNvSpPr/>
            <p:nvPr/>
          </p:nvSpPr>
          <p:spPr>
            <a:xfrm>
              <a:off x="0" y="0"/>
              <a:ext cx="283864" cy="951262"/>
            </a:xfrm>
            <a:custGeom>
              <a:avLst/>
              <a:gdLst/>
              <a:ahLst/>
              <a:cxnLst/>
              <a:rect l="l" t="t" r="r" b="b"/>
              <a:pathLst>
                <a:path w="283864" h="951262">
                  <a:moveTo>
                    <a:pt x="20637" y="0"/>
                  </a:moveTo>
                  <a:lnTo>
                    <a:pt x="263227" y="0"/>
                  </a:lnTo>
                  <a:cubicBezTo>
                    <a:pt x="274624" y="0"/>
                    <a:pt x="283864" y="9239"/>
                    <a:pt x="283864" y="20637"/>
                  </a:cubicBezTo>
                  <a:lnTo>
                    <a:pt x="283864" y="930626"/>
                  </a:lnTo>
                  <a:cubicBezTo>
                    <a:pt x="283864" y="942023"/>
                    <a:pt x="274624" y="951262"/>
                    <a:pt x="263227" y="951262"/>
                  </a:cubicBezTo>
                  <a:lnTo>
                    <a:pt x="20637" y="951262"/>
                  </a:lnTo>
                  <a:cubicBezTo>
                    <a:pt x="9239" y="951262"/>
                    <a:pt x="0" y="942023"/>
                    <a:pt x="0" y="930626"/>
                  </a:cubicBezTo>
                  <a:lnTo>
                    <a:pt x="0" y="20637"/>
                  </a:lnTo>
                  <a:cubicBezTo>
                    <a:pt x="0" y="9239"/>
                    <a:pt x="9239" y="0"/>
                    <a:pt x="2063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0" y="-47625"/>
              <a:ext cx="283864" cy="998887"/>
            </a:xfrm>
            <a:prstGeom prst="rect">
              <a:avLst/>
            </a:prstGeom>
          </p:spPr>
          <p:txBody>
            <a:bodyPr lIns="90130" tIns="90130" rIns="90130" bIns="90130" rtlCol="0" anchor="ctr"/>
            <a:lstStyle/>
            <a:p>
              <a:pPr algn="ctr">
                <a:lnSpc>
                  <a:spcPts val="4035"/>
                </a:lnSpc>
              </a:pPr>
              <a:endParaRPr/>
            </a:p>
          </p:txBody>
        </p:sp>
      </p:grpSp>
      <p:sp>
        <p:nvSpPr>
          <p:cNvPr id="150" name="AutoShape 150"/>
          <p:cNvSpPr/>
          <p:nvPr/>
        </p:nvSpPr>
        <p:spPr>
          <a:xfrm>
            <a:off x="7752849" y="6823269"/>
            <a:ext cx="4787236" cy="28776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1" name="AutoShape 151"/>
          <p:cNvSpPr/>
          <p:nvPr/>
        </p:nvSpPr>
        <p:spPr>
          <a:xfrm flipH="1" flipV="1">
            <a:off x="7752849" y="3241982"/>
            <a:ext cx="0" cy="3610063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2" name="AutoShape 152"/>
          <p:cNvSpPr/>
          <p:nvPr/>
        </p:nvSpPr>
        <p:spPr>
          <a:xfrm flipH="1">
            <a:off x="7531100" y="6422926"/>
            <a:ext cx="443498" cy="0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3" name="AutoShape 153"/>
          <p:cNvSpPr/>
          <p:nvPr/>
        </p:nvSpPr>
        <p:spPr>
          <a:xfrm flipH="1">
            <a:off x="7531100" y="6070587"/>
            <a:ext cx="443498" cy="0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4" name="AutoShape 154"/>
          <p:cNvSpPr/>
          <p:nvPr/>
        </p:nvSpPr>
        <p:spPr>
          <a:xfrm flipH="1">
            <a:off x="7531100" y="5718247"/>
            <a:ext cx="443498" cy="0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5" name="AutoShape 155"/>
          <p:cNvSpPr/>
          <p:nvPr/>
        </p:nvSpPr>
        <p:spPr>
          <a:xfrm flipH="1">
            <a:off x="7531100" y="5365908"/>
            <a:ext cx="443498" cy="0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6" name="AutoShape 156"/>
          <p:cNvSpPr/>
          <p:nvPr/>
        </p:nvSpPr>
        <p:spPr>
          <a:xfrm flipH="1">
            <a:off x="7531100" y="5013568"/>
            <a:ext cx="443498" cy="0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7" name="AutoShape 157"/>
          <p:cNvSpPr/>
          <p:nvPr/>
        </p:nvSpPr>
        <p:spPr>
          <a:xfrm flipH="1">
            <a:off x="7531100" y="4661229"/>
            <a:ext cx="443498" cy="0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8" name="AutoShape 158"/>
          <p:cNvSpPr/>
          <p:nvPr/>
        </p:nvSpPr>
        <p:spPr>
          <a:xfrm flipH="1">
            <a:off x="7531100" y="4308889"/>
            <a:ext cx="443498" cy="0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9" name="AutoShape 159"/>
          <p:cNvSpPr/>
          <p:nvPr/>
        </p:nvSpPr>
        <p:spPr>
          <a:xfrm flipH="1" flipV="1">
            <a:off x="7531100" y="3956550"/>
            <a:ext cx="443498" cy="0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60" name="AutoShape 160"/>
          <p:cNvSpPr/>
          <p:nvPr/>
        </p:nvSpPr>
        <p:spPr>
          <a:xfrm flipH="1">
            <a:off x="7531100" y="3604211"/>
            <a:ext cx="443498" cy="0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61" name="AutoShape 161"/>
          <p:cNvSpPr/>
          <p:nvPr/>
        </p:nvSpPr>
        <p:spPr>
          <a:xfrm>
            <a:off x="12207869" y="6601520"/>
            <a:ext cx="0" cy="443498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62" name="AutoShape 162"/>
          <p:cNvSpPr/>
          <p:nvPr/>
        </p:nvSpPr>
        <p:spPr>
          <a:xfrm flipH="1">
            <a:off x="11411203" y="6601520"/>
            <a:ext cx="0" cy="443498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63" name="AutoShape 163"/>
          <p:cNvSpPr/>
          <p:nvPr/>
        </p:nvSpPr>
        <p:spPr>
          <a:xfrm>
            <a:off x="10614536" y="6601520"/>
            <a:ext cx="0" cy="443498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64" name="AutoShape 164"/>
          <p:cNvSpPr/>
          <p:nvPr/>
        </p:nvSpPr>
        <p:spPr>
          <a:xfrm flipH="1">
            <a:off x="9817869" y="6601520"/>
            <a:ext cx="0" cy="443498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65" name="AutoShape 165"/>
          <p:cNvSpPr/>
          <p:nvPr/>
        </p:nvSpPr>
        <p:spPr>
          <a:xfrm flipH="1">
            <a:off x="9021203" y="6601520"/>
            <a:ext cx="0" cy="443498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66" name="AutoShape 166"/>
          <p:cNvSpPr/>
          <p:nvPr/>
        </p:nvSpPr>
        <p:spPr>
          <a:xfrm flipH="1">
            <a:off x="8224536" y="6601520"/>
            <a:ext cx="0" cy="443498"/>
          </a:xfrm>
          <a:prstGeom prst="line">
            <a:avLst/>
          </a:prstGeom>
          <a:ln w="66675" cap="rnd">
            <a:solidFill>
              <a:srgbClr val="F1D5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67" name="Group 167"/>
          <p:cNvGrpSpPr/>
          <p:nvPr/>
        </p:nvGrpSpPr>
        <p:grpSpPr>
          <a:xfrm>
            <a:off x="9044382" y="5013568"/>
            <a:ext cx="750309" cy="1809701"/>
            <a:chOff x="0" y="0"/>
            <a:chExt cx="283864" cy="684662"/>
          </a:xfrm>
        </p:grpSpPr>
        <p:sp>
          <p:nvSpPr>
            <p:cNvPr id="168" name="Freeform 168"/>
            <p:cNvSpPr/>
            <p:nvPr/>
          </p:nvSpPr>
          <p:spPr>
            <a:xfrm>
              <a:off x="0" y="0"/>
              <a:ext cx="283864" cy="684662"/>
            </a:xfrm>
            <a:custGeom>
              <a:avLst/>
              <a:gdLst/>
              <a:ahLst/>
              <a:cxnLst/>
              <a:rect l="l" t="t" r="r" b="b"/>
              <a:pathLst>
                <a:path w="283864" h="684662">
                  <a:moveTo>
                    <a:pt x="20637" y="0"/>
                  </a:moveTo>
                  <a:lnTo>
                    <a:pt x="263227" y="0"/>
                  </a:lnTo>
                  <a:cubicBezTo>
                    <a:pt x="274624" y="0"/>
                    <a:pt x="283864" y="9239"/>
                    <a:pt x="283864" y="20637"/>
                  </a:cubicBezTo>
                  <a:lnTo>
                    <a:pt x="283864" y="664025"/>
                  </a:lnTo>
                  <a:cubicBezTo>
                    <a:pt x="283864" y="669498"/>
                    <a:pt x="281689" y="674747"/>
                    <a:pt x="277819" y="678618"/>
                  </a:cubicBezTo>
                  <a:cubicBezTo>
                    <a:pt x="273949" y="682488"/>
                    <a:pt x="268700" y="684662"/>
                    <a:pt x="263227" y="684662"/>
                  </a:cubicBezTo>
                  <a:lnTo>
                    <a:pt x="20637" y="684662"/>
                  </a:lnTo>
                  <a:cubicBezTo>
                    <a:pt x="9239" y="684662"/>
                    <a:pt x="0" y="675423"/>
                    <a:pt x="0" y="664025"/>
                  </a:cubicBezTo>
                  <a:lnTo>
                    <a:pt x="0" y="20637"/>
                  </a:lnTo>
                  <a:cubicBezTo>
                    <a:pt x="0" y="9239"/>
                    <a:pt x="9239" y="0"/>
                    <a:pt x="2063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0" y="-47625"/>
              <a:ext cx="283864" cy="732287"/>
            </a:xfrm>
            <a:prstGeom prst="rect">
              <a:avLst/>
            </a:prstGeom>
          </p:spPr>
          <p:txBody>
            <a:bodyPr lIns="90130" tIns="90130" rIns="90130" bIns="90130" rtlCol="0" anchor="ctr"/>
            <a:lstStyle/>
            <a:p>
              <a:pPr algn="ctr">
                <a:lnSpc>
                  <a:spcPts val="4035"/>
                </a:lnSpc>
              </a:pPr>
              <a:endParaRPr/>
            </a:p>
          </p:txBody>
        </p:sp>
      </p:grpSp>
      <p:grpSp>
        <p:nvGrpSpPr>
          <p:cNvPr id="170" name="Group 170"/>
          <p:cNvGrpSpPr/>
          <p:nvPr/>
        </p:nvGrpSpPr>
        <p:grpSpPr>
          <a:xfrm>
            <a:off x="9841907" y="3956550"/>
            <a:ext cx="750309" cy="2866719"/>
            <a:chOff x="0" y="0"/>
            <a:chExt cx="283864" cy="1084562"/>
          </a:xfrm>
        </p:grpSpPr>
        <p:sp>
          <p:nvSpPr>
            <p:cNvPr id="171" name="Freeform 171"/>
            <p:cNvSpPr/>
            <p:nvPr/>
          </p:nvSpPr>
          <p:spPr>
            <a:xfrm>
              <a:off x="0" y="0"/>
              <a:ext cx="283864" cy="1084562"/>
            </a:xfrm>
            <a:custGeom>
              <a:avLst/>
              <a:gdLst/>
              <a:ahLst/>
              <a:cxnLst/>
              <a:rect l="l" t="t" r="r" b="b"/>
              <a:pathLst>
                <a:path w="283864" h="1084562">
                  <a:moveTo>
                    <a:pt x="20637" y="0"/>
                  </a:moveTo>
                  <a:lnTo>
                    <a:pt x="263227" y="0"/>
                  </a:lnTo>
                  <a:cubicBezTo>
                    <a:pt x="274624" y="0"/>
                    <a:pt x="283864" y="9239"/>
                    <a:pt x="283864" y="20637"/>
                  </a:cubicBezTo>
                  <a:lnTo>
                    <a:pt x="283864" y="1063926"/>
                  </a:lnTo>
                  <a:cubicBezTo>
                    <a:pt x="283864" y="1069399"/>
                    <a:pt x="281689" y="1074648"/>
                    <a:pt x="277819" y="1078518"/>
                  </a:cubicBezTo>
                  <a:cubicBezTo>
                    <a:pt x="273949" y="1082388"/>
                    <a:pt x="268700" y="1084562"/>
                    <a:pt x="263227" y="1084562"/>
                  </a:cubicBezTo>
                  <a:lnTo>
                    <a:pt x="20637" y="1084562"/>
                  </a:lnTo>
                  <a:cubicBezTo>
                    <a:pt x="9239" y="1084562"/>
                    <a:pt x="0" y="1075323"/>
                    <a:pt x="0" y="1063926"/>
                  </a:cubicBezTo>
                  <a:lnTo>
                    <a:pt x="0" y="20637"/>
                  </a:lnTo>
                  <a:cubicBezTo>
                    <a:pt x="0" y="9239"/>
                    <a:pt x="9239" y="0"/>
                    <a:pt x="2063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0" y="-47625"/>
              <a:ext cx="283864" cy="1132187"/>
            </a:xfrm>
            <a:prstGeom prst="rect">
              <a:avLst/>
            </a:prstGeom>
          </p:spPr>
          <p:txBody>
            <a:bodyPr lIns="90130" tIns="90130" rIns="90130" bIns="90130" rtlCol="0" anchor="ctr"/>
            <a:lstStyle/>
            <a:p>
              <a:pPr algn="ctr">
                <a:lnSpc>
                  <a:spcPts val="4035"/>
                </a:lnSpc>
              </a:pPr>
              <a:endParaRPr/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10639433" y="6070587"/>
            <a:ext cx="750309" cy="752682"/>
            <a:chOff x="0" y="0"/>
            <a:chExt cx="283864" cy="284761"/>
          </a:xfrm>
        </p:grpSpPr>
        <p:sp>
          <p:nvSpPr>
            <p:cNvPr id="174" name="Freeform 174"/>
            <p:cNvSpPr/>
            <p:nvPr/>
          </p:nvSpPr>
          <p:spPr>
            <a:xfrm>
              <a:off x="0" y="0"/>
              <a:ext cx="283864" cy="284761"/>
            </a:xfrm>
            <a:custGeom>
              <a:avLst/>
              <a:gdLst/>
              <a:ahLst/>
              <a:cxnLst/>
              <a:rect l="l" t="t" r="r" b="b"/>
              <a:pathLst>
                <a:path w="283864" h="284761">
                  <a:moveTo>
                    <a:pt x="20637" y="0"/>
                  </a:moveTo>
                  <a:lnTo>
                    <a:pt x="263227" y="0"/>
                  </a:lnTo>
                  <a:cubicBezTo>
                    <a:pt x="274624" y="0"/>
                    <a:pt x="283864" y="9239"/>
                    <a:pt x="283864" y="20637"/>
                  </a:cubicBezTo>
                  <a:lnTo>
                    <a:pt x="283864" y="264125"/>
                  </a:lnTo>
                  <a:cubicBezTo>
                    <a:pt x="283864" y="269598"/>
                    <a:pt x="281689" y="274847"/>
                    <a:pt x="277819" y="278717"/>
                  </a:cubicBezTo>
                  <a:cubicBezTo>
                    <a:pt x="273949" y="282587"/>
                    <a:pt x="268700" y="284761"/>
                    <a:pt x="263227" y="284761"/>
                  </a:cubicBezTo>
                  <a:lnTo>
                    <a:pt x="20637" y="284761"/>
                  </a:lnTo>
                  <a:cubicBezTo>
                    <a:pt x="9239" y="284761"/>
                    <a:pt x="0" y="275522"/>
                    <a:pt x="0" y="264125"/>
                  </a:cubicBezTo>
                  <a:lnTo>
                    <a:pt x="0" y="20637"/>
                  </a:lnTo>
                  <a:cubicBezTo>
                    <a:pt x="0" y="9239"/>
                    <a:pt x="9239" y="0"/>
                    <a:pt x="2063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0" y="-47625"/>
              <a:ext cx="283864" cy="332386"/>
            </a:xfrm>
            <a:prstGeom prst="rect">
              <a:avLst/>
            </a:prstGeom>
          </p:spPr>
          <p:txBody>
            <a:bodyPr lIns="90130" tIns="90130" rIns="90130" bIns="90130" rtlCol="0" anchor="ctr"/>
            <a:lstStyle/>
            <a:p>
              <a:pPr algn="ctr">
                <a:lnSpc>
                  <a:spcPts val="4035"/>
                </a:lnSpc>
              </a:pPr>
              <a:endParaRPr/>
            </a:p>
          </p:txBody>
        </p:sp>
      </p:grpSp>
      <p:grpSp>
        <p:nvGrpSpPr>
          <p:cNvPr id="176" name="Group 176"/>
          <p:cNvGrpSpPr/>
          <p:nvPr/>
        </p:nvGrpSpPr>
        <p:grpSpPr>
          <a:xfrm>
            <a:off x="11436959" y="3604211"/>
            <a:ext cx="750309" cy="3219058"/>
            <a:chOff x="0" y="0"/>
            <a:chExt cx="283864" cy="1217862"/>
          </a:xfrm>
        </p:grpSpPr>
        <p:sp>
          <p:nvSpPr>
            <p:cNvPr id="177" name="Freeform 177"/>
            <p:cNvSpPr/>
            <p:nvPr/>
          </p:nvSpPr>
          <p:spPr>
            <a:xfrm>
              <a:off x="0" y="0"/>
              <a:ext cx="283864" cy="1217862"/>
            </a:xfrm>
            <a:custGeom>
              <a:avLst/>
              <a:gdLst/>
              <a:ahLst/>
              <a:cxnLst/>
              <a:rect l="l" t="t" r="r" b="b"/>
              <a:pathLst>
                <a:path w="283864" h="1217862">
                  <a:moveTo>
                    <a:pt x="20637" y="0"/>
                  </a:moveTo>
                  <a:lnTo>
                    <a:pt x="263227" y="0"/>
                  </a:lnTo>
                  <a:cubicBezTo>
                    <a:pt x="274624" y="0"/>
                    <a:pt x="283864" y="9239"/>
                    <a:pt x="283864" y="20637"/>
                  </a:cubicBezTo>
                  <a:lnTo>
                    <a:pt x="283864" y="1197226"/>
                  </a:lnTo>
                  <a:cubicBezTo>
                    <a:pt x="283864" y="1202699"/>
                    <a:pt x="281689" y="1207948"/>
                    <a:pt x="277819" y="1211818"/>
                  </a:cubicBezTo>
                  <a:cubicBezTo>
                    <a:pt x="273949" y="1215688"/>
                    <a:pt x="268700" y="1217862"/>
                    <a:pt x="263227" y="1217862"/>
                  </a:cubicBezTo>
                  <a:lnTo>
                    <a:pt x="20637" y="1217862"/>
                  </a:lnTo>
                  <a:cubicBezTo>
                    <a:pt x="9239" y="1217862"/>
                    <a:pt x="0" y="1208623"/>
                    <a:pt x="0" y="1197226"/>
                  </a:cubicBezTo>
                  <a:lnTo>
                    <a:pt x="0" y="20637"/>
                  </a:lnTo>
                  <a:cubicBezTo>
                    <a:pt x="0" y="9239"/>
                    <a:pt x="9239" y="0"/>
                    <a:pt x="2063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8" name="TextBox 178"/>
            <p:cNvSpPr txBox="1"/>
            <p:nvPr/>
          </p:nvSpPr>
          <p:spPr>
            <a:xfrm>
              <a:off x="0" y="-47625"/>
              <a:ext cx="283864" cy="1265487"/>
            </a:xfrm>
            <a:prstGeom prst="rect">
              <a:avLst/>
            </a:prstGeom>
          </p:spPr>
          <p:txBody>
            <a:bodyPr lIns="90130" tIns="90130" rIns="90130" bIns="90130" rtlCol="0" anchor="ctr"/>
            <a:lstStyle/>
            <a:p>
              <a:pPr algn="ctr">
                <a:lnSpc>
                  <a:spcPts val="4035"/>
                </a:lnSpc>
              </a:pPr>
              <a:endParaRPr/>
            </a:p>
          </p:txBody>
        </p:sp>
      </p:grpSp>
      <p:sp>
        <p:nvSpPr>
          <p:cNvPr id="179" name="TextBox 17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B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67800" y="0"/>
            <a:ext cx="9220200" cy="10287000"/>
            <a:chOff x="0" y="0"/>
            <a:chExt cx="242836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28365" cy="2709333"/>
            </a:xfrm>
            <a:custGeom>
              <a:avLst/>
              <a:gdLst/>
              <a:ahLst/>
              <a:cxnLst/>
              <a:rect l="l" t="t" r="r" b="b"/>
              <a:pathLst>
                <a:path w="2428365" h="2709333">
                  <a:moveTo>
                    <a:pt x="0" y="0"/>
                  </a:moveTo>
                  <a:lnTo>
                    <a:pt x="2428365" y="0"/>
                  </a:lnTo>
                  <a:lnTo>
                    <a:pt x="242836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25FC8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428365" cy="2776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32799" y="686619"/>
            <a:ext cx="4043239" cy="2678035"/>
            <a:chOff x="0" y="0"/>
            <a:chExt cx="5390985" cy="3570714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5390985" cy="3570714"/>
              <a:chOff x="0" y="0"/>
              <a:chExt cx="2017804" cy="133649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017804" cy="1336491"/>
              </a:xfrm>
              <a:custGeom>
                <a:avLst/>
                <a:gdLst/>
                <a:ahLst/>
                <a:cxnLst/>
                <a:rect l="l" t="t" r="r" b="b"/>
                <a:pathLst>
                  <a:path w="2017804" h="1336491">
                    <a:moveTo>
                      <a:pt x="63188" y="0"/>
                    </a:moveTo>
                    <a:lnTo>
                      <a:pt x="1954616" y="0"/>
                    </a:lnTo>
                    <a:cubicBezTo>
                      <a:pt x="1971375" y="0"/>
                      <a:pt x="1987447" y="6657"/>
                      <a:pt x="1999297" y="18507"/>
                    </a:cubicBezTo>
                    <a:cubicBezTo>
                      <a:pt x="2011147" y="30357"/>
                      <a:pt x="2017804" y="46429"/>
                      <a:pt x="2017804" y="63188"/>
                    </a:cubicBezTo>
                    <a:lnTo>
                      <a:pt x="2017804" y="1273303"/>
                    </a:lnTo>
                    <a:cubicBezTo>
                      <a:pt x="2017804" y="1308200"/>
                      <a:pt x="1989514" y="1336491"/>
                      <a:pt x="1954616" y="1336491"/>
                    </a:cubicBezTo>
                    <a:lnTo>
                      <a:pt x="63188" y="1336491"/>
                    </a:lnTo>
                    <a:cubicBezTo>
                      <a:pt x="46429" y="1336491"/>
                      <a:pt x="30357" y="1329833"/>
                      <a:pt x="18507" y="1317983"/>
                    </a:cubicBezTo>
                    <a:cubicBezTo>
                      <a:pt x="6657" y="1306133"/>
                      <a:pt x="0" y="1290061"/>
                      <a:pt x="0" y="1273303"/>
                    </a:cubicBezTo>
                    <a:lnTo>
                      <a:pt x="0" y="63188"/>
                    </a:lnTo>
                    <a:cubicBezTo>
                      <a:pt x="0" y="46429"/>
                      <a:pt x="6657" y="30357"/>
                      <a:pt x="18507" y="18507"/>
                    </a:cubicBezTo>
                    <a:cubicBezTo>
                      <a:pt x="30357" y="6657"/>
                      <a:pt x="46429" y="0"/>
                      <a:pt x="6318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017804" cy="1374591"/>
              </a:xfrm>
              <a:prstGeom prst="rect">
                <a:avLst/>
              </a:prstGeom>
            </p:spPr>
            <p:txBody>
              <a:bodyPr lIns="24999" tIns="24999" rIns="24999" bIns="24999" rtlCol="0" anchor="ctr"/>
              <a:lstStyle/>
              <a:p>
                <a:pPr algn="l">
                  <a:lnSpc>
                    <a:spcPts val="2997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357011" y="567668"/>
              <a:ext cx="2435378" cy="2435378"/>
            </a:xfrm>
            <a:custGeom>
              <a:avLst/>
              <a:gdLst/>
              <a:ahLst/>
              <a:cxnLst/>
              <a:rect l="l" t="t" r="r" b="b"/>
              <a:pathLst>
                <a:path w="2435378" h="2435378">
                  <a:moveTo>
                    <a:pt x="0" y="0"/>
                  </a:moveTo>
                  <a:lnTo>
                    <a:pt x="2435378" y="0"/>
                  </a:lnTo>
                  <a:lnTo>
                    <a:pt x="2435378" y="2435378"/>
                  </a:lnTo>
                  <a:lnTo>
                    <a:pt x="0" y="2435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044664" y="1760633"/>
              <a:ext cx="1868843" cy="1685357"/>
            </a:xfrm>
            <a:custGeom>
              <a:avLst/>
              <a:gdLst/>
              <a:ahLst/>
              <a:cxnLst/>
              <a:rect l="l" t="t" r="r" b="b"/>
              <a:pathLst>
                <a:path w="1868843" h="1685357">
                  <a:moveTo>
                    <a:pt x="0" y="0"/>
                  </a:moveTo>
                  <a:lnTo>
                    <a:pt x="1868844" y="0"/>
                  </a:lnTo>
                  <a:lnTo>
                    <a:pt x="1868844" y="1685357"/>
                  </a:lnTo>
                  <a:lnTo>
                    <a:pt x="0" y="1685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924734" y="45632"/>
              <a:ext cx="1988774" cy="1657312"/>
            </a:xfrm>
            <a:custGeom>
              <a:avLst/>
              <a:gdLst/>
              <a:ahLst/>
              <a:cxnLst/>
              <a:rect l="l" t="t" r="r" b="b"/>
              <a:pathLst>
                <a:path w="1988774" h="1657312">
                  <a:moveTo>
                    <a:pt x="0" y="0"/>
                  </a:moveTo>
                  <a:lnTo>
                    <a:pt x="1988774" y="0"/>
                  </a:lnTo>
                  <a:lnTo>
                    <a:pt x="1988774" y="1657311"/>
                  </a:lnTo>
                  <a:lnTo>
                    <a:pt x="0" y="1657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0392" y="4133447"/>
            <a:ext cx="7515015" cy="3788392"/>
            <a:chOff x="0" y="0"/>
            <a:chExt cx="10020020" cy="5051189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0020020" cy="5051189"/>
              <a:chOff x="0" y="0"/>
              <a:chExt cx="2651190" cy="133649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651190" cy="1336491"/>
              </a:xfrm>
              <a:custGeom>
                <a:avLst/>
                <a:gdLst/>
                <a:ahLst/>
                <a:cxnLst/>
                <a:rect l="l" t="t" r="r" b="b"/>
                <a:pathLst>
                  <a:path w="2651190" h="1336491">
                    <a:moveTo>
                      <a:pt x="47870" y="0"/>
                    </a:moveTo>
                    <a:lnTo>
                      <a:pt x="2603321" y="0"/>
                    </a:lnTo>
                    <a:cubicBezTo>
                      <a:pt x="2629758" y="0"/>
                      <a:pt x="2651190" y="21432"/>
                      <a:pt x="2651190" y="47870"/>
                    </a:cubicBezTo>
                    <a:lnTo>
                      <a:pt x="2651190" y="1288621"/>
                    </a:lnTo>
                    <a:cubicBezTo>
                      <a:pt x="2651190" y="1315059"/>
                      <a:pt x="2629758" y="1336491"/>
                      <a:pt x="2603321" y="1336491"/>
                    </a:cubicBezTo>
                    <a:lnTo>
                      <a:pt x="47870" y="1336491"/>
                    </a:lnTo>
                    <a:cubicBezTo>
                      <a:pt x="21432" y="1336491"/>
                      <a:pt x="0" y="1315059"/>
                      <a:pt x="0" y="1288621"/>
                    </a:cubicBezTo>
                    <a:lnTo>
                      <a:pt x="0" y="47870"/>
                    </a:lnTo>
                    <a:cubicBezTo>
                      <a:pt x="0" y="21432"/>
                      <a:pt x="21432" y="0"/>
                      <a:pt x="478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2651190" cy="1365066"/>
              </a:xfrm>
              <a:prstGeom prst="rect">
                <a:avLst/>
              </a:prstGeom>
            </p:spPr>
            <p:txBody>
              <a:bodyPr lIns="19026" tIns="19026" rIns="19026" bIns="19026" rtlCol="0" anchor="ctr"/>
              <a:lstStyle/>
              <a:p>
                <a:pPr algn="l">
                  <a:lnSpc>
                    <a:spcPts val="2281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703818" y="308280"/>
              <a:ext cx="8612383" cy="4367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364"/>
                </a:lnSpc>
              </a:pPr>
              <a:r>
                <a:rPr lang="en-US" sz="3117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O que vimos até aqui?</a:t>
              </a:r>
            </a:p>
            <a:p>
              <a:pPr algn="just">
                <a:lnSpc>
                  <a:spcPts val="4364"/>
                </a:lnSpc>
              </a:pPr>
              <a:endParaRPr lang="en-US" sz="3117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endParaRPr>
            </a:p>
            <a:p>
              <a:pPr algn="just">
                <a:lnSpc>
                  <a:spcPts val="4364"/>
                </a:lnSpc>
              </a:pPr>
              <a:r>
                <a:rPr lang="en-US" sz="3117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&gt; Princípios Básicos das Estatística, e suas aplicações;</a:t>
              </a:r>
            </a:p>
            <a:p>
              <a:pPr algn="just">
                <a:lnSpc>
                  <a:spcPts val="4364"/>
                </a:lnSpc>
              </a:pPr>
              <a:r>
                <a:rPr lang="en-US" sz="3117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&gt; População, Censo e Amostragem;</a:t>
              </a:r>
            </a:p>
            <a:p>
              <a:pPr algn="just">
                <a:lnSpc>
                  <a:spcPts val="4364"/>
                </a:lnSpc>
              </a:pPr>
              <a:r>
                <a:rPr lang="en-US" sz="3117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&gt; Estatística Descritiva e Inferencial;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36700" y="2342128"/>
            <a:ext cx="5711899" cy="168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46"/>
              </a:lnSpc>
            </a:pPr>
            <a:r>
              <a:rPr lang="en-US" sz="6645" spc="101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36700" y="4832862"/>
            <a:ext cx="6146800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Variáveis e Série Estatística (Distribuição de Frequência)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35846" y="8626688"/>
            <a:ext cx="543639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Bora então pra coisa nova?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D6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437935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65961" y="3139557"/>
            <a:ext cx="9156078" cy="939209"/>
            <a:chOff x="0" y="0"/>
            <a:chExt cx="2248609" cy="2306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48609" cy="230657"/>
            </a:xfrm>
            <a:custGeom>
              <a:avLst/>
              <a:gdLst/>
              <a:ahLst/>
              <a:cxnLst/>
              <a:rect l="l" t="t" r="r" b="b"/>
              <a:pathLst>
                <a:path w="2248609" h="230657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Variáveis e Seus Tipos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75880" y="4691793"/>
            <a:ext cx="3753272" cy="4126879"/>
            <a:chOff x="0" y="0"/>
            <a:chExt cx="1215498" cy="13364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5498" cy="1336491"/>
            </a:xfrm>
            <a:custGeom>
              <a:avLst/>
              <a:gdLst/>
              <a:ahLst/>
              <a:cxnLst/>
              <a:rect l="l" t="t" r="r" b="b"/>
              <a:pathLst>
                <a:path w="1215498" h="1336491">
                  <a:moveTo>
                    <a:pt x="105198" y="0"/>
                  </a:moveTo>
                  <a:lnTo>
                    <a:pt x="1110300" y="0"/>
                  </a:lnTo>
                  <a:cubicBezTo>
                    <a:pt x="1168399" y="0"/>
                    <a:pt x="1215498" y="47099"/>
                    <a:pt x="1215498" y="105198"/>
                  </a:cubicBezTo>
                  <a:lnTo>
                    <a:pt x="1215498" y="1231292"/>
                  </a:lnTo>
                  <a:cubicBezTo>
                    <a:pt x="1215498" y="1259193"/>
                    <a:pt x="1204415" y="1285950"/>
                    <a:pt x="1184686" y="1305679"/>
                  </a:cubicBezTo>
                  <a:cubicBezTo>
                    <a:pt x="1164957" y="1325407"/>
                    <a:pt x="1138200" y="1336491"/>
                    <a:pt x="1110300" y="1336491"/>
                  </a:cubicBezTo>
                  <a:lnTo>
                    <a:pt x="105198" y="1336491"/>
                  </a:lnTo>
                  <a:cubicBezTo>
                    <a:pt x="77298" y="1336491"/>
                    <a:pt x="50540" y="1325407"/>
                    <a:pt x="30812" y="1305679"/>
                  </a:cubicBezTo>
                  <a:cubicBezTo>
                    <a:pt x="11083" y="1285950"/>
                    <a:pt x="0" y="1259193"/>
                    <a:pt x="0" y="1231292"/>
                  </a:cubicBezTo>
                  <a:lnTo>
                    <a:pt x="0" y="105198"/>
                  </a:lnTo>
                  <a:cubicBezTo>
                    <a:pt x="0" y="77298"/>
                    <a:pt x="11083" y="50540"/>
                    <a:pt x="30812" y="30812"/>
                  </a:cubicBezTo>
                  <a:cubicBezTo>
                    <a:pt x="50540" y="11083"/>
                    <a:pt x="77298" y="0"/>
                    <a:pt x="10519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215498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025650" y="4691793"/>
            <a:ext cx="8186470" cy="4126879"/>
            <a:chOff x="0" y="0"/>
            <a:chExt cx="2651190" cy="13364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51190" cy="1336491"/>
            </a:xfrm>
            <a:custGeom>
              <a:avLst/>
              <a:gdLst/>
              <a:ahLst/>
              <a:cxnLst/>
              <a:rect l="l" t="t" r="r" b="b"/>
              <a:pathLst>
                <a:path w="2651190" h="1336491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900399" y="5129771"/>
            <a:ext cx="2104233" cy="3250922"/>
          </a:xfrm>
          <a:custGeom>
            <a:avLst/>
            <a:gdLst/>
            <a:ahLst/>
            <a:cxnLst/>
            <a:rect l="l" t="t" r="r" b="b"/>
            <a:pathLst>
              <a:path w="2104233" h="3250922">
                <a:moveTo>
                  <a:pt x="0" y="0"/>
                </a:moveTo>
                <a:lnTo>
                  <a:pt x="2104233" y="0"/>
                </a:lnTo>
                <a:lnTo>
                  <a:pt x="2104233" y="3250923"/>
                </a:lnTo>
                <a:lnTo>
                  <a:pt x="0" y="325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793064" y="1142894"/>
            <a:ext cx="16701872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80341" y="4567714"/>
            <a:ext cx="6677089" cy="26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2"/>
              </a:lnSpc>
            </a:pPr>
            <a:endParaRPr/>
          </a:p>
          <a:p>
            <a:pPr algn="just">
              <a:lnSpc>
                <a:spcPts val="4272"/>
              </a:lnSpc>
            </a:pPr>
            <a:r>
              <a:rPr lang="en-US" sz="3051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Quando definimos uma característica a algo para criarmos nossa população, damos o nome genérico a esta “característica” de </a:t>
            </a:r>
            <a:r>
              <a:rPr lang="en-US" sz="3051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VARIÁVEL</a:t>
            </a:r>
            <a:r>
              <a:rPr lang="en-US" sz="3051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47866" y="7569948"/>
            <a:ext cx="5542038" cy="621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5"/>
              </a:lnSpc>
            </a:pPr>
            <a:r>
              <a:rPr lang="en-US" sz="179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 a mesma coisa viu gente?  Agora a gente só vai </a:t>
            </a:r>
          </a:p>
          <a:p>
            <a:pPr algn="ctr">
              <a:lnSpc>
                <a:spcPts val="2515"/>
              </a:lnSpc>
            </a:pPr>
            <a:r>
              <a:rPr lang="en-US" sz="179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usar o termo técnico. Pedro vai agradecer!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365B6D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65961" y="3139557"/>
            <a:ext cx="9156078" cy="939209"/>
            <a:chOff x="0" y="0"/>
            <a:chExt cx="2248609" cy="2306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48609" cy="230657"/>
            </a:xfrm>
            <a:custGeom>
              <a:avLst/>
              <a:gdLst/>
              <a:ahLst/>
              <a:cxnLst/>
              <a:rect l="l" t="t" r="r" b="b"/>
              <a:pathLst>
                <a:path w="2248609" h="230657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62DDD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1D4355"/>
                  </a:solidFill>
                  <a:latin typeface="Chewy"/>
                  <a:ea typeface="Chewy"/>
                  <a:cs typeface="Chewy"/>
                  <a:sym typeface="Chewy"/>
                </a:rPr>
                <a:t>Variáveis e Seus Tipos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75880" y="4691793"/>
            <a:ext cx="3753272" cy="4126879"/>
            <a:chOff x="0" y="0"/>
            <a:chExt cx="1215498" cy="13364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5498" cy="1336491"/>
            </a:xfrm>
            <a:custGeom>
              <a:avLst/>
              <a:gdLst/>
              <a:ahLst/>
              <a:cxnLst/>
              <a:rect l="l" t="t" r="r" b="b"/>
              <a:pathLst>
                <a:path w="1215498" h="1336491">
                  <a:moveTo>
                    <a:pt x="105198" y="0"/>
                  </a:moveTo>
                  <a:lnTo>
                    <a:pt x="1110300" y="0"/>
                  </a:lnTo>
                  <a:cubicBezTo>
                    <a:pt x="1168399" y="0"/>
                    <a:pt x="1215498" y="47099"/>
                    <a:pt x="1215498" y="105198"/>
                  </a:cubicBezTo>
                  <a:lnTo>
                    <a:pt x="1215498" y="1231292"/>
                  </a:lnTo>
                  <a:cubicBezTo>
                    <a:pt x="1215498" y="1259193"/>
                    <a:pt x="1204415" y="1285950"/>
                    <a:pt x="1184686" y="1305679"/>
                  </a:cubicBezTo>
                  <a:cubicBezTo>
                    <a:pt x="1164957" y="1325407"/>
                    <a:pt x="1138200" y="1336491"/>
                    <a:pt x="1110300" y="1336491"/>
                  </a:cubicBezTo>
                  <a:lnTo>
                    <a:pt x="105198" y="1336491"/>
                  </a:lnTo>
                  <a:cubicBezTo>
                    <a:pt x="77298" y="1336491"/>
                    <a:pt x="50540" y="1325407"/>
                    <a:pt x="30812" y="1305679"/>
                  </a:cubicBezTo>
                  <a:cubicBezTo>
                    <a:pt x="11083" y="1285950"/>
                    <a:pt x="0" y="1259193"/>
                    <a:pt x="0" y="1231292"/>
                  </a:cubicBezTo>
                  <a:lnTo>
                    <a:pt x="0" y="105198"/>
                  </a:lnTo>
                  <a:cubicBezTo>
                    <a:pt x="0" y="77298"/>
                    <a:pt x="11083" y="50540"/>
                    <a:pt x="30812" y="30812"/>
                  </a:cubicBezTo>
                  <a:cubicBezTo>
                    <a:pt x="50540" y="11083"/>
                    <a:pt x="77298" y="0"/>
                    <a:pt x="105198" y="0"/>
                  </a:cubicBezTo>
                  <a:close/>
                </a:path>
              </a:pathLst>
            </a:custGeom>
            <a:solidFill>
              <a:srgbClr val="62DDD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215498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025650" y="4691793"/>
            <a:ext cx="8186470" cy="4126879"/>
            <a:chOff x="0" y="0"/>
            <a:chExt cx="2651190" cy="13364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51190" cy="1336491"/>
            </a:xfrm>
            <a:custGeom>
              <a:avLst/>
              <a:gdLst/>
              <a:ahLst/>
              <a:cxnLst/>
              <a:rect l="l" t="t" r="r" b="b"/>
              <a:pathLst>
                <a:path w="2651190" h="1336491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62DDD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900399" y="5129771"/>
            <a:ext cx="2104233" cy="3250922"/>
          </a:xfrm>
          <a:custGeom>
            <a:avLst/>
            <a:gdLst/>
            <a:ahLst/>
            <a:cxnLst/>
            <a:rect l="l" t="t" r="r" b="b"/>
            <a:pathLst>
              <a:path w="2104233" h="3250922">
                <a:moveTo>
                  <a:pt x="0" y="0"/>
                </a:moveTo>
                <a:lnTo>
                  <a:pt x="2104233" y="0"/>
                </a:lnTo>
                <a:lnTo>
                  <a:pt x="2104233" y="3250923"/>
                </a:lnTo>
                <a:lnTo>
                  <a:pt x="0" y="325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793064" y="1142894"/>
            <a:ext cx="16701872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7F7F7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03795" y="5076825"/>
            <a:ext cx="7589176" cy="352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4"/>
              </a:lnSpc>
            </a:pPr>
            <a:r>
              <a:rPr lang="en-US" sz="3395">
                <a:solidFill>
                  <a:srgbClr val="1D4355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Essas variáveis, por sua vez podem ser catalogada de dois tipos, sendo elas:</a:t>
            </a:r>
          </a:p>
          <a:p>
            <a:pPr algn="l">
              <a:lnSpc>
                <a:spcPts val="554"/>
              </a:lnSpc>
            </a:pPr>
            <a:endParaRPr lang="en-US" sz="3395">
              <a:solidFill>
                <a:srgbClr val="1D4355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  <a:p>
            <a:pPr marL="646816" lvl="1" indent="-323408" algn="l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1D4355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Variável Qualitativa é aquela que representam CATEGORIAS não mensuráveis;</a:t>
            </a:r>
          </a:p>
          <a:p>
            <a:pPr marL="733171" lvl="1" indent="-366586" algn="l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1D4355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Variável Quantitativa é aquela que representa CATEGORIAS mensuráveis;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B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2415" y="4753471"/>
            <a:ext cx="6230670" cy="4126879"/>
            <a:chOff x="0" y="0"/>
            <a:chExt cx="2017804" cy="13364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7804" cy="1336491"/>
            </a:xfrm>
            <a:custGeom>
              <a:avLst/>
              <a:gdLst/>
              <a:ahLst/>
              <a:cxnLst/>
              <a:rect l="l" t="t" r="r" b="b"/>
              <a:pathLst>
                <a:path w="2017804" h="1336491">
                  <a:moveTo>
                    <a:pt x="63370" y="0"/>
                  </a:moveTo>
                  <a:lnTo>
                    <a:pt x="1954434" y="0"/>
                  </a:lnTo>
                  <a:cubicBezTo>
                    <a:pt x="1971241" y="0"/>
                    <a:pt x="1987359" y="6676"/>
                    <a:pt x="1999243" y="18561"/>
                  </a:cubicBezTo>
                  <a:cubicBezTo>
                    <a:pt x="2011127" y="30445"/>
                    <a:pt x="2017804" y="46563"/>
                    <a:pt x="2017804" y="63370"/>
                  </a:cubicBezTo>
                  <a:lnTo>
                    <a:pt x="2017804" y="1273121"/>
                  </a:lnTo>
                  <a:cubicBezTo>
                    <a:pt x="2017804" y="1308119"/>
                    <a:pt x="1989432" y="1336491"/>
                    <a:pt x="1954434" y="1336491"/>
                  </a:cubicBezTo>
                  <a:lnTo>
                    <a:pt x="63370" y="1336491"/>
                  </a:lnTo>
                  <a:cubicBezTo>
                    <a:pt x="46563" y="1336491"/>
                    <a:pt x="30445" y="1329814"/>
                    <a:pt x="18561" y="1317930"/>
                  </a:cubicBezTo>
                  <a:cubicBezTo>
                    <a:pt x="6676" y="1306046"/>
                    <a:pt x="0" y="1289927"/>
                    <a:pt x="0" y="1273121"/>
                  </a:cubicBezTo>
                  <a:lnTo>
                    <a:pt x="0" y="63370"/>
                  </a:lnTo>
                  <a:cubicBezTo>
                    <a:pt x="0" y="46563"/>
                    <a:pt x="6676" y="30445"/>
                    <a:pt x="18561" y="18561"/>
                  </a:cubicBezTo>
                  <a:cubicBezTo>
                    <a:pt x="30445" y="6676"/>
                    <a:pt x="46563" y="0"/>
                    <a:pt x="633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017804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120773" y="3203917"/>
            <a:ext cx="10046455" cy="939209"/>
            <a:chOff x="0" y="0"/>
            <a:chExt cx="2467273" cy="2306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67273" cy="230657"/>
            </a:xfrm>
            <a:custGeom>
              <a:avLst/>
              <a:gdLst/>
              <a:ahLst/>
              <a:cxnLst/>
              <a:rect l="l" t="t" r="r" b="b"/>
              <a:pathLst>
                <a:path w="2467273" h="230657">
                  <a:moveTo>
                    <a:pt x="39301" y="0"/>
                  </a:moveTo>
                  <a:lnTo>
                    <a:pt x="2427972" y="0"/>
                  </a:lnTo>
                  <a:cubicBezTo>
                    <a:pt x="2449677" y="0"/>
                    <a:pt x="2467273" y="17596"/>
                    <a:pt x="2467273" y="39301"/>
                  </a:cubicBezTo>
                  <a:lnTo>
                    <a:pt x="2467273" y="191356"/>
                  </a:lnTo>
                  <a:cubicBezTo>
                    <a:pt x="2467273" y="213061"/>
                    <a:pt x="2449677" y="230657"/>
                    <a:pt x="2427972" y="230657"/>
                  </a:cubicBezTo>
                  <a:lnTo>
                    <a:pt x="39301" y="230657"/>
                  </a:lnTo>
                  <a:cubicBezTo>
                    <a:pt x="17596" y="230657"/>
                    <a:pt x="0" y="213061"/>
                    <a:pt x="0" y="191356"/>
                  </a:cubicBezTo>
                  <a:lnTo>
                    <a:pt x="0" y="39301"/>
                  </a:lnTo>
                  <a:cubicBezTo>
                    <a:pt x="0" y="17596"/>
                    <a:pt x="17596" y="0"/>
                    <a:pt x="3930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2467273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Variáveis e Seus Tipos - Variáveis Qualitativas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69584" y="4753471"/>
            <a:ext cx="8186470" cy="4126879"/>
            <a:chOff x="0" y="0"/>
            <a:chExt cx="2651190" cy="13364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51190" cy="1336491"/>
            </a:xfrm>
            <a:custGeom>
              <a:avLst/>
              <a:gdLst/>
              <a:ahLst/>
              <a:cxnLst/>
              <a:rect l="l" t="t" r="r" b="b"/>
              <a:pathLst>
                <a:path w="2651190" h="1336491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119622" y="5513315"/>
            <a:ext cx="3476255" cy="2607191"/>
          </a:xfrm>
          <a:custGeom>
            <a:avLst/>
            <a:gdLst/>
            <a:ahLst/>
            <a:cxnLst/>
            <a:rect l="l" t="t" r="r" b="b"/>
            <a:pathLst>
              <a:path w="3476255" h="2607191">
                <a:moveTo>
                  <a:pt x="0" y="0"/>
                </a:moveTo>
                <a:lnTo>
                  <a:pt x="3476256" y="0"/>
                </a:lnTo>
                <a:lnTo>
                  <a:pt x="3476256" y="2607191"/>
                </a:lnTo>
                <a:lnTo>
                  <a:pt x="0" y="2607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793064" y="1142894"/>
            <a:ext cx="16701872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44611" y="5328453"/>
            <a:ext cx="7036415" cy="118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4"/>
              </a:lnSpc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Variáveis QUALITATIVAS são categorias NÃO NUMÉRICAS.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78358" y="8213399"/>
            <a:ext cx="8753570" cy="365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4"/>
              </a:lnSpc>
            </a:pPr>
            <a:r>
              <a:rPr lang="en-US" sz="20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Parece complicado falando assim né, mas vamos ver alguns exemplos?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51035" y="7137672"/>
            <a:ext cx="2823568" cy="302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5"/>
              </a:lnSpc>
            </a:pPr>
            <a:r>
              <a:rPr lang="en-US" sz="179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 seja, é o “CARACTERE”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D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AF308B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176609"/>
            <a:ext cx="16230600" cy="939209"/>
            <a:chOff x="0" y="0"/>
            <a:chExt cx="3986015" cy="2306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86015" cy="230657"/>
            </a:xfrm>
            <a:custGeom>
              <a:avLst/>
              <a:gdLst/>
              <a:ahLst/>
              <a:cxnLst/>
              <a:rect l="l" t="t" r="r" b="b"/>
              <a:pathLst>
                <a:path w="3986015" h="230657">
                  <a:moveTo>
                    <a:pt x="24327" y="0"/>
                  </a:moveTo>
                  <a:lnTo>
                    <a:pt x="3961688" y="0"/>
                  </a:lnTo>
                  <a:cubicBezTo>
                    <a:pt x="3975124" y="0"/>
                    <a:pt x="3986015" y="10891"/>
                    <a:pt x="3986015" y="24327"/>
                  </a:cubicBezTo>
                  <a:lnTo>
                    <a:pt x="3986015" y="206330"/>
                  </a:lnTo>
                  <a:cubicBezTo>
                    <a:pt x="3986015" y="219766"/>
                    <a:pt x="3975124" y="230657"/>
                    <a:pt x="3961688" y="230657"/>
                  </a:cubicBezTo>
                  <a:lnTo>
                    <a:pt x="24327" y="230657"/>
                  </a:lnTo>
                  <a:cubicBezTo>
                    <a:pt x="10891" y="230657"/>
                    <a:pt x="0" y="219766"/>
                    <a:pt x="0" y="20633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3986015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Variáveis e Seus Tipos - Variáveis Qualitativas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272236" y="4420618"/>
            <a:ext cx="3819066" cy="828209"/>
            <a:chOff x="0" y="0"/>
            <a:chExt cx="1249209" cy="2709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9209" cy="270905"/>
            </a:xfrm>
            <a:custGeom>
              <a:avLst/>
              <a:gdLst/>
              <a:ahLst/>
              <a:cxnLst/>
              <a:rect l="l" t="t" r="r" b="b"/>
              <a:pathLst>
                <a:path w="1249209" h="270905">
                  <a:moveTo>
                    <a:pt x="103386" y="0"/>
                  </a:moveTo>
                  <a:lnTo>
                    <a:pt x="1145823" y="0"/>
                  </a:lnTo>
                  <a:cubicBezTo>
                    <a:pt x="1202921" y="0"/>
                    <a:pt x="1249209" y="46287"/>
                    <a:pt x="1249209" y="103386"/>
                  </a:cubicBezTo>
                  <a:lnTo>
                    <a:pt x="1249209" y="167519"/>
                  </a:lnTo>
                  <a:cubicBezTo>
                    <a:pt x="1249209" y="194939"/>
                    <a:pt x="1238316" y="221236"/>
                    <a:pt x="1218928" y="240624"/>
                  </a:cubicBezTo>
                  <a:cubicBezTo>
                    <a:pt x="1199539" y="260013"/>
                    <a:pt x="1173242" y="270905"/>
                    <a:pt x="1145823" y="270905"/>
                  </a:cubicBezTo>
                  <a:lnTo>
                    <a:pt x="103386" y="270905"/>
                  </a:lnTo>
                  <a:cubicBezTo>
                    <a:pt x="46287" y="270905"/>
                    <a:pt x="0" y="224618"/>
                    <a:pt x="0" y="167519"/>
                  </a:cubicBezTo>
                  <a:lnTo>
                    <a:pt x="0" y="103386"/>
                  </a:lnTo>
                  <a:cubicBezTo>
                    <a:pt x="0" y="46287"/>
                    <a:pt x="46287" y="0"/>
                    <a:pt x="1033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49209" cy="318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Preferencia Musical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086769" y="4420618"/>
            <a:ext cx="3819066" cy="821833"/>
            <a:chOff x="0" y="0"/>
            <a:chExt cx="1249209" cy="2688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49209" cy="268820"/>
            </a:xfrm>
            <a:custGeom>
              <a:avLst/>
              <a:gdLst/>
              <a:ahLst/>
              <a:cxnLst/>
              <a:rect l="l" t="t" r="r" b="b"/>
              <a:pathLst>
                <a:path w="1249209" h="268820">
                  <a:moveTo>
                    <a:pt x="103386" y="0"/>
                  </a:moveTo>
                  <a:lnTo>
                    <a:pt x="1145823" y="0"/>
                  </a:lnTo>
                  <a:cubicBezTo>
                    <a:pt x="1202921" y="0"/>
                    <a:pt x="1249209" y="46287"/>
                    <a:pt x="1249209" y="103386"/>
                  </a:cubicBezTo>
                  <a:lnTo>
                    <a:pt x="1249209" y="165434"/>
                  </a:lnTo>
                  <a:cubicBezTo>
                    <a:pt x="1249209" y="192854"/>
                    <a:pt x="1238316" y="219150"/>
                    <a:pt x="1218928" y="238539"/>
                  </a:cubicBezTo>
                  <a:cubicBezTo>
                    <a:pt x="1199539" y="257927"/>
                    <a:pt x="1173242" y="268820"/>
                    <a:pt x="1145823" y="268820"/>
                  </a:cubicBezTo>
                  <a:lnTo>
                    <a:pt x="103386" y="268820"/>
                  </a:lnTo>
                  <a:cubicBezTo>
                    <a:pt x="46287" y="268820"/>
                    <a:pt x="0" y="222532"/>
                    <a:pt x="0" y="165434"/>
                  </a:cubicBezTo>
                  <a:lnTo>
                    <a:pt x="0" y="103386"/>
                  </a:lnTo>
                  <a:cubicBezTo>
                    <a:pt x="0" y="46287"/>
                    <a:pt x="46287" y="0"/>
                    <a:pt x="1033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49209" cy="316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Grau de Risco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2165" y="4420618"/>
            <a:ext cx="3801869" cy="838389"/>
            <a:chOff x="0" y="0"/>
            <a:chExt cx="1243584" cy="2742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3584" cy="274235"/>
            </a:xfrm>
            <a:custGeom>
              <a:avLst/>
              <a:gdLst/>
              <a:ahLst/>
              <a:cxnLst/>
              <a:rect l="l" t="t" r="r" b="b"/>
              <a:pathLst>
                <a:path w="1243584" h="274235">
                  <a:moveTo>
                    <a:pt x="103854" y="0"/>
                  </a:moveTo>
                  <a:lnTo>
                    <a:pt x="1139730" y="0"/>
                  </a:lnTo>
                  <a:cubicBezTo>
                    <a:pt x="1197087" y="0"/>
                    <a:pt x="1243584" y="46497"/>
                    <a:pt x="1243584" y="103854"/>
                  </a:cubicBezTo>
                  <a:lnTo>
                    <a:pt x="1243584" y="170382"/>
                  </a:lnTo>
                  <a:cubicBezTo>
                    <a:pt x="1243584" y="227738"/>
                    <a:pt x="1197087" y="274235"/>
                    <a:pt x="1139730" y="274235"/>
                  </a:cubicBezTo>
                  <a:lnTo>
                    <a:pt x="103854" y="274235"/>
                  </a:lnTo>
                  <a:cubicBezTo>
                    <a:pt x="46497" y="274235"/>
                    <a:pt x="0" y="227738"/>
                    <a:pt x="0" y="170382"/>
                  </a:cubicBezTo>
                  <a:lnTo>
                    <a:pt x="0" y="103854"/>
                  </a:lnTo>
                  <a:cubicBezTo>
                    <a:pt x="0" y="46497"/>
                    <a:pt x="46497" y="0"/>
                    <a:pt x="1038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243584" cy="321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Cores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79502" y="4420618"/>
            <a:ext cx="3819066" cy="828209"/>
            <a:chOff x="0" y="0"/>
            <a:chExt cx="1249209" cy="2709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9209" cy="270905"/>
            </a:xfrm>
            <a:custGeom>
              <a:avLst/>
              <a:gdLst/>
              <a:ahLst/>
              <a:cxnLst/>
              <a:rect l="l" t="t" r="r" b="b"/>
              <a:pathLst>
                <a:path w="1249209" h="270905">
                  <a:moveTo>
                    <a:pt x="103386" y="0"/>
                  </a:moveTo>
                  <a:lnTo>
                    <a:pt x="1145823" y="0"/>
                  </a:lnTo>
                  <a:cubicBezTo>
                    <a:pt x="1202921" y="0"/>
                    <a:pt x="1249209" y="46287"/>
                    <a:pt x="1249209" y="103386"/>
                  </a:cubicBezTo>
                  <a:lnTo>
                    <a:pt x="1249209" y="167519"/>
                  </a:lnTo>
                  <a:cubicBezTo>
                    <a:pt x="1249209" y="194939"/>
                    <a:pt x="1238316" y="221236"/>
                    <a:pt x="1218928" y="240624"/>
                  </a:cubicBezTo>
                  <a:cubicBezTo>
                    <a:pt x="1199539" y="260013"/>
                    <a:pt x="1173242" y="270905"/>
                    <a:pt x="1145823" y="270905"/>
                  </a:cubicBezTo>
                  <a:lnTo>
                    <a:pt x="103386" y="270905"/>
                  </a:lnTo>
                  <a:cubicBezTo>
                    <a:pt x="46287" y="270905"/>
                    <a:pt x="0" y="224618"/>
                    <a:pt x="0" y="167519"/>
                  </a:cubicBezTo>
                  <a:lnTo>
                    <a:pt x="0" y="103386"/>
                  </a:lnTo>
                  <a:cubicBezTo>
                    <a:pt x="0" y="46287"/>
                    <a:pt x="46287" y="0"/>
                    <a:pt x="1033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249209" cy="318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Escolaridade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261674" y="7631694"/>
            <a:ext cx="1984663" cy="722794"/>
            <a:chOff x="0" y="0"/>
            <a:chExt cx="735917" cy="26801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Verde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61674" y="6597750"/>
            <a:ext cx="1984663" cy="722794"/>
            <a:chOff x="0" y="0"/>
            <a:chExt cx="735917" cy="26801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Azul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266143" y="5563807"/>
            <a:ext cx="1975726" cy="722794"/>
            <a:chOff x="0" y="0"/>
            <a:chExt cx="732604" cy="26801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32604" cy="268013"/>
            </a:xfrm>
            <a:custGeom>
              <a:avLst/>
              <a:gdLst/>
              <a:ahLst/>
              <a:cxnLst/>
              <a:rect l="l" t="t" r="r" b="b"/>
              <a:pathLst>
                <a:path w="732604" h="268013">
                  <a:moveTo>
                    <a:pt x="134007" y="0"/>
                  </a:moveTo>
                  <a:lnTo>
                    <a:pt x="598597" y="0"/>
                  </a:lnTo>
                  <a:cubicBezTo>
                    <a:pt x="634138" y="0"/>
                    <a:pt x="668223" y="14119"/>
                    <a:pt x="693354" y="39250"/>
                  </a:cubicBezTo>
                  <a:cubicBezTo>
                    <a:pt x="718485" y="64381"/>
                    <a:pt x="732604" y="98466"/>
                    <a:pt x="732604" y="134007"/>
                  </a:cubicBezTo>
                  <a:lnTo>
                    <a:pt x="732604" y="134007"/>
                  </a:lnTo>
                  <a:cubicBezTo>
                    <a:pt x="732604" y="208017"/>
                    <a:pt x="672607" y="268013"/>
                    <a:pt x="598597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732604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Vermelho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261674" y="8665638"/>
            <a:ext cx="1984663" cy="722794"/>
            <a:chOff x="0" y="0"/>
            <a:chExt cx="735917" cy="26801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Amarelo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189437" y="7621514"/>
            <a:ext cx="1984663" cy="722794"/>
            <a:chOff x="0" y="0"/>
            <a:chExt cx="735917" cy="26801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Jazz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189437" y="6587571"/>
            <a:ext cx="1984663" cy="722794"/>
            <a:chOff x="0" y="0"/>
            <a:chExt cx="735917" cy="26801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Pop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193905" y="5553627"/>
            <a:ext cx="1975726" cy="722794"/>
            <a:chOff x="0" y="0"/>
            <a:chExt cx="732604" cy="26801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2604" cy="268013"/>
            </a:xfrm>
            <a:custGeom>
              <a:avLst/>
              <a:gdLst/>
              <a:ahLst/>
              <a:cxnLst/>
              <a:rect l="l" t="t" r="r" b="b"/>
              <a:pathLst>
                <a:path w="732604" h="268013">
                  <a:moveTo>
                    <a:pt x="134007" y="0"/>
                  </a:moveTo>
                  <a:lnTo>
                    <a:pt x="598597" y="0"/>
                  </a:lnTo>
                  <a:cubicBezTo>
                    <a:pt x="634138" y="0"/>
                    <a:pt x="668223" y="14119"/>
                    <a:pt x="693354" y="39250"/>
                  </a:cubicBezTo>
                  <a:cubicBezTo>
                    <a:pt x="718485" y="64381"/>
                    <a:pt x="732604" y="98466"/>
                    <a:pt x="732604" y="134007"/>
                  </a:cubicBezTo>
                  <a:lnTo>
                    <a:pt x="732604" y="134007"/>
                  </a:lnTo>
                  <a:cubicBezTo>
                    <a:pt x="732604" y="208017"/>
                    <a:pt x="672607" y="268013"/>
                    <a:pt x="598597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732604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Rock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89437" y="8655458"/>
            <a:ext cx="1984663" cy="722794"/>
            <a:chOff x="0" y="0"/>
            <a:chExt cx="735917" cy="26801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Sertanejo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673329" y="7621514"/>
            <a:ext cx="2834304" cy="722794"/>
            <a:chOff x="0" y="0"/>
            <a:chExt cx="1050966" cy="26801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Médio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673329" y="6587571"/>
            <a:ext cx="2834304" cy="722794"/>
            <a:chOff x="0" y="0"/>
            <a:chExt cx="1050966" cy="26801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Fundamental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673329" y="5553627"/>
            <a:ext cx="2834304" cy="722794"/>
            <a:chOff x="0" y="0"/>
            <a:chExt cx="1050966" cy="26801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Infantil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673329" y="8655458"/>
            <a:ext cx="2834304" cy="722794"/>
            <a:chOff x="0" y="0"/>
            <a:chExt cx="1050966" cy="26801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Técnico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579150" y="7621514"/>
            <a:ext cx="2834304" cy="722794"/>
            <a:chOff x="0" y="0"/>
            <a:chExt cx="1050966" cy="26801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Médio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579150" y="6587571"/>
            <a:ext cx="2834304" cy="722794"/>
            <a:chOff x="0" y="0"/>
            <a:chExt cx="1050966" cy="26801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Baixo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579150" y="5553627"/>
            <a:ext cx="2834304" cy="722794"/>
            <a:chOff x="0" y="0"/>
            <a:chExt cx="1050966" cy="26801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Baixissimo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3579150" y="8655458"/>
            <a:ext cx="2834304" cy="722794"/>
            <a:chOff x="0" y="0"/>
            <a:chExt cx="1050966" cy="26801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Alto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793064" y="1142894"/>
            <a:ext cx="16701872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D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AF308B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176609"/>
            <a:ext cx="16230600" cy="939209"/>
            <a:chOff x="0" y="0"/>
            <a:chExt cx="3986015" cy="2306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86015" cy="230657"/>
            </a:xfrm>
            <a:custGeom>
              <a:avLst/>
              <a:gdLst/>
              <a:ahLst/>
              <a:cxnLst/>
              <a:rect l="l" t="t" r="r" b="b"/>
              <a:pathLst>
                <a:path w="3986015" h="230657">
                  <a:moveTo>
                    <a:pt x="24327" y="0"/>
                  </a:moveTo>
                  <a:lnTo>
                    <a:pt x="3961688" y="0"/>
                  </a:lnTo>
                  <a:cubicBezTo>
                    <a:pt x="3975124" y="0"/>
                    <a:pt x="3986015" y="10891"/>
                    <a:pt x="3986015" y="24327"/>
                  </a:cubicBezTo>
                  <a:lnTo>
                    <a:pt x="3986015" y="206330"/>
                  </a:lnTo>
                  <a:cubicBezTo>
                    <a:pt x="3986015" y="219766"/>
                    <a:pt x="3975124" y="230657"/>
                    <a:pt x="3961688" y="230657"/>
                  </a:cubicBezTo>
                  <a:lnTo>
                    <a:pt x="24327" y="230657"/>
                  </a:lnTo>
                  <a:cubicBezTo>
                    <a:pt x="10891" y="230657"/>
                    <a:pt x="0" y="219766"/>
                    <a:pt x="0" y="20633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3986015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Variáveis e Seus Tipos - Variáveis Qualitativas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272236" y="4420618"/>
            <a:ext cx="3819066" cy="828209"/>
            <a:chOff x="0" y="0"/>
            <a:chExt cx="1249209" cy="2709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9209" cy="270905"/>
            </a:xfrm>
            <a:custGeom>
              <a:avLst/>
              <a:gdLst/>
              <a:ahLst/>
              <a:cxnLst/>
              <a:rect l="l" t="t" r="r" b="b"/>
              <a:pathLst>
                <a:path w="1249209" h="270905">
                  <a:moveTo>
                    <a:pt x="103386" y="0"/>
                  </a:moveTo>
                  <a:lnTo>
                    <a:pt x="1145823" y="0"/>
                  </a:lnTo>
                  <a:cubicBezTo>
                    <a:pt x="1202921" y="0"/>
                    <a:pt x="1249209" y="46287"/>
                    <a:pt x="1249209" y="103386"/>
                  </a:cubicBezTo>
                  <a:lnTo>
                    <a:pt x="1249209" y="167519"/>
                  </a:lnTo>
                  <a:cubicBezTo>
                    <a:pt x="1249209" y="194939"/>
                    <a:pt x="1238316" y="221236"/>
                    <a:pt x="1218928" y="240624"/>
                  </a:cubicBezTo>
                  <a:cubicBezTo>
                    <a:pt x="1199539" y="260013"/>
                    <a:pt x="1173242" y="270905"/>
                    <a:pt x="1145823" y="270905"/>
                  </a:cubicBezTo>
                  <a:lnTo>
                    <a:pt x="103386" y="270905"/>
                  </a:lnTo>
                  <a:cubicBezTo>
                    <a:pt x="46287" y="270905"/>
                    <a:pt x="0" y="224618"/>
                    <a:pt x="0" y="167519"/>
                  </a:cubicBezTo>
                  <a:lnTo>
                    <a:pt x="0" y="103386"/>
                  </a:lnTo>
                  <a:cubicBezTo>
                    <a:pt x="0" y="46287"/>
                    <a:pt x="46287" y="0"/>
                    <a:pt x="103386" y="0"/>
                  </a:cubicBezTo>
                  <a:close/>
                </a:path>
              </a:pathLst>
            </a:custGeom>
            <a:solidFill>
              <a:srgbClr val="CB6C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49209" cy="318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Preferencia Musical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086769" y="4420618"/>
            <a:ext cx="3819066" cy="821833"/>
            <a:chOff x="0" y="0"/>
            <a:chExt cx="1249209" cy="2688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49209" cy="268820"/>
            </a:xfrm>
            <a:custGeom>
              <a:avLst/>
              <a:gdLst/>
              <a:ahLst/>
              <a:cxnLst/>
              <a:rect l="l" t="t" r="r" b="b"/>
              <a:pathLst>
                <a:path w="1249209" h="268820">
                  <a:moveTo>
                    <a:pt x="103386" y="0"/>
                  </a:moveTo>
                  <a:lnTo>
                    <a:pt x="1145823" y="0"/>
                  </a:lnTo>
                  <a:cubicBezTo>
                    <a:pt x="1202921" y="0"/>
                    <a:pt x="1249209" y="46287"/>
                    <a:pt x="1249209" y="103386"/>
                  </a:cubicBezTo>
                  <a:lnTo>
                    <a:pt x="1249209" y="165434"/>
                  </a:lnTo>
                  <a:cubicBezTo>
                    <a:pt x="1249209" y="192854"/>
                    <a:pt x="1238316" y="219150"/>
                    <a:pt x="1218928" y="238539"/>
                  </a:cubicBezTo>
                  <a:cubicBezTo>
                    <a:pt x="1199539" y="257927"/>
                    <a:pt x="1173242" y="268820"/>
                    <a:pt x="1145823" y="268820"/>
                  </a:cubicBezTo>
                  <a:lnTo>
                    <a:pt x="103386" y="268820"/>
                  </a:lnTo>
                  <a:cubicBezTo>
                    <a:pt x="46287" y="268820"/>
                    <a:pt x="0" y="222532"/>
                    <a:pt x="0" y="165434"/>
                  </a:cubicBezTo>
                  <a:lnTo>
                    <a:pt x="0" y="103386"/>
                  </a:lnTo>
                  <a:cubicBezTo>
                    <a:pt x="0" y="46287"/>
                    <a:pt x="46287" y="0"/>
                    <a:pt x="103386" y="0"/>
                  </a:cubicBezTo>
                  <a:close/>
                </a:path>
              </a:pathLst>
            </a:custGeom>
            <a:solidFill>
              <a:srgbClr val="5CE1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49209" cy="316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Grau de Risco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2165" y="4420618"/>
            <a:ext cx="3801869" cy="838389"/>
            <a:chOff x="0" y="0"/>
            <a:chExt cx="1243584" cy="2742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3584" cy="274235"/>
            </a:xfrm>
            <a:custGeom>
              <a:avLst/>
              <a:gdLst/>
              <a:ahLst/>
              <a:cxnLst/>
              <a:rect l="l" t="t" r="r" b="b"/>
              <a:pathLst>
                <a:path w="1243584" h="274235">
                  <a:moveTo>
                    <a:pt x="103854" y="0"/>
                  </a:moveTo>
                  <a:lnTo>
                    <a:pt x="1139730" y="0"/>
                  </a:lnTo>
                  <a:cubicBezTo>
                    <a:pt x="1197087" y="0"/>
                    <a:pt x="1243584" y="46497"/>
                    <a:pt x="1243584" y="103854"/>
                  </a:cubicBezTo>
                  <a:lnTo>
                    <a:pt x="1243584" y="170382"/>
                  </a:lnTo>
                  <a:cubicBezTo>
                    <a:pt x="1243584" y="227738"/>
                    <a:pt x="1197087" y="274235"/>
                    <a:pt x="1139730" y="274235"/>
                  </a:cubicBezTo>
                  <a:lnTo>
                    <a:pt x="103854" y="274235"/>
                  </a:lnTo>
                  <a:cubicBezTo>
                    <a:pt x="46497" y="274235"/>
                    <a:pt x="0" y="227738"/>
                    <a:pt x="0" y="170382"/>
                  </a:cubicBezTo>
                  <a:lnTo>
                    <a:pt x="0" y="103854"/>
                  </a:lnTo>
                  <a:cubicBezTo>
                    <a:pt x="0" y="46497"/>
                    <a:pt x="46497" y="0"/>
                    <a:pt x="103854" y="0"/>
                  </a:cubicBezTo>
                  <a:close/>
                </a:path>
              </a:pathLst>
            </a:custGeom>
            <a:solidFill>
              <a:srgbClr val="CB6C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243584" cy="321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Cores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79502" y="4420618"/>
            <a:ext cx="3819066" cy="828209"/>
            <a:chOff x="0" y="0"/>
            <a:chExt cx="1249209" cy="2709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9209" cy="270905"/>
            </a:xfrm>
            <a:custGeom>
              <a:avLst/>
              <a:gdLst/>
              <a:ahLst/>
              <a:cxnLst/>
              <a:rect l="l" t="t" r="r" b="b"/>
              <a:pathLst>
                <a:path w="1249209" h="270905">
                  <a:moveTo>
                    <a:pt x="103386" y="0"/>
                  </a:moveTo>
                  <a:lnTo>
                    <a:pt x="1145823" y="0"/>
                  </a:lnTo>
                  <a:cubicBezTo>
                    <a:pt x="1202921" y="0"/>
                    <a:pt x="1249209" y="46287"/>
                    <a:pt x="1249209" y="103386"/>
                  </a:cubicBezTo>
                  <a:lnTo>
                    <a:pt x="1249209" y="167519"/>
                  </a:lnTo>
                  <a:cubicBezTo>
                    <a:pt x="1249209" y="194939"/>
                    <a:pt x="1238316" y="221236"/>
                    <a:pt x="1218928" y="240624"/>
                  </a:cubicBezTo>
                  <a:cubicBezTo>
                    <a:pt x="1199539" y="260013"/>
                    <a:pt x="1173242" y="270905"/>
                    <a:pt x="1145823" y="270905"/>
                  </a:cubicBezTo>
                  <a:lnTo>
                    <a:pt x="103386" y="270905"/>
                  </a:lnTo>
                  <a:cubicBezTo>
                    <a:pt x="46287" y="270905"/>
                    <a:pt x="0" y="224618"/>
                    <a:pt x="0" y="167519"/>
                  </a:cubicBezTo>
                  <a:lnTo>
                    <a:pt x="0" y="103386"/>
                  </a:lnTo>
                  <a:cubicBezTo>
                    <a:pt x="0" y="46287"/>
                    <a:pt x="46287" y="0"/>
                    <a:pt x="103386" y="0"/>
                  </a:cubicBezTo>
                  <a:close/>
                </a:path>
              </a:pathLst>
            </a:custGeom>
            <a:solidFill>
              <a:srgbClr val="5CE1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249209" cy="318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Escolaridade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261674" y="7631694"/>
            <a:ext cx="1984663" cy="722794"/>
            <a:chOff x="0" y="0"/>
            <a:chExt cx="735917" cy="26801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CB6C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Verde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61674" y="6597750"/>
            <a:ext cx="1984663" cy="722794"/>
            <a:chOff x="0" y="0"/>
            <a:chExt cx="735917" cy="26801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CB6C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Azul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266143" y="5563807"/>
            <a:ext cx="1975726" cy="722794"/>
            <a:chOff x="0" y="0"/>
            <a:chExt cx="732604" cy="26801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32604" cy="268013"/>
            </a:xfrm>
            <a:custGeom>
              <a:avLst/>
              <a:gdLst/>
              <a:ahLst/>
              <a:cxnLst/>
              <a:rect l="l" t="t" r="r" b="b"/>
              <a:pathLst>
                <a:path w="732604" h="268013">
                  <a:moveTo>
                    <a:pt x="134007" y="0"/>
                  </a:moveTo>
                  <a:lnTo>
                    <a:pt x="598597" y="0"/>
                  </a:lnTo>
                  <a:cubicBezTo>
                    <a:pt x="634138" y="0"/>
                    <a:pt x="668223" y="14119"/>
                    <a:pt x="693354" y="39250"/>
                  </a:cubicBezTo>
                  <a:cubicBezTo>
                    <a:pt x="718485" y="64381"/>
                    <a:pt x="732604" y="98466"/>
                    <a:pt x="732604" y="134007"/>
                  </a:cubicBezTo>
                  <a:lnTo>
                    <a:pt x="732604" y="134007"/>
                  </a:lnTo>
                  <a:cubicBezTo>
                    <a:pt x="732604" y="208017"/>
                    <a:pt x="672607" y="268013"/>
                    <a:pt x="598597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CB6C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732604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Vermelho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261674" y="8665638"/>
            <a:ext cx="1984663" cy="722794"/>
            <a:chOff x="0" y="0"/>
            <a:chExt cx="735917" cy="26801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CB6C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Amarelo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189437" y="7621514"/>
            <a:ext cx="1984663" cy="722794"/>
            <a:chOff x="0" y="0"/>
            <a:chExt cx="735917" cy="26801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CB6C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Jazz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189437" y="6587571"/>
            <a:ext cx="1984663" cy="722794"/>
            <a:chOff x="0" y="0"/>
            <a:chExt cx="735917" cy="26801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CB6C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Pop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193905" y="5553627"/>
            <a:ext cx="1975726" cy="722794"/>
            <a:chOff x="0" y="0"/>
            <a:chExt cx="732604" cy="26801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2604" cy="268013"/>
            </a:xfrm>
            <a:custGeom>
              <a:avLst/>
              <a:gdLst/>
              <a:ahLst/>
              <a:cxnLst/>
              <a:rect l="l" t="t" r="r" b="b"/>
              <a:pathLst>
                <a:path w="732604" h="268013">
                  <a:moveTo>
                    <a:pt x="134007" y="0"/>
                  </a:moveTo>
                  <a:lnTo>
                    <a:pt x="598597" y="0"/>
                  </a:lnTo>
                  <a:cubicBezTo>
                    <a:pt x="634138" y="0"/>
                    <a:pt x="668223" y="14119"/>
                    <a:pt x="693354" y="39250"/>
                  </a:cubicBezTo>
                  <a:cubicBezTo>
                    <a:pt x="718485" y="64381"/>
                    <a:pt x="732604" y="98466"/>
                    <a:pt x="732604" y="134007"/>
                  </a:cubicBezTo>
                  <a:lnTo>
                    <a:pt x="732604" y="134007"/>
                  </a:lnTo>
                  <a:cubicBezTo>
                    <a:pt x="732604" y="208017"/>
                    <a:pt x="672607" y="268013"/>
                    <a:pt x="598597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CB6C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732604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Rock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89437" y="8655458"/>
            <a:ext cx="1984663" cy="722794"/>
            <a:chOff x="0" y="0"/>
            <a:chExt cx="735917" cy="26801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CB6C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Sertanejo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673329" y="7621514"/>
            <a:ext cx="2834304" cy="722794"/>
            <a:chOff x="0" y="0"/>
            <a:chExt cx="1050966" cy="26801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5CE1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Médio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673329" y="6587571"/>
            <a:ext cx="2834304" cy="722794"/>
            <a:chOff x="0" y="0"/>
            <a:chExt cx="1050966" cy="26801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5CE1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Fundamental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673329" y="5553627"/>
            <a:ext cx="2834304" cy="722794"/>
            <a:chOff x="0" y="0"/>
            <a:chExt cx="1050966" cy="26801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5CE1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Infantil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673329" y="8655458"/>
            <a:ext cx="2834304" cy="722794"/>
            <a:chOff x="0" y="0"/>
            <a:chExt cx="1050966" cy="26801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5CE1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Técnico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579150" y="7621514"/>
            <a:ext cx="2834304" cy="722794"/>
            <a:chOff x="0" y="0"/>
            <a:chExt cx="1050966" cy="26801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5CE1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Médio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579150" y="6587571"/>
            <a:ext cx="2834304" cy="722794"/>
            <a:chOff x="0" y="0"/>
            <a:chExt cx="1050966" cy="26801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5CE1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Baixo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579150" y="5553627"/>
            <a:ext cx="2834304" cy="722794"/>
            <a:chOff x="0" y="0"/>
            <a:chExt cx="1050966" cy="26801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5CE1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Baixissimo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3579150" y="8655458"/>
            <a:ext cx="2834304" cy="722794"/>
            <a:chOff x="0" y="0"/>
            <a:chExt cx="1050966" cy="26801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5CE1E6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Alto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793064" y="1142894"/>
            <a:ext cx="16701872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id="70" name="AutoShape 70"/>
          <p:cNvSpPr/>
          <p:nvPr/>
        </p:nvSpPr>
        <p:spPr>
          <a:xfrm flipV="1">
            <a:off x="14133865" y="3406099"/>
            <a:ext cx="574021" cy="2674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grpSp>
        <p:nvGrpSpPr>
          <p:cNvPr id="71" name="Group 71"/>
          <p:cNvGrpSpPr/>
          <p:nvPr/>
        </p:nvGrpSpPr>
        <p:grpSpPr>
          <a:xfrm>
            <a:off x="14615491" y="3076444"/>
            <a:ext cx="2262998" cy="659310"/>
            <a:chOff x="0" y="0"/>
            <a:chExt cx="740222" cy="215659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40222" cy="215659"/>
            </a:xfrm>
            <a:custGeom>
              <a:avLst/>
              <a:gdLst/>
              <a:ahLst/>
              <a:cxnLst/>
              <a:rect l="l" t="t" r="r" b="b"/>
              <a:pathLst>
                <a:path w="740222" h="215659">
                  <a:moveTo>
                    <a:pt x="107829" y="0"/>
                  </a:moveTo>
                  <a:lnTo>
                    <a:pt x="632393" y="0"/>
                  </a:lnTo>
                  <a:cubicBezTo>
                    <a:pt x="660991" y="0"/>
                    <a:pt x="688418" y="11361"/>
                    <a:pt x="708640" y="31583"/>
                  </a:cubicBezTo>
                  <a:cubicBezTo>
                    <a:pt x="728862" y="51804"/>
                    <a:pt x="740222" y="79231"/>
                    <a:pt x="740222" y="107829"/>
                  </a:cubicBezTo>
                  <a:lnTo>
                    <a:pt x="740222" y="107829"/>
                  </a:lnTo>
                  <a:cubicBezTo>
                    <a:pt x="740222" y="136428"/>
                    <a:pt x="728862" y="163854"/>
                    <a:pt x="708640" y="184076"/>
                  </a:cubicBezTo>
                  <a:cubicBezTo>
                    <a:pt x="688418" y="204298"/>
                    <a:pt x="660991" y="215659"/>
                    <a:pt x="632393" y="215659"/>
                  </a:cubicBezTo>
                  <a:lnTo>
                    <a:pt x="107829" y="215659"/>
                  </a:lnTo>
                  <a:cubicBezTo>
                    <a:pt x="79231" y="215659"/>
                    <a:pt x="51804" y="204298"/>
                    <a:pt x="31583" y="184076"/>
                  </a:cubicBezTo>
                  <a:cubicBezTo>
                    <a:pt x="11361" y="163854"/>
                    <a:pt x="0" y="136428"/>
                    <a:pt x="0" y="107829"/>
                  </a:cubicBezTo>
                  <a:lnTo>
                    <a:pt x="0" y="107829"/>
                  </a:lnTo>
                  <a:cubicBezTo>
                    <a:pt x="0" y="79231"/>
                    <a:pt x="11361" y="51804"/>
                    <a:pt x="31583" y="31583"/>
                  </a:cubicBezTo>
                  <a:cubicBezTo>
                    <a:pt x="51804" y="11361"/>
                    <a:pt x="79231" y="0"/>
                    <a:pt x="1078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740222" cy="26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CB6CE6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NOMINAIS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4615491" y="3456509"/>
            <a:ext cx="2609401" cy="659310"/>
            <a:chOff x="0" y="0"/>
            <a:chExt cx="853530" cy="215659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53530" cy="215659"/>
            </a:xfrm>
            <a:custGeom>
              <a:avLst/>
              <a:gdLst/>
              <a:ahLst/>
              <a:cxnLst/>
              <a:rect l="l" t="t" r="r" b="b"/>
              <a:pathLst>
                <a:path w="853530" h="215659">
                  <a:moveTo>
                    <a:pt x="107829" y="0"/>
                  </a:moveTo>
                  <a:lnTo>
                    <a:pt x="745700" y="0"/>
                  </a:lnTo>
                  <a:cubicBezTo>
                    <a:pt x="774298" y="0"/>
                    <a:pt x="801725" y="11361"/>
                    <a:pt x="821947" y="31583"/>
                  </a:cubicBezTo>
                  <a:cubicBezTo>
                    <a:pt x="842169" y="51804"/>
                    <a:pt x="853530" y="79231"/>
                    <a:pt x="853530" y="107829"/>
                  </a:cubicBezTo>
                  <a:lnTo>
                    <a:pt x="853530" y="107829"/>
                  </a:lnTo>
                  <a:cubicBezTo>
                    <a:pt x="853530" y="136428"/>
                    <a:pt x="842169" y="163854"/>
                    <a:pt x="821947" y="184076"/>
                  </a:cubicBezTo>
                  <a:cubicBezTo>
                    <a:pt x="801725" y="204298"/>
                    <a:pt x="774298" y="215659"/>
                    <a:pt x="745700" y="215659"/>
                  </a:cubicBezTo>
                  <a:lnTo>
                    <a:pt x="107829" y="215659"/>
                  </a:lnTo>
                  <a:cubicBezTo>
                    <a:pt x="79231" y="215659"/>
                    <a:pt x="51804" y="204298"/>
                    <a:pt x="31583" y="184076"/>
                  </a:cubicBezTo>
                  <a:cubicBezTo>
                    <a:pt x="11361" y="163854"/>
                    <a:pt x="0" y="136428"/>
                    <a:pt x="0" y="107829"/>
                  </a:cubicBezTo>
                  <a:lnTo>
                    <a:pt x="0" y="107829"/>
                  </a:lnTo>
                  <a:cubicBezTo>
                    <a:pt x="0" y="79231"/>
                    <a:pt x="11361" y="51804"/>
                    <a:pt x="31583" y="31583"/>
                  </a:cubicBezTo>
                  <a:cubicBezTo>
                    <a:pt x="51804" y="11361"/>
                    <a:pt x="79231" y="0"/>
                    <a:pt x="1078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47625"/>
              <a:ext cx="853530" cy="26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5CE1E6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ORDINAIS</a:t>
              </a:r>
            </a:p>
          </p:txBody>
        </p:sp>
      </p:grpSp>
      <p:sp>
        <p:nvSpPr>
          <p:cNvPr id="77" name="AutoShape 77"/>
          <p:cNvSpPr/>
          <p:nvPr/>
        </p:nvSpPr>
        <p:spPr>
          <a:xfrm>
            <a:off x="14133865" y="3646214"/>
            <a:ext cx="481626" cy="1399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sp>
        <p:nvSpPr>
          <p:cNvPr id="78" name="AutoShape 78"/>
          <p:cNvSpPr/>
          <p:nvPr/>
        </p:nvSpPr>
        <p:spPr>
          <a:xfrm flipV="1">
            <a:off x="991913" y="4819132"/>
            <a:ext cx="390252" cy="4560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sp>
        <p:nvSpPr>
          <p:cNvPr id="79" name="Freeform 79"/>
          <p:cNvSpPr/>
          <p:nvPr/>
        </p:nvSpPr>
        <p:spPr>
          <a:xfrm>
            <a:off x="1778086" y="5532946"/>
            <a:ext cx="385549" cy="3855485"/>
          </a:xfrm>
          <a:custGeom>
            <a:avLst/>
            <a:gdLst/>
            <a:ahLst/>
            <a:cxnLst/>
            <a:rect l="l" t="t" r="r" b="b"/>
            <a:pathLst>
              <a:path w="385549" h="3855485">
                <a:moveTo>
                  <a:pt x="0" y="0"/>
                </a:moveTo>
                <a:lnTo>
                  <a:pt x="385548" y="0"/>
                </a:lnTo>
                <a:lnTo>
                  <a:pt x="385548" y="3855485"/>
                </a:lnTo>
                <a:lnTo>
                  <a:pt x="0" y="38554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0" name="TextBox 80"/>
          <p:cNvSpPr txBox="1"/>
          <p:nvPr/>
        </p:nvSpPr>
        <p:spPr>
          <a:xfrm>
            <a:off x="0" y="5237076"/>
            <a:ext cx="1983826" cy="553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7"/>
              </a:lnSpc>
            </a:pPr>
            <a:r>
              <a:rPr lang="en-US" sz="1583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Estes são os TÍTULOS</a:t>
            </a:r>
          </a:p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das VARIÁVEIS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3308" y="6800020"/>
            <a:ext cx="1797209" cy="103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lang="en-US" sz="1967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Estes são os</a:t>
            </a:r>
          </a:p>
          <a:p>
            <a:pPr algn="ctr">
              <a:lnSpc>
                <a:spcPts val="2755"/>
              </a:lnSpc>
            </a:pPr>
            <a:r>
              <a:rPr lang="en-US" sz="1967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valores que ela</a:t>
            </a:r>
          </a:p>
          <a:p>
            <a:pPr algn="ctr">
              <a:lnSpc>
                <a:spcPts val="2755"/>
              </a:lnSpc>
              <a:spcBef>
                <a:spcPct val="0"/>
              </a:spcBef>
            </a:pPr>
            <a:r>
              <a:rPr lang="en-US" sz="1967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pode assumir.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42222" y="9655131"/>
            <a:ext cx="16782669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i="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E como estes valores são sempre texto é por isso que você “declara” ele no programa como CARACTERE, que é a mesma coisa que dizer “letra”.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D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AF308B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176609"/>
            <a:ext cx="16230600" cy="1034607"/>
            <a:chOff x="0" y="0"/>
            <a:chExt cx="3986015" cy="2540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86015" cy="254085"/>
            </a:xfrm>
            <a:custGeom>
              <a:avLst/>
              <a:gdLst/>
              <a:ahLst/>
              <a:cxnLst/>
              <a:rect l="l" t="t" r="r" b="b"/>
              <a:pathLst>
                <a:path w="3986015" h="254085">
                  <a:moveTo>
                    <a:pt x="24327" y="0"/>
                  </a:moveTo>
                  <a:lnTo>
                    <a:pt x="3961688" y="0"/>
                  </a:lnTo>
                  <a:cubicBezTo>
                    <a:pt x="3975124" y="0"/>
                    <a:pt x="3986015" y="10891"/>
                    <a:pt x="3986015" y="24327"/>
                  </a:cubicBezTo>
                  <a:lnTo>
                    <a:pt x="3986015" y="229759"/>
                  </a:lnTo>
                  <a:cubicBezTo>
                    <a:pt x="3986015" y="236210"/>
                    <a:pt x="3983452" y="242398"/>
                    <a:pt x="3978890" y="246960"/>
                  </a:cubicBezTo>
                  <a:cubicBezTo>
                    <a:pt x="3974328" y="251522"/>
                    <a:pt x="3968140" y="254085"/>
                    <a:pt x="3961688" y="254085"/>
                  </a:cubicBezTo>
                  <a:lnTo>
                    <a:pt x="24327" y="254085"/>
                  </a:lnTo>
                  <a:cubicBezTo>
                    <a:pt x="10891" y="254085"/>
                    <a:pt x="0" y="243194"/>
                    <a:pt x="0" y="22975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3986015" cy="339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E agora, qual o outro tipo de Variável que faltou?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9550" y="6733458"/>
            <a:ext cx="7587608" cy="2750958"/>
            <a:chOff x="0" y="0"/>
            <a:chExt cx="3686267" cy="13364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86267" cy="1336491"/>
            </a:xfrm>
            <a:custGeom>
              <a:avLst/>
              <a:gdLst/>
              <a:ahLst/>
              <a:cxnLst/>
              <a:rect l="l" t="t" r="r" b="b"/>
              <a:pathLst>
                <a:path w="3686267" h="1336491">
                  <a:moveTo>
                    <a:pt x="52037" y="0"/>
                  </a:moveTo>
                  <a:lnTo>
                    <a:pt x="3634230" y="0"/>
                  </a:lnTo>
                  <a:cubicBezTo>
                    <a:pt x="3648031" y="0"/>
                    <a:pt x="3661267" y="5482"/>
                    <a:pt x="3671026" y="15241"/>
                  </a:cubicBezTo>
                  <a:cubicBezTo>
                    <a:pt x="3680784" y="25000"/>
                    <a:pt x="3686267" y="38236"/>
                    <a:pt x="3686267" y="52037"/>
                  </a:cubicBezTo>
                  <a:lnTo>
                    <a:pt x="3686267" y="1284453"/>
                  </a:lnTo>
                  <a:cubicBezTo>
                    <a:pt x="3686267" y="1298255"/>
                    <a:pt x="3680784" y="1311490"/>
                    <a:pt x="3671026" y="1321249"/>
                  </a:cubicBezTo>
                  <a:cubicBezTo>
                    <a:pt x="3661267" y="1331008"/>
                    <a:pt x="3648031" y="1336491"/>
                    <a:pt x="3634230" y="1336491"/>
                  </a:cubicBezTo>
                  <a:lnTo>
                    <a:pt x="52037" y="1336491"/>
                  </a:lnTo>
                  <a:cubicBezTo>
                    <a:pt x="38236" y="1336491"/>
                    <a:pt x="25000" y="1331008"/>
                    <a:pt x="15241" y="1321249"/>
                  </a:cubicBezTo>
                  <a:cubicBezTo>
                    <a:pt x="5482" y="1311490"/>
                    <a:pt x="0" y="1298255"/>
                    <a:pt x="0" y="1284453"/>
                  </a:cubicBezTo>
                  <a:lnTo>
                    <a:pt x="0" y="52037"/>
                  </a:lnTo>
                  <a:cubicBezTo>
                    <a:pt x="0" y="38236"/>
                    <a:pt x="5482" y="25000"/>
                    <a:pt x="15241" y="15241"/>
                  </a:cubicBezTo>
                  <a:cubicBezTo>
                    <a:pt x="25000" y="5482"/>
                    <a:pt x="38236" y="0"/>
                    <a:pt x="5203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3686267" cy="142221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55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94023" y="5009261"/>
            <a:ext cx="8946834" cy="1275174"/>
            <a:chOff x="0" y="0"/>
            <a:chExt cx="3555080" cy="5066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55080" cy="506698"/>
            </a:xfrm>
            <a:custGeom>
              <a:avLst/>
              <a:gdLst/>
              <a:ahLst/>
              <a:cxnLst/>
              <a:rect l="l" t="t" r="r" b="b"/>
              <a:pathLst>
                <a:path w="3555080" h="506698">
                  <a:moveTo>
                    <a:pt x="44132" y="0"/>
                  </a:moveTo>
                  <a:lnTo>
                    <a:pt x="3510949" y="0"/>
                  </a:lnTo>
                  <a:cubicBezTo>
                    <a:pt x="3522653" y="0"/>
                    <a:pt x="3533878" y="4650"/>
                    <a:pt x="3542154" y="12926"/>
                  </a:cubicBezTo>
                  <a:cubicBezTo>
                    <a:pt x="3550431" y="21202"/>
                    <a:pt x="3555080" y="32427"/>
                    <a:pt x="3555080" y="44132"/>
                  </a:cubicBezTo>
                  <a:lnTo>
                    <a:pt x="3555080" y="462567"/>
                  </a:lnTo>
                  <a:cubicBezTo>
                    <a:pt x="3555080" y="474271"/>
                    <a:pt x="3550431" y="485496"/>
                    <a:pt x="3542154" y="493772"/>
                  </a:cubicBezTo>
                  <a:cubicBezTo>
                    <a:pt x="3533878" y="502049"/>
                    <a:pt x="3522653" y="506698"/>
                    <a:pt x="3510949" y="506698"/>
                  </a:cubicBezTo>
                  <a:lnTo>
                    <a:pt x="44132" y="506698"/>
                  </a:lnTo>
                  <a:cubicBezTo>
                    <a:pt x="32427" y="506698"/>
                    <a:pt x="21202" y="502049"/>
                    <a:pt x="12926" y="493772"/>
                  </a:cubicBezTo>
                  <a:cubicBezTo>
                    <a:pt x="4650" y="485496"/>
                    <a:pt x="0" y="474271"/>
                    <a:pt x="0" y="462567"/>
                  </a:cubicBezTo>
                  <a:lnTo>
                    <a:pt x="0" y="44132"/>
                  </a:lnTo>
                  <a:cubicBezTo>
                    <a:pt x="0" y="32427"/>
                    <a:pt x="4650" y="21202"/>
                    <a:pt x="12926" y="12926"/>
                  </a:cubicBezTo>
                  <a:cubicBezTo>
                    <a:pt x="21202" y="4650"/>
                    <a:pt x="32427" y="0"/>
                    <a:pt x="44132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3555080" cy="64004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881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63270" y="5994195"/>
            <a:ext cx="5434708" cy="580479"/>
            <a:chOff x="0" y="0"/>
            <a:chExt cx="2159515" cy="2306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59515" cy="230657"/>
            </a:xfrm>
            <a:custGeom>
              <a:avLst/>
              <a:gdLst/>
              <a:ahLst/>
              <a:cxnLst/>
              <a:rect l="l" t="t" r="r" b="b"/>
              <a:pathLst>
                <a:path w="2159515" h="230657">
                  <a:moveTo>
                    <a:pt x="72651" y="0"/>
                  </a:moveTo>
                  <a:lnTo>
                    <a:pt x="2086864" y="0"/>
                  </a:lnTo>
                  <a:cubicBezTo>
                    <a:pt x="2126988" y="0"/>
                    <a:pt x="2159515" y="32527"/>
                    <a:pt x="2159515" y="72651"/>
                  </a:cubicBezTo>
                  <a:lnTo>
                    <a:pt x="2159515" y="158006"/>
                  </a:lnTo>
                  <a:cubicBezTo>
                    <a:pt x="2159515" y="177274"/>
                    <a:pt x="2151861" y="195753"/>
                    <a:pt x="2138236" y="209378"/>
                  </a:cubicBezTo>
                  <a:cubicBezTo>
                    <a:pt x="2124611" y="223003"/>
                    <a:pt x="2106132" y="230657"/>
                    <a:pt x="2086864" y="230657"/>
                  </a:cubicBezTo>
                  <a:lnTo>
                    <a:pt x="72651" y="230657"/>
                  </a:lnTo>
                  <a:cubicBezTo>
                    <a:pt x="53383" y="230657"/>
                    <a:pt x="34904" y="223003"/>
                    <a:pt x="21279" y="209378"/>
                  </a:cubicBezTo>
                  <a:cubicBezTo>
                    <a:pt x="7654" y="195753"/>
                    <a:pt x="0" y="177274"/>
                    <a:pt x="0" y="158006"/>
                  </a:cubicBezTo>
                  <a:lnTo>
                    <a:pt x="0" y="72651"/>
                  </a:lnTo>
                  <a:cubicBezTo>
                    <a:pt x="0" y="53383"/>
                    <a:pt x="7654" y="34904"/>
                    <a:pt x="21279" y="21279"/>
                  </a:cubicBezTo>
                  <a:cubicBezTo>
                    <a:pt x="34904" y="7654"/>
                    <a:pt x="53383" y="0"/>
                    <a:pt x="7265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159515" cy="268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Variáveis e Seus Tipos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397014" y="6742384"/>
            <a:ext cx="7587608" cy="3377559"/>
            <a:chOff x="0" y="0"/>
            <a:chExt cx="3686267" cy="16409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86267" cy="1640910"/>
            </a:xfrm>
            <a:custGeom>
              <a:avLst/>
              <a:gdLst/>
              <a:ahLst/>
              <a:cxnLst/>
              <a:rect l="l" t="t" r="r" b="b"/>
              <a:pathLst>
                <a:path w="3686267" h="1640910">
                  <a:moveTo>
                    <a:pt x="52037" y="0"/>
                  </a:moveTo>
                  <a:lnTo>
                    <a:pt x="3634230" y="0"/>
                  </a:lnTo>
                  <a:cubicBezTo>
                    <a:pt x="3648031" y="0"/>
                    <a:pt x="3661267" y="5482"/>
                    <a:pt x="3671026" y="15241"/>
                  </a:cubicBezTo>
                  <a:cubicBezTo>
                    <a:pt x="3680784" y="25000"/>
                    <a:pt x="3686267" y="38236"/>
                    <a:pt x="3686267" y="52037"/>
                  </a:cubicBezTo>
                  <a:lnTo>
                    <a:pt x="3686267" y="1588873"/>
                  </a:lnTo>
                  <a:cubicBezTo>
                    <a:pt x="3686267" y="1602674"/>
                    <a:pt x="3680784" y="1615910"/>
                    <a:pt x="3671026" y="1625669"/>
                  </a:cubicBezTo>
                  <a:cubicBezTo>
                    <a:pt x="3661267" y="1635428"/>
                    <a:pt x="3648031" y="1640910"/>
                    <a:pt x="3634230" y="1640910"/>
                  </a:cubicBezTo>
                  <a:lnTo>
                    <a:pt x="52037" y="1640910"/>
                  </a:lnTo>
                  <a:cubicBezTo>
                    <a:pt x="38236" y="1640910"/>
                    <a:pt x="25000" y="1635428"/>
                    <a:pt x="15241" y="1625669"/>
                  </a:cubicBezTo>
                  <a:cubicBezTo>
                    <a:pt x="5482" y="1615910"/>
                    <a:pt x="0" y="1602674"/>
                    <a:pt x="0" y="1588873"/>
                  </a:cubicBezTo>
                  <a:lnTo>
                    <a:pt x="0" y="52037"/>
                  </a:lnTo>
                  <a:cubicBezTo>
                    <a:pt x="0" y="38236"/>
                    <a:pt x="5482" y="25000"/>
                    <a:pt x="15241" y="15241"/>
                  </a:cubicBezTo>
                  <a:cubicBezTo>
                    <a:pt x="25000" y="5482"/>
                    <a:pt x="38236" y="0"/>
                    <a:pt x="5203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3686267" cy="1726635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55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61488" y="5018187"/>
            <a:ext cx="8223134" cy="1275174"/>
            <a:chOff x="0" y="0"/>
            <a:chExt cx="3267514" cy="50669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67513" cy="506698"/>
            </a:xfrm>
            <a:custGeom>
              <a:avLst/>
              <a:gdLst/>
              <a:ahLst/>
              <a:cxnLst/>
              <a:rect l="l" t="t" r="r" b="b"/>
              <a:pathLst>
                <a:path w="3267513" h="506698">
                  <a:moveTo>
                    <a:pt x="48016" y="0"/>
                  </a:moveTo>
                  <a:lnTo>
                    <a:pt x="3219498" y="0"/>
                  </a:lnTo>
                  <a:cubicBezTo>
                    <a:pt x="3232232" y="0"/>
                    <a:pt x="3244445" y="5059"/>
                    <a:pt x="3253450" y="14063"/>
                  </a:cubicBezTo>
                  <a:cubicBezTo>
                    <a:pt x="3262455" y="23068"/>
                    <a:pt x="3267513" y="35281"/>
                    <a:pt x="3267513" y="48016"/>
                  </a:cubicBezTo>
                  <a:lnTo>
                    <a:pt x="3267513" y="458683"/>
                  </a:lnTo>
                  <a:cubicBezTo>
                    <a:pt x="3267513" y="471417"/>
                    <a:pt x="3262455" y="483630"/>
                    <a:pt x="3253450" y="492635"/>
                  </a:cubicBezTo>
                  <a:cubicBezTo>
                    <a:pt x="3244445" y="501639"/>
                    <a:pt x="3232232" y="506698"/>
                    <a:pt x="3219498" y="506698"/>
                  </a:cubicBezTo>
                  <a:lnTo>
                    <a:pt x="48016" y="506698"/>
                  </a:lnTo>
                  <a:cubicBezTo>
                    <a:pt x="35281" y="506698"/>
                    <a:pt x="23068" y="501639"/>
                    <a:pt x="14063" y="492635"/>
                  </a:cubicBezTo>
                  <a:cubicBezTo>
                    <a:pt x="5059" y="483630"/>
                    <a:pt x="0" y="471417"/>
                    <a:pt x="0" y="458683"/>
                  </a:cubicBezTo>
                  <a:lnTo>
                    <a:pt x="0" y="48016"/>
                  </a:lnTo>
                  <a:cubicBezTo>
                    <a:pt x="0" y="35281"/>
                    <a:pt x="5059" y="23068"/>
                    <a:pt x="14063" y="14063"/>
                  </a:cubicBezTo>
                  <a:cubicBezTo>
                    <a:pt x="23068" y="5059"/>
                    <a:pt x="35281" y="0"/>
                    <a:pt x="48016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33350"/>
              <a:ext cx="3267514" cy="64004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881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49639" y="6003121"/>
            <a:ext cx="5434708" cy="580479"/>
            <a:chOff x="0" y="0"/>
            <a:chExt cx="2159515" cy="2306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59515" cy="230657"/>
            </a:xfrm>
            <a:custGeom>
              <a:avLst/>
              <a:gdLst/>
              <a:ahLst/>
              <a:cxnLst/>
              <a:rect l="l" t="t" r="r" b="b"/>
              <a:pathLst>
                <a:path w="2159515" h="230657">
                  <a:moveTo>
                    <a:pt x="72651" y="0"/>
                  </a:moveTo>
                  <a:lnTo>
                    <a:pt x="2086864" y="0"/>
                  </a:lnTo>
                  <a:cubicBezTo>
                    <a:pt x="2126988" y="0"/>
                    <a:pt x="2159515" y="32527"/>
                    <a:pt x="2159515" y="72651"/>
                  </a:cubicBezTo>
                  <a:lnTo>
                    <a:pt x="2159515" y="158006"/>
                  </a:lnTo>
                  <a:cubicBezTo>
                    <a:pt x="2159515" y="177274"/>
                    <a:pt x="2151861" y="195753"/>
                    <a:pt x="2138236" y="209378"/>
                  </a:cubicBezTo>
                  <a:cubicBezTo>
                    <a:pt x="2124611" y="223003"/>
                    <a:pt x="2106132" y="230657"/>
                    <a:pt x="2086864" y="230657"/>
                  </a:cubicBezTo>
                  <a:lnTo>
                    <a:pt x="72651" y="230657"/>
                  </a:lnTo>
                  <a:cubicBezTo>
                    <a:pt x="53383" y="230657"/>
                    <a:pt x="34904" y="223003"/>
                    <a:pt x="21279" y="209378"/>
                  </a:cubicBezTo>
                  <a:cubicBezTo>
                    <a:pt x="7654" y="195753"/>
                    <a:pt x="0" y="177274"/>
                    <a:pt x="0" y="158006"/>
                  </a:cubicBezTo>
                  <a:lnTo>
                    <a:pt x="0" y="72651"/>
                  </a:lnTo>
                  <a:cubicBezTo>
                    <a:pt x="0" y="53383"/>
                    <a:pt x="7654" y="34904"/>
                    <a:pt x="21279" y="21279"/>
                  </a:cubicBezTo>
                  <a:cubicBezTo>
                    <a:pt x="34904" y="7654"/>
                    <a:pt x="53383" y="0"/>
                    <a:pt x="7265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2159515" cy="278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Variáveis Qualitativas</a:t>
              </a:r>
            </a:p>
          </p:txBody>
        </p:sp>
      </p:grpSp>
      <p:sp>
        <p:nvSpPr>
          <p:cNvPr id="26" name="Freeform 26"/>
          <p:cNvSpPr/>
          <p:nvPr/>
        </p:nvSpPr>
        <p:spPr>
          <a:xfrm>
            <a:off x="16639447" y="7885628"/>
            <a:ext cx="956427" cy="746013"/>
          </a:xfrm>
          <a:custGeom>
            <a:avLst/>
            <a:gdLst/>
            <a:ahLst/>
            <a:cxnLst/>
            <a:rect l="l" t="t" r="r" b="b"/>
            <a:pathLst>
              <a:path w="956427" h="746013">
                <a:moveTo>
                  <a:pt x="0" y="0"/>
                </a:moveTo>
                <a:lnTo>
                  <a:pt x="956427" y="0"/>
                </a:lnTo>
                <a:lnTo>
                  <a:pt x="956427" y="746013"/>
                </a:lnTo>
                <a:lnTo>
                  <a:pt x="0" y="746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7" name="TextBox 27"/>
          <p:cNvSpPr txBox="1"/>
          <p:nvPr/>
        </p:nvSpPr>
        <p:spPr>
          <a:xfrm>
            <a:off x="793064" y="1142894"/>
            <a:ext cx="16701872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46054" y="4182641"/>
            <a:ext cx="4971606" cy="302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5"/>
              </a:lnSpc>
            </a:pPr>
            <a:r>
              <a:rPr lang="en-US" sz="179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MAS ANTES, algumas anotações no Caderno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42574" y="6994496"/>
            <a:ext cx="7095033" cy="2209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4"/>
              </a:lnSpc>
            </a:pPr>
            <a:endParaRPr/>
          </a:p>
          <a:p>
            <a:pPr algn="just">
              <a:lnSpc>
                <a:spcPts val="3407"/>
              </a:lnSpc>
            </a:pPr>
            <a:r>
              <a:rPr lang="en-US" sz="2434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Variáveis são as características ou propriedades que podem ser medidas, observadas ou manipuladas em um estudo ou situação.</a:t>
            </a:r>
          </a:p>
          <a:p>
            <a:pPr algn="just">
              <a:lnSpc>
                <a:spcPts val="3407"/>
              </a:lnSpc>
            </a:pPr>
            <a:r>
              <a:rPr lang="en-US" sz="2434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Elas podem ser dividadas em QUALITATIVAS e QUANTITATIVAS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05850" y="5093931"/>
            <a:ext cx="9035007" cy="738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9"/>
              </a:lnSpc>
              <a:spcBef>
                <a:spcPct val="0"/>
              </a:spcBef>
            </a:pPr>
            <a:r>
              <a:rPr lang="en-US" sz="4306" spc="654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55551" y="5102857"/>
            <a:ext cx="9035007" cy="738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9"/>
              </a:lnSpc>
              <a:spcBef>
                <a:spcPct val="0"/>
              </a:spcBef>
            </a:pPr>
            <a:r>
              <a:rPr lang="en-US" sz="4306" spc="654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643302" y="7008300"/>
            <a:ext cx="7090128" cy="241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"/>
              </a:lnSpc>
            </a:pPr>
            <a:endParaRPr/>
          </a:p>
          <a:p>
            <a:pPr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Variáveis qualitativas são aquelas que assumem categorias NÃO numéricas, ou seja, seu valor nunca é um numero.</a:t>
            </a:r>
          </a:p>
          <a:p>
            <a:pPr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Ela sempre representa uma </a:t>
            </a:r>
            <a:r>
              <a:rPr lang="en-US" sz="2270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QUALIDADE</a:t>
            </a:r>
            <a:r>
              <a:rPr lang="en-US" sz="227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.</a:t>
            </a:r>
          </a:p>
          <a:p>
            <a:pPr algn="just">
              <a:lnSpc>
                <a:spcPts val="3178"/>
              </a:lnSpc>
            </a:pPr>
            <a:endParaRPr lang="en-US" sz="227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  <a:p>
            <a:pPr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Ela pode ser </a:t>
            </a:r>
            <a:r>
              <a:rPr lang="en-US" sz="2270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ORDINAL </a:t>
            </a:r>
            <a:r>
              <a:rPr lang="en-US" sz="227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quando ela tiver uma ordem natural, ou pode ser </a:t>
            </a:r>
            <a:r>
              <a:rPr lang="en-US" sz="2270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NOMINAL</a:t>
            </a:r>
            <a:r>
              <a:rPr lang="en-US" sz="227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quando for apenas um rótulo.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5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6C9286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08620" y="3203917"/>
            <a:ext cx="11270759" cy="939209"/>
            <a:chOff x="0" y="0"/>
            <a:chExt cx="2767946" cy="2306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67946" cy="230657"/>
            </a:xfrm>
            <a:custGeom>
              <a:avLst/>
              <a:gdLst/>
              <a:ahLst/>
              <a:cxnLst/>
              <a:rect l="l" t="t" r="r" b="b"/>
              <a:pathLst>
                <a:path w="2767946" h="230657">
                  <a:moveTo>
                    <a:pt x="35032" y="0"/>
                  </a:moveTo>
                  <a:lnTo>
                    <a:pt x="2732914" y="0"/>
                  </a:lnTo>
                  <a:cubicBezTo>
                    <a:pt x="2742205" y="0"/>
                    <a:pt x="2751115" y="3691"/>
                    <a:pt x="2757685" y="10261"/>
                  </a:cubicBezTo>
                  <a:cubicBezTo>
                    <a:pt x="2764255" y="16830"/>
                    <a:pt x="2767946" y="25741"/>
                    <a:pt x="2767946" y="35032"/>
                  </a:cubicBezTo>
                  <a:lnTo>
                    <a:pt x="2767946" y="195625"/>
                  </a:lnTo>
                  <a:cubicBezTo>
                    <a:pt x="2767946" y="214973"/>
                    <a:pt x="2752261" y="230657"/>
                    <a:pt x="2732914" y="230657"/>
                  </a:cubicBezTo>
                  <a:lnTo>
                    <a:pt x="35032" y="230657"/>
                  </a:lnTo>
                  <a:cubicBezTo>
                    <a:pt x="25741" y="230657"/>
                    <a:pt x="16830" y="226966"/>
                    <a:pt x="10261" y="220396"/>
                  </a:cubicBezTo>
                  <a:cubicBezTo>
                    <a:pt x="3691" y="213827"/>
                    <a:pt x="0" y="204916"/>
                    <a:pt x="0" y="195625"/>
                  </a:cubicBezTo>
                  <a:lnTo>
                    <a:pt x="0" y="35032"/>
                  </a:lnTo>
                  <a:cubicBezTo>
                    <a:pt x="0" y="25741"/>
                    <a:pt x="3691" y="16830"/>
                    <a:pt x="10261" y="10261"/>
                  </a:cubicBezTo>
                  <a:cubicBezTo>
                    <a:pt x="16830" y="3691"/>
                    <a:pt x="25741" y="0"/>
                    <a:pt x="35032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767946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365B6D"/>
                  </a:solidFill>
                  <a:latin typeface="Chewy"/>
                  <a:ea typeface="Chewy"/>
                  <a:cs typeface="Chewy"/>
                  <a:sym typeface="Chewy"/>
                </a:rPr>
                <a:t>Variáveis e Seus Tipos - Variáveis Quantitativas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075880" y="4691793"/>
            <a:ext cx="3753272" cy="4126879"/>
            <a:chOff x="0" y="0"/>
            <a:chExt cx="1215498" cy="13364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5498" cy="1336491"/>
            </a:xfrm>
            <a:custGeom>
              <a:avLst/>
              <a:gdLst/>
              <a:ahLst/>
              <a:cxnLst/>
              <a:rect l="l" t="t" r="r" b="b"/>
              <a:pathLst>
                <a:path w="1215498" h="1336491">
                  <a:moveTo>
                    <a:pt x="105198" y="0"/>
                  </a:moveTo>
                  <a:lnTo>
                    <a:pt x="1110300" y="0"/>
                  </a:lnTo>
                  <a:cubicBezTo>
                    <a:pt x="1168399" y="0"/>
                    <a:pt x="1215498" y="47099"/>
                    <a:pt x="1215498" y="105198"/>
                  </a:cubicBezTo>
                  <a:lnTo>
                    <a:pt x="1215498" y="1231292"/>
                  </a:lnTo>
                  <a:cubicBezTo>
                    <a:pt x="1215498" y="1259193"/>
                    <a:pt x="1204415" y="1285950"/>
                    <a:pt x="1184686" y="1305679"/>
                  </a:cubicBezTo>
                  <a:cubicBezTo>
                    <a:pt x="1164957" y="1325407"/>
                    <a:pt x="1138200" y="1336491"/>
                    <a:pt x="1110300" y="1336491"/>
                  </a:cubicBezTo>
                  <a:lnTo>
                    <a:pt x="105198" y="1336491"/>
                  </a:lnTo>
                  <a:cubicBezTo>
                    <a:pt x="77298" y="1336491"/>
                    <a:pt x="50540" y="1325407"/>
                    <a:pt x="30812" y="1305679"/>
                  </a:cubicBezTo>
                  <a:cubicBezTo>
                    <a:pt x="11083" y="1285950"/>
                    <a:pt x="0" y="1259193"/>
                    <a:pt x="0" y="1231292"/>
                  </a:cubicBezTo>
                  <a:lnTo>
                    <a:pt x="0" y="105198"/>
                  </a:lnTo>
                  <a:cubicBezTo>
                    <a:pt x="0" y="77298"/>
                    <a:pt x="11083" y="50540"/>
                    <a:pt x="30812" y="30812"/>
                  </a:cubicBezTo>
                  <a:cubicBezTo>
                    <a:pt x="50540" y="11083"/>
                    <a:pt x="77298" y="0"/>
                    <a:pt x="105198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215498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025650" y="4691793"/>
            <a:ext cx="8186470" cy="4126879"/>
            <a:chOff x="0" y="0"/>
            <a:chExt cx="2651190" cy="13364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51190" cy="1336491"/>
            </a:xfrm>
            <a:custGeom>
              <a:avLst/>
              <a:gdLst/>
              <a:ahLst/>
              <a:cxnLst/>
              <a:rect l="l" t="t" r="r" b="b"/>
              <a:pathLst>
                <a:path w="2651190" h="1336491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564298" y="5322737"/>
            <a:ext cx="2776436" cy="2864990"/>
          </a:xfrm>
          <a:custGeom>
            <a:avLst/>
            <a:gdLst/>
            <a:ahLst/>
            <a:cxnLst/>
            <a:rect l="l" t="t" r="r" b="b"/>
            <a:pathLst>
              <a:path w="2776436" h="2864990">
                <a:moveTo>
                  <a:pt x="0" y="0"/>
                </a:moveTo>
                <a:lnTo>
                  <a:pt x="2776435" y="0"/>
                </a:lnTo>
                <a:lnTo>
                  <a:pt x="2776435" y="2864990"/>
                </a:lnTo>
                <a:lnTo>
                  <a:pt x="0" y="2864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793064" y="1142894"/>
            <a:ext cx="16701872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7F7F7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80341" y="5367814"/>
            <a:ext cx="6677089" cy="1055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2"/>
              </a:lnSpc>
            </a:pPr>
            <a:r>
              <a:rPr lang="en-US" sz="3051" dirty="0" err="1">
                <a:solidFill>
                  <a:srgbClr val="41C1BA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Variáveis</a:t>
            </a:r>
            <a:r>
              <a:rPr lang="en-US" sz="3051" dirty="0">
                <a:solidFill>
                  <a:srgbClr val="41C1BA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QUANTITATIVAS </a:t>
            </a:r>
            <a:r>
              <a:rPr lang="en-US" sz="3051" dirty="0" err="1">
                <a:solidFill>
                  <a:srgbClr val="41C1BA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são</a:t>
            </a:r>
            <a:r>
              <a:rPr lang="en-US" sz="3051" dirty="0">
                <a:solidFill>
                  <a:srgbClr val="41C1BA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</a:t>
            </a:r>
            <a:r>
              <a:rPr lang="en-US" sz="3051" dirty="0" err="1">
                <a:solidFill>
                  <a:srgbClr val="41C1BA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categorias</a:t>
            </a:r>
            <a:r>
              <a:rPr lang="en-US" sz="3051" dirty="0">
                <a:solidFill>
                  <a:srgbClr val="41C1BA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NUMÉRICAS.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1C1BA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04283" y="7181728"/>
            <a:ext cx="3229205" cy="302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5"/>
              </a:lnSpc>
            </a:pPr>
            <a:r>
              <a:rPr lang="en-US" sz="1796" b="1">
                <a:solidFill>
                  <a:srgbClr val="41C1B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 seja, é o INTEIRO ou REAL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5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6C9286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176609"/>
            <a:ext cx="16230600" cy="939209"/>
            <a:chOff x="0" y="0"/>
            <a:chExt cx="3986015" cy="2306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86015" cy="230657"/>
            </a:xfrm>
            <a:custGeom>
              <a:avLst/>
              <a:gdLst/>
              <a:ahLst/>
              <a:cxnLst/>
              <a:rect l="l" t="t" r="r" b="b"/>
              <a:pathLst>
                <a:path w="3986015" h="230657">
                  <a:moveTo>
                    <a:pt x="24327" y="0"/>
                  </a:moveTo>
                  <a:lnTo>
                    <a:pt x="3961688" y="0"/>
                  </a:lnTo>
                  <a:cubicBezTo>
                    <a:pt x="3975124" y="0"/>
                    <a:pt x="3986015" y="10891"/>
                    <a:pt x="3986015" y="24327"/>
                  </a:cubicBezTo>
                  <a:lnTo>
                    <a:pt x="3986015" y="206330"/>
                  </a:lnTo>
                  <a:cubicBezTo>
                    <a:pt x="3986015" y="219766"/>
                    <a:pt x="3975124" y="230657"/>
                    <a:pt x="3961688" y="230657"/>
                  </a:cubicBezTo>
                  <a:lnTo>
                    <a:pt x="24327" y="230657"/>
                  </a:lnTo>
                  <a:cubicBezTo>
                    <a:pt x="10891" y="230657"/>
                    <a:pt x="0" y="219766"/>
                    <a:pt x="0" y="20633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3986015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365B6D"/>
                  </a:solidFill>
                  <a:latin typeface="Chewy"/>
                  <a:ea typeface="Chewy"/>
                  <a:cs typeface="Chewy"/>
                  <a:sym typeface="Chewy"/>
                </a:rPr>
                <a:t>Variáveis e Seus Tipos - Variáveis Quantitativas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272236" y="4420618"/>
            <a:ext cx="3819066" cy="828209"/>
            <a:chOff x="0" y="0"/>
            <a:chExt cx="1249209" cy="2709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9209" cy="270905"/>
            </a:xfrm>
            <a:custGeom>
              <a:avLst/>
              <a:gdLst/>
              <a:ahLst/>
              <a:cxnLst/>
              <a:rect l="l" t="t" r="r" b="b"/>
              <a:pathLst>
                <a:path w="1249209" h="270905">
                  <a:moveTo>
                    <a:pt x="103386" y="0"/>
                  </a:moveTo>
                  <a:lnTo>
                    <a:pt x="1145823" y="0"/>
                  </a:lnTo>
                  <a:cubicBezTo>
                    <a:pt x="1202921" y="0"/>
                    <a:pt x="1249209" y="46287"/>
                    <a:pt x="1249209" y="103386"/>
                  </a:cubicBezTo>
                  <a:lnTo>
                    <a:pt x="1249209" y="167519"/>
                  </a:lnTo>
                  <a:cubicBezTo>
                    <a:pt x="1249209" y="194939"/>
                    <a:pt x="1238316" y="221236"/>
                    <a:pt x="1218928" y="240624"/>
                  </a:cubicBezTo>
                  <a:cubicBezTo>
                    <a:pt x="1199539" y="260013"/>
                    <a:pt x="1173242" y="270905"/>
                    <a:pt x="1145823" y="270905"/>
                  </a:cubicBezTo>
                  <a:lnTo>
                    <a:pt x="103386" y="270905"/>
                  </a:lnTo>
                  <a:cubicBezTo>
                    <a:pt x="46287" y="270905"/>
                    <a:pt x="0" y="224618"/>
                    <a:pt x="0" y="167519"/>
                  </a:cubicBezTo>
                  <a:lnTo>
                    <a:pt x="0" y="103386"/>
                  </a:lnTo>
                  <a:cubicBezTo>
                    <a:pt x="0" y="46287"/>
                    <a:pt x="46287" y="0"/>
                    <a:pt x="103386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49209" cy="318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Nº de Alunos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086769" y="4420618"/>
            <a:ext cx="3819066" cy="821833"/>
            <a:chOff x="0" y="0"/>
            <a:chExt cx="1249209" cy="2688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49209" cy="268820"/>
            </a:xfrm>
            <a:custGeom>
              <a:avLst/>
              <a:gdLst/>
              <a:ahLst/>
              <a:cxnLst/>
              <a:rect l="l" t="t" r="r" b="b"/>
              <a:pathLst>
                <a:path w="1249209" h="268820">
                  <a:moveTo>
                    <a:pt x="103386" y="0"/>
                  </a:moveTo>
                  <a:lnTo>
                    <a:pt x="1145823" y="0"/>
                  </a:lnTo>
                  <a:cubicBezTo>
                    <a:pt x="1202921" y="0"/>
                    <a:pt x="1249209" y="46287"/>
                    <a:pt x="1249209" y="103386"/>
                  </a:cubicBezTo>
                  <a:lnTo>
                    <a:pt x="1249209" y="165434"/>
                  </a:lnTo>
                  <a:cubicBezTo>
                    <a:pt x="1249209" y="192854"/>
                    <a:pt x="1238316" y="219150"/>
                    <a:pt x="1218928" y="238539"/>
                  </a:cubicBezTo>
                  <a:cubicBezTo>
                    <a:pt x="1199539" y="257927"/>
                    <a:pt x="1173242" y="268820"/>
                    <a:pt x="1145823" y="268820"/>
                  </a:cubicBezTo>
                  <a:lnTo>
                    <a:pt x="103386" y="268820"/>
                  </a:lnTo>
                  <a:cubicBezTo>
                    <a:pt x="46287" y="268820"/>
                    <a:pt x="0" y="222532"/>
                    <a:pt x="0" y="165434"/>
                  </a:cubicBezTo>
                  <a:lnTo>
                    <a:pt x="0" y="103386"/>
                  </a:lnTo>
                  <a:cubicBezTo>
                    <a:pt x="0" y="46287"/>
                    <a:pt x="46287" y="0"/>
                    <a:pt x="103386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49209" cy="316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Temperatura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2165" y="4420618"/>
            <a:ext cx="3801869" cy="838389"/>
            <a:chOff x="0" y="0"/>
            <a:chExt cx="1243584" cy="2742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3584" cy="274235"/>
            </a:xfrm>
            <a:custGeom>
              <a:avLst/>
              <a:gdLst/>
              <a:ahLst/>
              <a:cxnLst/>
              <a:rect l="l" t="t" r="r" b="b"/>
              <a:pathLst>
                <a:path w="1243584" h="274235">
                  <a:moveTo>
                    <a:pt x="103854" y="0"/>
                  </a:moveTo>
                  <a:lnTo>
                    <a:pt x="1139730" y="0"/>
                  </a:lnTo>
                  <a:cubicBezTo>
                    <a:pt x="1197087" y="0"/>
                    <a:pt x="1243584" y="46497"/>
                    <a:pt x="1243584" y="103854"/>
                  </a:cubicBezTo>
                  <a:lnTo>
                    <a:pt x="1243584" y="170382"/>
                  </a:lnTo>
                  <a:cubicBezTo>
                    <a:pt x="1243584" y="227738"/>
                    <a:pt x="1197087" y="274235"/>
                    <a:pt x="1139730" y="274235"/>
                  </a:cubicBezTo>
                  <a:lnTo>
                    <a:pt x="103854" y="274235"/>
                  </a:lnTo>
                  <a:cubicBezTo>
                    <a:pt x="46497" y="274235"/>
                    <a:pt x="0" y="227738"/>
                    <a:pt x="0" y="170382"/>
                  </a:cubicBezTo>
                  <a:lnTo>
                    <a:pt x="0" y="103854"/>
                  </a:lnTo>
                  <a:cubicBezTo>
                    <a:pt x="0" y="46497"/>
                    <a:pt x="46497" y="0"/>
                    <a:pt x="103854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243584" cy="321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Número de Irmãos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79502" y="4420618"/>
            <a:ext cx="3819066" cy="828209"/>
            <a:chOff x="0" y="0"/>
            <a:chExt cx="1249209" cy="2709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9209" cy="270905"/>
            </a:xfrm>
            <a:custGeom>
              <a:avLst/>
              <a:gdLst/>
              <a:ahLst/>
              <a:cxnLst/>
              <a:rect l="l" t="t" r="r" b="b"/>
              <a:pathLst>
                <a:path w="1249209" h="270905">
                  <a:moveTo>
                    <a:pt x="103386" y="0"/>
                  </a:moveTo>
                  <a:lnTo>
                    <a:pt x="1145823" y="0"/>
                  </a:lnTo>
                  <a:cubicBezTo>
                    <a:pt x="1202921" y="0"/>
                    <a:pt x="1249209" y="46287"/>
                    <a:pt x="1249209" y="103386"/>
                  </a:cubicBezTo>
                  <a:lnTo>
                    <a:pt x="1249209" y="167519"/>
                  </a:lnTo>
                  <a:cubicBezTo>
                    <a:pt x="1249209" y="194939"/>
                    <a:pt x="1238316" y="221236"/>
                    <a:pt x="1218928" y="240624"/>
                  </a:cubicBezTo>
                  <a:cubicBezTo>
                    <a:pt x="1199539" y="260013"/>
                    <a:pt x="1173242" y="270905"/>
                    <a:pt x="1145823" y="270905"/>
                  </a:cubicBezTo>
                  <a:lnTo>
                    <a:pt x="103386" y="270905"/>
                  </a:lnTo>
                  <a:cubicBezTo>
                    <a:pt x="46287" y="270905"/>
                    <a:pt x="0" y="224618"/>
                    <a:pt x="0" y="167519"/>
                  </a:cubicBezTo>
                  <a:lnTo>
                    <a:pt x="0" y="103386"/>
                  </a:lnTo>
                  <a:cubicBezTo>
                    <a:pt x="0" y="46287"/>
                    <a:pt x="46287" y="0"/>
                    <a:pt x="103386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249209" cy="318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Altura das Pessoas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261674" y="7631694"/>
            <a:ext cx="1984663" cy="722794"/>
            <a:chOff x="0" y="0"/>
            <a:chExt cx="735917" cy="26801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9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61674" y="6597750"/>
            <a:ext cx="1984663" cy="722794"/>
            <a:chOff x="0" y="0"/>
            <a:chExt cx="735917" cy="26801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266143" y="5563807"/>
            <a:ext cx="1975726" cy="722794"/>
            <a:chOff x="0" y="0"/>
            <a:chExt cx="732604" cy="26801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32604" cy="268013"/>
            </a:xfrm>
            <a:custGeom>
              <a:avLst/>
              <a:gdLst/>
              <a:ahLst/>
              <a:cxnLst/>
              <a:rect l="l" t="t" r="r" b="b"/>
              <a:pathLst>
                <a:path w="732604" h="268013">
                  <a:moveTo>
                    <a:pt x="134007" y="0"/>
                  </a:moveTo>
                  <a:lnTo>
                    <a:pt x="598597" y="0"/>
                  </a:lnTo>
                  <a:cubicBezTo>
                    <a:pt x="634138" y="0"/>
                    <a:pt x="668223" y="14119"/>
                    <a:pt x="693354" y="39250"/>
                  </a:cubicBezTo>
                  <a:cubicBezTo>
                    <a:pt x="718485" y="64381"/>
                    <a:pt x="732604" y="98466"/>
                    <a:pt x="732604" y="134007"/>
                  </a:cubicBezTo>
                  <a:lnTo>
                    <a:pt x="732604" y="134007"/>
                  </a:lnTo>
                  <a:cubicBezTo>
                    <a:pt x="732604" y="208017"/>
                    <a:pt x="672607" y="268013"/>
                    <a:pt x="598597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732604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261674" y="8665638"/>
            <a:ext cx="1984663" cy="722794"/>
            <a:chOff x="0" y="0"/>
            <a:chExt cx="735917" cy="26801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25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189437" y="7621514"/>
            <a:ext cx="1984663" cy="722794"/>
            <a:chOff x="0" y="0"/>
            <a:chExt cx="735917" cy="26801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42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189437" y="6587571"/>
            <a:ext cx="1984663" cy="722794"/>
            <a:chOff x="0" y="0"/>
            <a:chExt cx="735917" cy="26801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7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193905" y="5553627"/>
            <a:ext cx="1975726" cy="722794"/>
            <a:chOff x="0" y="0"/>
            <a:chExt cx="732604" cy="26801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2604" cy="268013"/>
            </a:xfrm>
            <a:custGeom>
              <a:avLst/>
              <a:gdLst/>
              <a:ahLst/>
              <a:cxnLst/>
              <a:rect l="l" t="t" r="r" b="b"/>
              <a:pathLst>
                <a:path w="732604" h="268013">
                  <a:moveTo>
                    <a:pt x="134007" y="0"/>
                  </a:moveTo>
                  <a:lnTo>
                    <a:pt x="598597" y="0"/>
                  </a:lnTo>
                  <a:cubicBezTo>
                    <a:pt x="634138" y="0"/>
                    <a:pt x="668223" y="14119"/>
                    <a:pt x="693354" y="39250"/>
                  </a:cubicBezTo>
                  <a:cubicBezTo>
                    <a:pt x="718485" y="64381"/>
                    <a:pt x="732604" y="98466"/>
                    <a:pt x="732604" y="134007"/>
                  </a:cubicBezTo>
                  <a:lnTo>
                    <a:pt x="732604" y="134007"/>
                  </a:lnTo>
                  <a:cubicBezTo>
                    <a:pt x="732604" y="208017"/>
                    <a:pt x="672607" y="268013"/>
                    <a:pt x="598597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732604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5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89437" y="8655458"/>
            <a:ext cx="1984663" cy="722794"/>
            <a:chOff x="0" y="0"/>
            <a:chExt cx="735917" cy="26801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21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673329" y="7621514"/>
            <a:ext cx="2834304" cy="722794"/>
            <a:chOff x="0" y="0"/>
            <a:chExt cx="1050966" cy="26801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1,97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673329" y="6587571"/>
            <a:ext cx="2834304" cy="722794"/>
            <a:chOff x="0" y="0"/>
            <a:chExt cx="1050966" cy="26801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1,48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673329" y="5553627"/>
            <a:ext cx="2834304" cy="722794"/>
            <a:chOff x="0" y="0"/>
            <a:chExt cx="1050966" cy="26801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1,63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673329" y="8655458"/>
            <a:ext cx="2834304" cy="722794"/>
            <a:chOff x="0" y="0"/>
            <a:chExt cx="1050966" cy="26801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1,86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579150" y="7621514"/>
            <a:ext cx="2834304" cy="722794"/>
            <a:chOff x="0" y="0"/>
            <a:chExt cx="1050966" cy="26801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36,6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579150" y="6587571"/>
            <a:ext cx="2834304" cy="722794"/>
            <a:chOff x="0" y="0"/>
            <a:chExt cx="1050966" cy="26801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23,41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579150" y="5553627"/>
            <a:ext cx="2834304" cy="722794"/>
            <a:chOff x="0" y="0"/>
            <a:chExt cx="1050966" cy="26801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0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3579150" y="8655458"/>
            <a:ext cx="2834304" cy="722794"/>
            <a:chOff x="0" y="0"/>
            <a:chExt cx="1050966" cy="26801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90,1234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793064" y="1142894"/>
            <a:ext cx="16701872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7F7F7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5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6C9286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176609"/>
            <a:ext cx="16230600" cy="939209"/>
            <a:chOff x="0" y="0"/>
            <a:chExt cx="3986015" cy="2306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86015" cy="230657"/>
            </a:xfrm>
            <a:custGeom>
              <a:avLst/>
              <a:gdLst/>
              <a:ahLst/>
              <a:cxnLst/>
              <a:rect l="l" t="t" r="r" b="b"/>
              <a:pathLst>
                <a:path w="3986015" h="230657">
                  <a:moveTo>
                    <a:pt x="24327" y="0"/>
                  </a:moveTo>
                  <a:lnTo>
                    <a:pt x="3961688" y="0"/>
                  </a:lnTo>
                  <a:cubicBezTo>
                    <a:pt x="3975124" y="0"/>
                    <a:pt x="3986015" y="10891"/>
                    <a:pt x="3986015" y="24327"/>
                  </a:cubicBezTo>
                  <a:lnTo>
                    <a:pt x="3986015" y="206330"/>
                  </a:lnTo>
                  <a:cubicBezTo>
                    <a:pt x="3986015" y="219766"/>
                    <a:pt x="3975124" y="230657"/>
                    <a:pt x="3961688" y="230657"/>
                  </a:cubicBezTo>
                  <a:lnTo>
                    <a:pt x="24327" y="230657"/>
                  </a:lnTo>
                  <a:cubicBezTo>
                    <a:pt x="10891" y="230657"/>
                    <a:pt x="0" y="219766"/>
                    <a:pt x="0" y="20633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3986015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365B6D"/>
                  </a:solidFill>
                  <a:latin typeface="Chewy"/>
                  <a:ea typeface="Chewy"/>
                  <a:cs typeface="Chewy"/>
                  <a:sym typeface="Chewy"/>
                </a:rPr>
                <a:t>Variáveis e Seus Tipos - Variáveis Quantitativas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272236" y="4420618"/>
            <a:ext cx="3819066" cy="828209"/>
            <a:chOff x="0" y="0"/>
            <a:chExt cx="1249209" cy="2709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9209" cy="270905"/>
            </a:xfrm>
            <a:custGeom>
              <a:avLst/>
              <a:gdLst/>
              <a:ahLst/>
              <a:cxnLst/>
              <a:rect l="l" t="t" r="r" b="b"/>
              <a:pathLst>
                <a:path w="1249209" h="270905">
                  <a:moveTo>
                    <a:pt x="103386" y="0"/>
                  </a:moveTo>
                  <a:lnTo>
                    <a:pt x="1145823" y="0"/>
                  </a:lnTo>
                  <a:cubicBezTo>
                    <a:pt x="1202921" y="0"/>
                    <a:pt x="1249209" y="46287"/>
                    <a:pt x="1249209" y="103386"/>
                  </a:cubicBezTo>
                  <a:lnTo>
                    <a:pt x="1249209" y="167519"/>
                  </a:lnTo>
                  <a:cubicBezTo>
                    <a:pt x="1249209" y="194939"/>
                    <a:pt x="1238316" y="221236"/>
                    <a:pt x="1218928" y="240624"/>
                  </a:cubicBezTo>
                  <a:cubicBezTo>
                    <a:pt x="1199539" y="260013"/>
                    <a:pt x="1173242" y="270905"/>
                    <a:pt x="1145823" y="270905"/>
                  </a:cubicBezTo>
                  <a:lnTo>
                    <a:pt x="103386" y="270905"/>
                  </a:lnTo>
                  <a:cubicBezTo>
                    <a:pt x="46287" y="270905"/>
                    <a:pt x="0" y="224618"/>
                    <a:pt x="0" y="167519"/>
                  </a:cubicBezTo>
                  <a:lnTo>
                    <a:pt x="0" y="103386"/>
                  </a:lnTo>
                  <a:cubicBezTo>
                    <a:pt x="0" y="46287"/>
                    <a:pt x="46287" y="0"/>
                    <a:pt x="103386" y="0"/>
                  </a:cubicBezTo>
                  <a:close/>
                </a:path>
              </a:pathLst>
            </a:custGeom>
            <a:solidFill>
              <a:srgbClr val="FFA10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49209" cy="318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Nº de Alunos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086769" y="4420618"/>
            <a:ext cx="3819066" cy="821833"/>
            <a:chOff x="0" y="0"/>
            <a:chExt cx="1249209" cy="2688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49209" cy="268820"/>
            </a:xfrm>
            <a:custGeom>
              <a:avLst/>
              <a:gdLst/>
              <a:ahLst/>
              <a:cxnLst/>
              <a:rect l="l" t="t" r="r" b="b"/>
              <a:pathLst>
                <a:path w="1249209" h="268820">
                  <a:moveTo>
                    <a:pt x="103386" y="0"/>
                  </a:moveTo>
                  <a:lnTo>
                    <a:pt x="1145823" y="0"/>
                  </a:lnTo>
                  <a:cubicBezTo>
                    <a:pt x="1202921" y="0"/>
                    <a:pt x="1249209" y="46287"/>
                    <a:pt x="1249209" y="103386"/>
                  </a:cubicBezTo>
                  <a:lnTo>
                    <a:pt x="1249209" y="165434"/>
                  </a:lnTo>
                  <a:cubicBezTo>
                    <a:pt x="1249209" y="192854"/>
                    <a:pt x="1238316" y="219150"/>
                    <a:pt x="1218928" y="238539"/>
                  </a:cubicBezTo>
                  <a:cubicBezTo>
                    <a:pt x="1199539" y="257927"/>
                    <a:pt x="1173242" y="268820"/>
                    <a:pt x="1145823" y="268820"/>
                  </a:cubicBezTo>
                  <a:lnTo>
                    <a:pt x="103386" y="268820"/>
                  </a:lnTo>
                  <a:cubicBezTo>
                    <a:pt x="46287" y="268820"/>
                    <a:pt x="0" y="222532"/>
                    <a:pt x="0" y="165434"/>
                  </a:cubicBezTo>
                  <a:lnTo>
                    <a:pt x="0" y="103386"/>
                  </a:lnTo>
                  <a:cubicBezTo>
                    <a:pt x="0" y="46287"/>
                    <a:pt x="46287" y="0"/>
                    <a:pt x="103386" y="0"/>
                  </a:cubicBezTo>
                  <a:close/>
                </a:path>
              </a:pathLst>
            </a:custGeom>
            <a:solidFill>
              <a:srgbClr val="FF914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49209" cy="316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Temperatura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2165" y="4420618"/>
            <a:ext cx="3801869" cy="838389"/>
            <a:chOff x="0" y="0"/>
            <a:chExt cx="1243584" cy="2742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3584" cy="274235"/>
            </a:xfrm>
            <a:custGeom>
              <a:avLst/>
              <a:gdLst/>
              <a:ahLst/>
              <a:cxnLst/>
              <a:rect l="l" t="t" r="r" b="b"/>
              <a:pathLst>
                <a:path w="1243584" h="274235">
                  <a:moveTo>
                    <a:pt x="103854" y="0"/>
                  </a:moveTo>
                  <a:lnTo>
                    <a:pt x="1139730" y="0"/>
                  </a:lnTo>
                  <a:cubicBezTo>
                    <a:pt x="1197087" y="0"/>
                    <a:pt x="1243584" y="46497"/>
                    <a:pt x="1243584" y="103854"/>
                  </a:cubicBezTo>
                  <a:lnTo>
                    <a:pt x="1243584" y="170382"/>
                  </a:lnTo>
                  <a:cubicBezTo>
                    <a:pt x="1243584" y="227738"/>
                    <a:pt x="1197087" y="274235"/>
                    <a:pt x="1139730" y="274235"/>
                  </a:cubicBezTo>
                  <a:lnTo>
                    <a:pt x="103854" y="274235"/>
                  </a:lnTo>
                  <a:cubicBezTo>
                    <a:pt x="46497" y="274235"/>
                    <a:pt x="0" y="227738"/>
                    <a:pt x="0" y="170382"/>
                  </a:cubicBezTo>
                  <a:lnTo>
                    <a:pt x="0" y="103854"/>
                  </a:lnTo>
                  <a:cubicBezTo>
                    <a:pt x="0" y="46497"/>
                    <a:pt x="46497" y="0"/>
                    <a:pt x="103854" y="0"/>
                  </a:cubicBezTo>
                  <a:close/>
                </a:path>
              </a:pathLst>
            </a:custGeom>
            <a:solidFill>
              <a:srgbClr val="FFA10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243584" cy="321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Número de Irmãos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79502" y="4420618"/>
            <a:ext cx="3819066" cy="828209"/>
            <a:chOff x="0" y="0"/>
            <a:chExt cx="1249209" cy="2709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9209" cy="270905"/>
            </a:xfrm>
            <a:custGeom>
              <a:avLst/>
              <a:gdLst/>
              <a:ahLst/>
              <a:cxnLst/>
              <a:rect l="l" t="t" r="r" b="b"/>
              <a:pathLst>
                <a:path w="1249209" h="270905">
                  <a:moveTo>
                    <a:pt x="103386" y="0"/>
                  </a:moveTo>
                  <a:lnTo>
                    <a:pt x="1145823" y="0"/>
                  </a:lnTo>
                  <a:cubicBezTo>
                    <a:pt x="1202921" y="0"/>
                    <a:pt x="1249209" y="46287"/>
                    <a:pt x="1249209" y="103386"/>
                  </a:cubicBezTo>
                  <a:lnTo>
                    <a:pt x="1249209" y="167519"/>
                  </a:lnTo>
                  <a:cubicBezTo>
                    <a:pt x="1249209" y="194939"/>
                    <a:pt x="1238316" y="221236"/>
                    <a:pt x="1218928" y="240624"/>
                  </a:cubicBezTo>
                  <a:cubicBezTo>
                    <a:pt x="1199539" y="260013"/>
                    <a:pt x="1173242" y="270905"/>
                    <a:pt x="1145823" y="270905"/>
                  </a:cubicBezTo>
                  <a:lnTo>
                    <a:pt x="103386" y="270905"/>
                  </a:lnTo>
                  <a:cubicBezTo>
                    <a:pt x="46287" y="270905"/>
                    <a:pt x="0" y="224618"/>
                    <a:pt x="0" y="167519"/>
                  </a:cubicBezTo>
                  <a:lnTo>
                    <a:pt x="0" y="103386"/>
                  </a:lnTo>
                  <a:cubicBezTo>
                    <a:pt x="0" y="46287"/>
                    <a:pt x="46287" y="0"/>
                    <a:pt x="103386" y="0"/>
                  </a:cubicBezTo>
                  <a:close/>
                </a:path>
              </a:pathLst>
            </a:custGeom>
            <a:solidFill>
              <a:srgbClr val="FF914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249209" cy="318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Altura das Pessoas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261674" y="7631694"/>
            <a:ext cx="1984663" cy="722794"/>
            <a:chOff x="0" y="0"/>
            <a:chExt cx="735917" cy="26801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A10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9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61674" y="6597750"/>
            <a:ext cx="1984663" cy="722794"/>
            <a:chOff x="0" y="0"/>
            <a:chExt cx="735917" cy="26801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A10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266143" y="5563807"/>
            <a:ext cx="1975726" cy="722794"/>
            <a:chOff x="0" y="0"/>
            <a:chExt cx="732604" cy="26801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32604" cy="268013"/>
            </a:xfrm>
            <a:custGeom>
              <a:avLst/>
              <a:gdLst/>
              <a:ahLst/>
              <a:cxnLst/>
              <a:rect l="l" t="t" r="r" b="b"/>
              <a:pathLst>
                <a:path w="732604" h="268013">
                  <a:moveTo>
                    <a:pt x="134007" y="0"/>
                  </a:moveTo>
                  <a:lnTo>
                    <a:pt x="598597" y="0"/>
                  </a:lnTo>
                  <a:cubicBezTo>
                    <a:pt x="634138" y="0"/>
                    <a:pt x="668223" y="14119"/>
                    <a:pt x="693354" y="39250"/>
                  </a:cubicBezTo>
                  <a:cubicBezTo>
                    <a:pt x="718485" y="64381"/>
                    <a:pt x="732604" y="98466"/>
                    <a:pt x="732604" y="134007"/>
                  </a:cubicBezTo>
                  <a:lnTo>
                    <a:pt x="732604" y="134007"/>
                  </a:lnTo>
                  <a:cubicBezTo>
                    <a:pt x="732604" y="208017"/>
                    <a:pt x="672607" y="268013"/>
                    <a:pt x="598597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A10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732604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261674" y="8665638"/>
            <a:ext cx="1984663" cy="722794"/>
            <a:chOff x="0" y="0"/>
            <a:chExt cx="735917" cy="26801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A10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25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189437" y="7621514"/>
            <a:ext cx="1984663" cy="722794"/>
            <a:chOff x="0" y="0"/>
            <a:chExt cx="735917" cy="26801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A10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42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189437" y="6587571"/>
            <a:ext cx="1984663" cy="722794"/>
            <a:chOff x="0" y="0"/>
            <a:chExt cx="735917" cy="26801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A10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7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193905" y="5553627"/>
            <a:ext cx="1975726" cy="722794"/>
            <a:chOff x="0" y="0"/>
            <a:chExt cx="732604" cy="26801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2604" cy="268013"/>
            </a:xfrm>
            <a:custGeom>
              <a:avLst/>
              <a:gdLst/>
              <a:ahLst/>
              <a:cxnLst/>
              <a:rect l="l" t="t" r="r" b="b"/>
              <a:pathLst>
                <a:path w="732604" h="268013">
                  <a:moveTo>
                    <a:pt x="134007" y="0"/>
                  </a:moveTo>
                  <a:lnTo>
                    <a:pt x="598597" y="0"/>
                  </a:lnTo>
                  <a:cubicBezTo>
                    <a:pt x="634138" y="0"/>
                    <a:pt x="668223" y="14119"/>
                    <a:pt x="693354" y="39250"/>
                  </a:cubicBezTo>
                  <a:cubicBezTo>
                    <a:pt x="718485" y="64381"/>
                    <a:pt x="732604" y="98466"/>
                    <a:pt x="732604" y="134007"/>
                  </a:cubicBezTo>
                  <a:lnTo>
                    <a:pt x="732604" y="134007"/>
                  </a:lnTo>
                  <a:cubicBezTo>
                    <a:pt x="732604" y="208017"/>
                    <a:pt x="672607" y="268013"/>
                    <a:pt x="598597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A10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732604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5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89437" y="8655458"/>
            <a:ext cx="1984663" cy="722794"/>
            <a:chOff x="0" y="0"/>
            <a:chExt cx="735917" cy="26801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35917" cy="268013"/>
            </a:xfrm>
            <a:custGeom>
              <a:avLst/>
              <a:gdLst/>
              <a:ahLst/>
              <a:cxnLst/>
              <a:rect l="l" t="t" r="r" b="b"/>
              <a:pathLst>
                <a:path w="735917" h="268013">
                  <a:moveTo>
                    <a:pt x="134007" y="0"/>
                  </a:moveTo>
                  <a:lnTo>
                    <a:pt x="601911" y="0"/>
                  </a:lnTo>
                  <a:cubicBezTo>
                    <a:pt x="637451" y="0"/>
                    <a:pt x="671536" y="14119"/>
                    <a:pt x="696668" y="39250"/>
                  </a:cubicBezTo>
                  <a:cubicBezTo>
                    <a:pt x="721799" y="64381"/>
                    <a:pt x="735917" y="98466"/>
                    <a:pt x="735917" y="134007"/>
                  </a:cubicBezTo>
                  <a:lnTo>
                    <a:pt x="735917" y="134007"/>
                  </a:lnTo>
                  <a:cubicBezTo>
                    <a:pt x="735917" y="208017"/>
                    <a:pt x="675920" y="268013"/>
                    <a:pt x="601911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A10A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735917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21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673329" y="7621514"/>
            <a:ext cx="2834304" cy="722794"/>
            <a:chOff x="0" y="0"/>
            <a:chExt cx="1050966" cy="26801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914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1,97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673329" y="6587571"/>
            <a:ext cx="2834304" cy="722794"/>
            <a:chOff x="0" y="0"/>
            <a:chExt cx="1050966" cy="26801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914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1,48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673329" y="5553627"/>
            <a:ext cx="2834304" cy="722794"/>
            <a:chOff x="0" y="0"/>
            <a:chExt cx="1050966" cy="26801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914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1,63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673329" y="8655458"/>
            <a:ext cx="2834304" cy="722794"/>
            <a:chOff x="0" y="0"/>
            <a:chExt cx="1050966" cy="26801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914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1,86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579150" y="7621514"/>
            <a:ext cx="2834304" cy="722794"/>
            <a:chOff x="0" y="0"/>
            <a:chExt cx="1050966" cy="26801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914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36,6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579150" y="6587571"/>
            <a:ext cx="2834304" cy="722794"/>
            <a:chOff x="0" y="0"/>
            <a:chExt cx="1050966" cy="26801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914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23,41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579150" y="5553627"/>
            <a:ext cx="2834304" cy="722794"/>
            <a:chOff x="0" y="0"/>
            <a:chExt cx="1050966" cy="26801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914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0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3579150" y="8655458"/>
            <a:ext cx="2834304" cy="722794"/>
            <a:chOff x="0" y="0"/>
            <a:chExt cx="1050966" cy="26801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50966" cy="268013"/>
            </a:xfrm>
            <a:custGeom>
              <a:avLst/>
              <a:gdLst/>
              <a:ahLst/>
              <a:cxnLst/>
              <a:rect l="l" t="t" r="r" b="b"/>
              <a:pathLst>
                <a:path w="1050966" h="268013">
                  <a:moveTo>
                    <a:pt x="134007" y="0"/>
                  </a:moveTo>
                  <a:lnTo>
                    <a:pt x="916959" y="0"/>
                  </a:lnTo>
                  <a:cubicBezTo>
                    <a:pt x="990969" y="0"/>
                    <a:pt x="1050966" y="59997"/>
                    <a:pt x="1050966" y="134007"/>
                  </a:cubicBezTo>
                  <a:lnTo>
                    <a:pt x="1050966" y="134007"/>
                  </a:lnTo>
                  <a:cubicBezTo>
                    <a:pt x="1050966" y="208017"/>
                    <a:pt x="990969" y="268013"/>
                    <a:pt x="916959" y="268013"/>
                  </a:cubicBezTo>
                  <a:lnTo>
                    <a:pt x="134007" y="268013"/>
                  </a:lnTo>
                  <a:cubicBezTo>
                    <a:pt x="59997" y="268013"/>
                    <a:pt x="0" y="208017"/>
                    <a:pt x="0" y="134007"/>
                  </a:cubicBezTo>
                  <a:lnTo>
                    <a:pt x="0" y="134007"/>
                  </a:lnTo>
                  <a:cubicBezTo>
                    <a:pt x="0" y="59997"/>
                    <a:pt x="59997" y="0"/>
                    <a:pt x="134007" y="0"/>
                  </a:cubicBezTo>
                  <a:close/>
                </a:path>
              </a:pathLst>
            </a:custGeom>
            <a:solidFill>
              <a:srgbClr val="FF914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66675"/>
              <a:ext cx="1050966" cy="334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365B6D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90,1234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793064" y="1142894"/>
            <a:ext cx="16701872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7F7F7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sp>
        <p:nvSpPr>
          <p:cNvPr id="70" name="AutoShape 70"/>
          <p:cNvSpPr/>
          <p:nvPr/>
        </p:nvSpPr>
        <p:spPr>
          <a:xfrm flipV="1">
            <a:off x="991913" y="4819132"/>
            <a:ext cx="390252" cy="4560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sp>
        <p:nvSpPr>
          <p:cNvPr id="71" name="Freeform 71"/>
          <p:cNvSpPr/>
          <p:nvPr/>
        </p:nvSpPr>
        <p:spPr>
          <a:xfrm>
            <a:off x="1778086" y="5532946"/>
            <a:ext cx="385549" cy="3855485"/>
          </a:xfrm>
          <a:custGeom>
            <a:avLst/>
            <a:gdLst/>
            <a:ahLst/>
            <a:cxnLst/>
            <a:rect l="l" t="t" r="r" b="b"/>
            <a:pathLst>
              <a:path w="385549" h="3855485">
                <a:moveTo>
                  <a:pt x="0" y="0"/>
                </a:moveTo>
                <a:lnTo>
                  <a:pt x="385548" y="0"/>
                </a:lnTo>
                <a:lnTo>
                  <a:pt x="385548" y="3855485"/>
                </a:lnTo>
                <a:lnTo>
                  <a:pt x="0" y="38554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2" name="TextBox 72"/>
          <p:cNvSpPr txBox="1"/>
          <p:nvPr/>
        </p:nvSpPr>
        <p:spPr>
          <a:xfrm>
            <a:off x="0" y="5237076"/>
            <a:ext cx="1983826" cy="553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7"/>
              </a:lnSpc>
            </a:pPr>
            <a:r>
              <a:rPr lang="en-US" sz="1583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Estes são os TÍTULOS</a:t>
            </a:r>
          </a:p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das VARIÁVEIS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3308" y="6800020"/>
            <a:ext cx="1797209" cy="103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lang="en-US" sz="1967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Estes são os</a:t>
            </a:r>
          </a:p>
          <a:p>
            <a:pPr algn="ctr">
              <a:lnSpc>
                <a:spcPts val="2755"/>
              </a:lnSpc>
            </a:pPr>
            <a:r>
              <a:rPr lang="en-US" sz="1967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valores que ela</a:t>
            </a:r>
          </a:p>
          <a:p>
            <a:pPr algn="ctr">
              <a:lnSpc>
                <a:spcPts val="2755"/>
              </a:lnSpc>
              <a:spcBef>
                <a:spcPct val="0"/>
              </a:spcBef>
            </a:pPr>
            <a:r>
              <a:rPr lang="en-US" sz="1967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pode assumir.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42222" y="9655131"/>
            <a:ext cx="16782669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i="1">
                <a:solidFill>
                  <a:srgbClr val="FFFFFF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E como estes valores são sempre número, reais ou inteiro você os “declara” no programa como REAL ou INTEIRO.</a:t>
            </a:r>
          </a:p>
        </p:txBody>
      </p:sp>
      <p:sp>
        <p:nvSpPr>
          <p:cNvPr id="75" name="AutoShape 75"/>
          <p:cNvSpPr/>
          <p:nvPr/>
        </p:nvSpPr>
        <p:spPr>
          <a:xfrm flipV="1">
            <a:off x="14133865" y="3406099"/>
            <a:ext cx="481626" cy="2674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  <p:grpSp>
        <p:nvGrpSpPr>
          <p:cNvPr id="76" name="Group 76"/>
          <p:cNvGrpSpPr/>
          <p:nvPr/>
        </p:nvGrpSpPr>
        <p:grpSpPr>
          <a:xfrm>
            <a:off x="14615491" y="3076444"/>
            <a:ext cx="2262998" cy="659310"/>
            <a:chOff x="0" y="0"/>
            <a:chExt cx="740222" cy="215659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740222" cy="215659"/>
            </a:xfrm>
            <a:custGeom>
              <a:avLst/>
              <a:gdLst/>
              <a:ahLst/>
              <a:cxnLst/>
              <a:rect l="l" t="t" r="r" b="b"/>
              <a:pathLst>
                <a:path w="740222" h="215659">
                  <a:moveTo>
                    <a:pt x="107829" y="0"/>
                  </a:moveTo>
                  <a:lnTo>
                    <a:pt x="632393" y="0"/>
                  </a:lnTo>
                  <a:cubicBezTo>
                    <a:pt x="660991" y="0"/>
                    <a:pt x="688418" y="11361"/>
                    <a:pt x="708640" y="31583"/>
                  </a:cubicBezTo>
                  <a:cubicBezTo>
                    <a:pt x="728862" y="51804"/>
                    <a:pt x="740222" y="79231"/>
                    <a:pt x="740222" y="107829"/>
                  </a:cubicBezTo>
                  <a:lnTo>
                    <a:pt x="740222" y="107829"/>
                  </a:lnTo>
                  <a:cubicBezTo>
                    <a:pt x="740222" y="136428"/>
                    <a:pt x="728862" y="163854"/>
                    <a:pt x="708640" y="184076"/>
                  </a:cubicBezTo>
                  <a:cubicBezTo>
                    <a:pt x="688418" y="204298"/>
                    <a:pt x="660991" y="215659"/>
                    <a:pt x="632393" y="215659"/>
                  </a:cubicBezTo>
                  <a:lnTo>
                    <a:pt x="107829" y="215659"/>
                  </a:lnTo>
                  <a:cubicBezTo>
                    <a:pt x="79231" y="215659"/>
                    <a:pt x="51804" y="204298"/>
                    <a:pt x="31583" y="184076"/>
                  </a:cubicBezTo>
                  <a:cubicBezTo>
                    <a:pt x="11361" y="163854"/>
                    <a:pt x="0" y="136428"/>
                    <a:pt x="0" y="107829"/>
                  </a:cubicBezTo>
                  <a:lnTo>
                    <a:pt x="0" y="107829"/>
                  </a:lnTo>
                  <a:cubicBezTo>
                    <a:pt x="0" y="79231"/>
                    <a:pt x="11361" y="51804"/>
                    <a:pt x="31583" y="31583"/>
                  </a:cubicBezTo>
                  <a:cubicBezTo>
                    <a:pt x="51804" y="11361"/>
                    <a:pt x="79231" y="0"/>
                    <a:pt x="1078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47625"/>
              <a:ext cx="740222" cy="26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FFA10A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DISCRETAS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4615491" y="3456509"/>
            <a:ext cx="2609401" cy="659310"/>
            <a:chOff x="0" y="0"/>
            <a:chExt cx="853530" cy="215659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53530" cy="215659"/>
            </a:xfrm>
            <a:custGeom>
              <a:avLst/>
              <a:gdLst/>
              <a:ahLst/>
              <a:cxnLst/>
              <a:rect l="l" t="t" r="r" b="b"/>
              <a:pathLst>
                <a:path w="853530" h="215659">
                  <a:moveTo>
                    <a:pt x="107829" y="0"/>
                  </a:moveTo>
                  <a:lnTo>
                    <a:pt x="745700" y="0"/>
                  </a:lnTo>
                  <a:cubicBezTo>
                    <a:pt x="774298" y="0"/>
                    <a:pt x="801725" y="11361"/>
                    <a:pt x="821947" y="31583"/>
                  </a:cubicBezTo>
                  <a:cubicBezTo>
                    <a:pt x="842169" y="51804"/>
                    <a:pt x="853530" y="79231"/>
                    <a:pt x="853530" y="107829"/>
                  </a:cubicBezTo>
                  <a:lnTo>
                    <a:pt x="853530" y="107829"/>
                  </a:lnTo>
                  <a:cubicBezTo>
                    <a:pt x="853530" y="136428"/>
                    <a:pt x="842169" y="163854"/>
                    <a:pt x="821947" y="184076"/>
                  </a:cubicBezTo>
                  <a:cubicBezTo>
                    <a:pt x="801725" y="204298"/>
                    <a:pt x="774298" y="215659"/>
                    <a:pt x="745700" y="215659"/>
                  </a:cubicBezTo>
                  <a:lnTo>
                    <a:pt x="107829" y="215659"/>
                  </a:lnTo>
                  <a:cubicBezTo>
                    <a:pt x="79231" y="215659"/>
                    <a:pt x="51804" y="204298"/>
                    <a:pt x="31583" y="184076"/>
                  </a:cubicBezTo>
                  <a:cubicBezTo>
                    <a:pt x="11361" y="163854"/>
                    <a:pt x="0" y="136428"/>
                    <a:pt x="0" y="107829"/>
                  </a:cubicBezTo>
                  <a:lnTo>
                    <a:pt x="0" y="107829"/>
                  </a:lnTo>
                  <a:cubicBezTo>
                    <a:pt x="0" y="79231"/>
                    <a:pt x="11361" y="51804"/>
                    <a:pt x="31583" y="31583"/>
                  </a:cubicBezTo>
                  <a:cubicBezTo>
                    <a:pt x="51804" y="11361"/>
                    <a:pt x="79231" y="0"/>
                    <a:pt x="1078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853530" cy="263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E96C39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CONTÍNUAS</a:t>
              </a:r>
            </a:p>
          </p:txBody>
        </p:sp>
      </p:grpSp>
      <p:sp>
        <p:nvSpPr>
          <p:cNvPr id="82" name="AutoShape 82"/>
          <p:cNvSpPr/>
          <p:nvPr/>
        </p:nvSpPr>
        <p:spPr>
          <a:xfrm>
            <a:off x="14133865" y="3646214"/>
            <a:ext cx="481626" cy="1399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5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6C9286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176609"/>
            <a:ext cx="16230600" cy="939209"/>
            <a:chOff x="0" y="0"/>
            <a:chExt cx="3986015" cy="2306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86015" cy="230657"/>
            </a:xfrm>
            <a:custGeom>
              <a:avLst/>
              <a:gdLst/>
              <a:ahLst/>
              <a:cxnLst/>
              <a:rect l="l" t="t" r="r" b="b"/>
              <a:pathLst>
                <a:path w="3986015" h="230657">
                  <a:moveTo>
                    <a:pt x="24327" y="0"/>
                  </a:moveTo>
                  <a:lnTo>
                    <a:pt x="3961688" y="0"/>
                  </a:lnTo>
                  <a:cubicBezTo>
                    <a:pt x="3975124" y="0"/>
                    <a:pt x="3986015" y="10891"/>
                    <a:pt x="3986015" y="24327"/>
                  </a:cubicBezTo>
                  <a:lnTo>
                    <a:pt x="3986015" y="206330"/>
                  </a:lnTo>
                  <a:cubicBezTo>
                    <a:pt x="3986015" y="219766"/>
                    <a:pt x="3975124" y="230657"/>
                    <a:pt x="3961688" y="230657"/>
                  </a:cubicBezTo>
                  <a:lnTo>
                    <a:pt x="24327" y="230657"/>
                  </a:lnTo>
                  <a:cubicBezTo>
                    <a:pt x="10891" y="230657"/>
                    <a:pt x="0" y="219766"/>
                    <a:pt x="0" y="20633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7F7F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3986015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365B6D"/>
                  </a:solidFill>
                  <a:latin typeface="Chewy"/>
                  <a:ea typeface="Chewy"/>
                  <a:cs typeface="Chewy"/>
                  <a:sym typeface="Chewy"/>
                </a:rPr>
                <a:t>BORA ESCREVER MAIS UM POUCO?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4023" y="5009261"/>
            <a:ext cx="8946834" cy="1275174"/>
            <a:chOff x="0" y="0"/>
            <a:chExt cx="3555080" cy="5066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55080" cy="506698"/>
            </a:xfrm>
            <a:custGeom>
              <a:avLst/>
              <a:gdLst/>
              <a:ahLst/>
              <a:cxnLst/>
              <a:rect l="l" t="t" r="r" b="b"/>
              <a:pathLst>
                <a:path w="3555080" h="506698">
                  <a:moveTo>
                    <a:pt x="44132" y="0"/>
                  </a:moveTo>
                  <a:lnTo>
                    <a:pt x="3510949" y="0"/>
                  </a:lnTo>
                  <a:cubicBezTo>
                    <a:pt x="3522653" y="0"/>
                    <a:pt x="3533878" y="4650"/>
                    <a:pt x="3542154" y="12926"/>
                  </a:cubicBezTo>
                  <a:cubicBezTo>
                    <a:pt x="3550431" y="21202"/>
                    <a:pt x="3555080" y="32427"/>
                    <a:pt x="3555080" y="44132"/>
                  </a:cubicBezTo>
                  <a:lnTo>
                    <a:pt x="3555080" y="462567"/>
                  </a:lnTo>
                  <a:cubicBezTo>
                    <a:pt x="3555080" y="474271"/>
                    <a:pt x="3550431" y="485496"/>
                    <a:pt x="3542154" y="493772"/>
                  </a:cubicBezTo>
                  <a:cubicBezTo>
                    <a:pt x="3533878" y="502049"/>
                    <a:pt x="3522653" y="506698"/>
                    <a:pt x="3510949" y="506698"/>
                  </a:cubicBezTo>
                  <a:lnTo>
                    <a:pt x="44132" y="506698"/>
                  </a:lnTo>
                  <a:cubicBezTo>
                    <a:pt x="32427" y="506698"/>
                    <a:pt x="21202" y="502049"/>
                    <a:pt x="12926" y="493772"/>
                  </a:cubicBezTo>
                  <a:cubicBezTo>
                    <a:pt x="4650" y="485496"/>
                    <a:pt x="0" y="474271"/>
                    <a:pt x="0" y="462567"/>
                  </a:cubicBezTo>
                  <a:lnTo>
                    <a:pt x="0" y="44132"/>
                  </a:lnTo>
                  <a:cubicBezTo>
                    <a:pt x="0" y="32427"/>
                    <a:pt x="4650" y="21202"/>
                    <a:pt x="12926" y="12926"/>
                  </a:cubicBezTo>
                  <a:cubicBezTo>
                    <a:pt x="21202" y="4650"/>
                    <a:pt x="32427" y="0"/>
                    <a:pt x="44132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33350"/>
              <a:ext cx="3555080" cy="64004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881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63270" y="5994195"/>
            <a:ext cx="5434708" cy="580479"/>
            <a:chOff x="0" y="0"/>
            <a:chExt cx="2159515" cy="2306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59515" cy="230657"/>
            </a:xfrm>
            <a:custGeom>
              <a:avLst/>
              <a:gdLst/>
              <a:ahLst/>
              <a:cxnLst/>
              <a:rect l="l" t="t" r="r" b="b"/>
              <a:pathLst>
                <a:path w="2159515" h="230657">
                  <a:moveTo>
                    <a:pt x="72651" y="0"/>
                  </a:moveTo>
                  <a:lnTo>
                    <a:pt x="2086864" y="0"/>
                  </a:lnTo>
                  <a:cubicBezTo>
                    <a:pt x="2126988" y="0"/>
                    <a:pt x="2159515" y="32527"/>
                    <a:pt x="2159515" y="72651"/>
                  </a:cubicBezTo>
                  <a:lnTo>
                    <a:pt x="2159515" y="158006"/>
                  </a:lnTo>
                  <a:cubicBezTo>
                    <a:pt x="2159515" y="177274"/>
                    <a:pt x="2151861" y="195753"/>
                    <a:pt x="2138236" y="209378"/>
                  </a:cubicBezTo>
                  <a:cubicBezTo>
                    <a:pt x="2124611" y="223003"/>
                    <a:pt x="2106132" y="230657"/>
                    <a:pt x="2086864" y="230657"/>
                  </a:cubicBezTo>
                  <a:lnTo>
                    <a:pt x="72651" y="230657"/>
                  </a:lnTo>
                  <a:cubicBezTo>
                    <a:pt x="53383" y="230657"/>
                    <a:pt x="34904" y="223003"/>
                    <a:pt x="21279" y="209378"/>
                  </a:cubicBezTo>
                  <a:cubicBezTo>
                    <a:pt x="7654" y="195753"/>
                    <a:pt x="0" y="177274"/>
                    <a:pt x="0" y="158006"/>
                  </a:cubicBezTo>
                  <a:lnTo>
                    <a:pt x="0" y="72651"/>
                  </a:lnTo>
                  <a:cubicBezTo>
                    <a:pt x="0" y="53383"/>
                    <a:pt x="7654" y="34904"/>
                    <a:pt x="21279" y="21279"/>
                  </a:cubicBezTo>
                  <a:cubicBezTo>
                    <a:pt x="34904" y="7654"/>
                    <a:pt x="53383" y="0"/>
                    <a:pt x="7265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159515" cy="278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 u="none" strike="noStrike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Variáveis Quantitativas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73636" y="6736600"/>
            <a:ext cx="7587608" cy="3377559"/>
            <a:chOff x="0" y="0"/>
            <a:chExt cx="3686267" cy="16409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86267" cy="1640910"/>
            </a:xfrm>
            <a:custGeom>
              <a:avLst/>
              <a:gdLst/>
              <a:ahLst/>
              <a:cxnLst/>
              <a:rect l="l" t="t" r="r" b="b"/>
              <a:pathLst>
                <a:path w="3686267" h="1640910">
                  <a:moveTo>
                    <a:pt x="52037" y="0"/>
                  </a:moveTo>
                  <a:lnTo>
                    <a:pt x="3634230" y="0"/>
                  </a:lnTo>
                  <a:cubicBezTo>
                    <a:pt x="3648031" y="0"/>
                    <a:pt x="3661267" y="5482"/>
                    <a:pt x="3671026" y="15241"/>
                  </a:cubicBezTo>
                  <a:cubicBezTo>
                    <a:pt x="3680784" y="25000"/>
                    <a:pt x="3686267" y="38236"/>
                    <a:pt x="3686267" y="52037"/>
                  </a:cubicBezTo>
                  <a:lnTo>
                    <a:pt x="3686267" y="1588873"/>
                  </a:lnTo>
                  <a:cubicBezTo>
                    <a:pt x="3686267" y="1602674"/>
                    <a:pt x="3680784" y="1615910"/>
                    <a:pt x="3671026" y="1625669"/>
                  </a:cubicBezTo>
                  <a:cubicBezTo>
                    <a:pt x="3661267" y="1635428"/>
                    <a:pt x="3648031" y="1640910"/>
                    <a:pt x="3634230" y="1640910"/>
                  </a:cubicBezTo>
                  <a:lnTo>
                    <a:pt x="52037" y="1640910"/>
                  </a:lnTo>
                  <a:cubicBezTo>
                    <a:pt x="38236" y="1640910"/>
                    <a:pt x="25000" y="1635428"/>
                    <a:pt x="15241" y="1625669"/>
                  </a:cubicBezTo>
                  <a:cubicBezTo>
                    <a:pt x="5482" y="1615910"/>
                    <a:pt x="0" y="1602674"/>
                    <a:pt x="0" y="1588873"/>
                  </a:cubicBezTo>
                  <a:lnTo>
                    <a:pt x="0" y="52037"/>
                  </a:lnTo>
                  <a:cubicBezTo>
                    <a:pt x="0" y="38236"/>
                    <a:pt x="5482" y="25000"/>
                    <a:pt x="15241" y="15241"/>
                  </a:cubicBezTo>
                  <a:cubicBezTo>
                    <a:pt x="25000" y="5482"/>
                    <a:pt x="38236" y="0"/>
                    <a:pt x="5203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3686267" cy="1726635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559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7653625" y="8251318"/>
            <a:ext cx="956427" cy="746013"/>
          </a:xfrm>
          <a:custGeom>
            <a:avLst/>
            <a:gdLst/>
            <a:ahLst/>
            <a:cxnLst/>
            <a:rect l="l" t="t" r="r" b="b"/>
            <a:pathLst>
              <a:path w="956427" h="746013">
                <a:moveTo>
                  <a:pt x="0" y="0"/>
                </a:moveTo>
                <a:lnTo>
                  <a:pt x="956427" y="0"/>
                </a:lnTo>
                <a:lnTo>
                  <a:pt x="956427" y="746013"/>
                </a:lnTo>
                <a:lnTo>
                  <a:pt x="0" y="746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" name="TextBox 18"/>
          <p:cNvSpPr txBox="1"/>
          <p:nvPr/>
        </p:nvSpPr>
        <p:spPr>
          <a:xfrm>
            <a:off x="793064" y="1142894"/>
            <a:ext cx="16701872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7F7F7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5850" y="5093931"/>
            <a:ext cx="9035007" cy="738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9"/>
              </a:lnSpc>
              <a:spcBef>
                <a:spcPct val="0"/>
              </a:spcBef>
            </a:pPr>
            <a:r>
              <a:rPr lang="en-US" sz="4306" spc="654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ESTATISTICA APLICADA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19924" y="6955675"/>
            <a:ext cx="7090128" cy="2815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"/>
              </a:lnSpc>
            </a:pPr>
            <a:endParaRPr/>
          </a:p>
          <a:p>
            <a:pPr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Variáveis quantitativas são aquelas que assumem valores NUMÉRICO, ou seja, seu valor é um numero.</a:t>
            </a:r>
          </a:p>
          <a:p>
            <a:pPr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Ela sempre representa uma </a:t>
            </a:r>
            <a:r>
              <a:rPr lang="en-US" sz="2270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QUANTIDADE </a:t>
            </a:r>
            <a:r>
              <a:rPr lang="en-US" sz="227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de alguma unidade..</a:t>
            </a:r>
          </a:p>
          <a:p>
            <a:pPr algn="just">
              <a:lnSpc>
                <a:spcPts val="3178"/>
              </a:lnSpc>
            </a:pPr>
            <a:endParaRPr lang="en-US" sz="2270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  <a:p>
            <a:pPr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Ela pode ser </a:t>
            </a:r>
            <a:r>
              <a:rPr lang="en-US" sz="2270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DISCCRETA </a:t>
            </a:r>
            <a:r>
              <a:rPr lang="en-US" sz="227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se for um número inteiro, ou pode ser </a:t>
            </a:r>
            <a:r>
              <a:rPr lang="en-US" sz="2270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CONTÍNUA </a:t>
            </a:r>
            <a:r>
              <a:rPr lang="en-US" sz="2270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se for decimal.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43404" y="7631262"/>
            <a:ext cx="6386066" cy="49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Bora um Kahoot! pra ver se ficou entendido?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</Words>
  <Application>Microsoft Office PowerPoint</Application>
  <PresentationFormat>Personalizar</PresentationFormat>
  <Paragraphs>170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2" baseType="lpstr">
      <vt:lpstr>Arial</vt:lpstr>
      <vt:lpstr>Chewy</vt:lpstr>
      <vt:lpstr>Calibri</vt:lpstr>
      <vt:lpstr>Baloo</vt:lpstr>
      <vt:lpstr>Open Sans</vt:lpstr>
      <vt:lpstr>TT Rounds Condensed</vt:lpstr>
      <vt:lpstr>Open Sans Bold</vt:lpstr>
      <vt:lpstr>TT Rounds Condensed Bold</vt:lpstr>
      <vt:lpstr>TT Rounds Condensed Italics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Estatistica Aplicada - Aulas 15 a 18</dc:title>
  <cp:lastModifiedBy>Prentys Assis</cp:lastModifiedBy>
  <cp:revision>1</cp:revision>
  <dcterms:created xsi:type="dcterms:W3CDTF">2006-08-16T00:00:00Z</dcterms:created>
  <dcterms:modified xsi:type="dcterms:W3CDTF">2025-03-10T19:12:32Z</dcterms:modified>
  <dc:identifier>DAGhUfgIntI</dc:identifier>
</cp:coreProperties>
</file>